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79" r:id="rId5"/>
    <p:sldId id="280" r:id="rId6"/>
    <p:sldId id="281" r:id="rId7"/>
    <p:sldId id="282" r:id="rId8"/>
    <p:sldId id="283" r:id="rId9"/>
    <p:sldId id="284" r:id="rId10"/>
    <p:sldId id="285"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86" r:id="rId25"/>
    <p:sldId id="272" r:id="rId26"/>
    <p:sldId id="273" r:id="rId27"/>
    <p:sldId id="274" r:id="rId28"/>
    <p:sldId id="275" r:id="rId29"/>
    <p:sldId id="276" r:id="rId30"/>
    <p:sldId id="277" r:id="rId31"/>
    <p:sldId id="278"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01" d="100"/>
          <a:sy n="101" d="100"/>
        </p:scale>
        <p:origin x="124" y="1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7279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everyone to our second Community Forum on GitHub Copilot.</a:t>
            </a:r>
          </a:p>
          <a:p>
            <a:r>
              <a:t>Today we're going beyond the basics — we'll build a real microservice from scratch, explore multi-agent orchestration, and discuss how to industrialize our Copilot usage.</a:t>
            </a:r>
          </a:p>
          <a:p>
            <a:r>
              <a:t>This session is about demonstrating real business value and driving adoption across teams.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our agenda for today. Two main pillars:</a:t>
            </a:r>
          </a:p>
          <a:p>
            <a:r>
              <a:t>First, the live demo — the heart of the session. We'll create a project from scratch using Copilot, covering not just the technical aspects but specifically demonstrating business value, real Orange use cases, and how agent mode accelerates development.</a:t>
            </a:r>
          </a:p>
          <a:p>
            <a:r>
              <a:t>Second, the multi-agents focus — this is where we introduce the industrialization dimension: how to orchestrate agents, choose the right LLM, reduce token consumption, and share skills across teams to avoid duplication.</a:t>
            </a:r>
          </a:p>
          <a:p>
            <a:r>
              <a:t>We're clearly moving from individual productivity to team-level scaling.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Quick recap of Forum 1: we introduced Copilot Chat and Agent mode, covered the basics of custom instructions, and explored the different interaction modes.</a:t>
            </a:r>
          </a:p>
          <a:p>
            <a:r>
              <a:t>Today we're leveling up — building a real microservice from scratch to demonstrate that Copilot understands architecture, not just code completion.</a:t>
            </a:r>
          </a:p>
          <a:p>
            <a:r>
              <a:t>We'll also announce the date for our upcoming hands-on workshop.</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Custom instructions work at three levels, from broadest to most specific.</a:t>
            </a:r>
          </a:p>
          <a:p>
            <a:r>
              <a:t>Organization level: the .github repo of your org applies instructions to ALL repositories. Use this for global conventions, security rules, and shared technology stack.</a:t>
            </a:r>
          </a:p>
          <a:p>
            <a:r>
              <a:t>Repository level: copilot-instructions.md in each repo's .github/ folder. This is where project-specific context lives — stack, architecture, conventions.</a:t>
            </a:r>
          </a:p>
          <a:p>
            <a:r>
              <a:t>Personal level: VS Code settings for individual preferences.</a:t>
            </a:r>
          </a:p>
          <a:p>
            <a:r>
              <a:t>Key points: keep them concise (Copilot ignores overly long instructions), focus on conventions not implementation, and always update via PR — treat them as code.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Prompt engineering is the skill that makes the difference between mediocre and excellent results.</a:t>
            </a:r>
          </a:p>
          <a:p>
            <a:r>
              <a:t>Show the bad vs good example: a vague prompt gets vague results. A structured prompt with clear requirements gets production-ready code.</a:t>
            </a:r>
          </a:p>
          <a:p>
            <a:r>
              <a:t>Six key techniques:</a:t>
            </a:r>
          </a:p>
          <a:p>
            <a:r>
              <a:t>1. Structure: use bullet points, not walls of text.</a:t>
            </a:r>
          </a:p>
          <a:p>
            <a:r>
              <a:t>2. Context: state your stack and constraints upfront.</a:t>
            </a:r>
          </a:p>
          <a:p>
            <a:r>
              <a:t>3. Scope: one prompt, one clear task. Decompose complex work.</a:t>
            </a:r>
          </a:p>
          <a:p>
            <a:r>
              <a:t>4. Examples: show what you expect the output to look like.</a:t>
            </a:r>
          </a:p>
          <a:p>
            <a:r>
              <a:t>5. Constraints: say what you DON'T want — it narrows the solution space.</a:t>
            </a:r>
          </a:p>
          <a:p>
            <a:r>
              <a:t>6. Iteration: don't throw away 80% good results — refine them.</a:t>
            </a:r>
          </a:p>
          <a:p>
            <a:r>
              <a:t>The rule of thumb: the time you invest in crafting a good prompt is always shorter than the time you'd spend fixing bad output from a vague prompt.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Prompt templates are reusable prompt files stored in .github/prompts/.</a:t>
            </a:r>
          </a:p>
          <a:p>
            <a:r>
              <a:t>They serve as your team's prompt library — standardized, versioned, shared.</a:t>
            </a:r>
          </a:p>
          <a:p>
            <a:r>
              <a:t>Each template has YAML frontmatter (name, description) and the prompt body.</a:t>
            </a:r>
          </a:p>
          <a:p>
            <a:r>
              <a:t>Usage: in the Copilot chat, type / and select your template from the list.</a:t>
            </a:r>
          </a:p>
          <a:p>
            <a:r>
              <a:t>You can also use variables like {{filename}} that get filled in at runtime.</a:t>
            </a:r>
          </a:p>
          <a:p>
            <a:r>
              <a:t>Benefits: no reformulation needed (saves time and tokens), versioned in git (whole team benefits), standardized output quality, and combinable with variables.</a:t>
            </a:r>
          </a:p>
          <a:p>
            <a:r>
              <a:t>Think of these as your team's recipe book for AI-assisted development.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Custom agents are specialized AI assistants you build for your team's specific needs.</a:t>
            </a:r>
          </a:p>
          <a:p>
            <a:r>
              <a:t>Think of them as AI team members with specific expertise.</a:t>
            </a:r>
          </a:p>
          <a:p>
            <a:r>
              <a:t>Anatomy of an agent: instructions (personality and expertise), tools (what it can do), knowledge (documentation it has access to), and trigger (how you invoke it).</a:t>
            </a:r>
          </a:p>
          <a:p>
            <a:r>
              <a:t>Examples for Orange: API reviewer that checks our REST standards, security checker for OWASP vulnerabilities, documentation generator, test creator following our patterns, migration helper for legacy APIs, and onboarding assistant for new joiners.</a:t>
            </a:r>
          </a:p>
          <a:p>
            <a:r>
              <a:t>Key point: agents are built once and shared across the org. Each team benefits.</a:t>
            </a:r>
          </a:p>
          <a:p>
            <a:r>
              <a:t>They're extensible via MCP (Model Context Protocol) to connect to internal tools like Jira, Confluence, internal APIs, etc.</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Skills are modular capabilities that agents can use — think of them as plugins.</a:t>
            </a:r>
          </a:p>
          <a:p>
            <a:r>
              <a:t>Each skill does one thing well: code search, test running, package management, security scanning, documentation generation, deployment.</a:t>
            </a:r>
          </a:p>
          <a:p>
            <a:r>
              <a:t>The power comes from composition: a single agent can combine multiple skills. For example, an API reviewer agent might use code search to find endpoints, security scan to check for OWASP vulnerabilities, and doc generator to verify that the API documentation is up to date.</a:t>
            </a:r>
          </a:p>
          <a:p>
            <a:r>
              <a:t>Skills are shared across the organization — build once, use everywhere.</a:t>
            </a:r>
          </a:p>
          <a:p>
            <a:r>
              <a:t>This is the mutualization model: teams contribute skills to a shared pool, and all agents across the org can use them.</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MCP — Model Context Protocol — is the open standard that lets Copilot connect to your internal tools: Jira, Confluence, databases, CI/CD, monitoring, secrets vaults.</a:t>
            </a:r>
          </a:p>
          <a:p>
            <a:r>
              <a:t>Think of it as the USB port for AI: a universal interface that any tool can implement.</a:t>
            </a:r>
          </a:p>
          <a:p>
            <a:r>
              <a:t>This means Copilot can go beyond code: create Jira tickets, check deployment status, query monitoring dashboards, read documentation from Confluence — all from the chat.</a:t>
            </a:r>
          </a:p>
          <a:p>
            <a:r>
              <a:t>For Orange, this means we can connect Copilot to our internal toolchain and create agents that truly understand our workflow end-to-end.</a:t>
            </a:r>
          </a:p>
          <a:p>
            <a:r>
              <a:t>MCP servers are easy to build — it's just a JSON-RPC interface that exposes tools.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advanced techniques that dramatically improve results:</a:t>
            </a:r>
          </a:p>
          <a:p>
            <a:endParaRPr/>
          </a:p>
          <a:p>
            <a:r>
              <a:t>1. Prompt Chaining: decompose complex tasks into sequential steps. Each step uses the output of the previous one. This gives Copilot a clear, manageable scope at each step instead of a massive multi-part request.</a:t>
            </a:r>
          </a:p>
          <a:p>
            <a:endParaRPr/>
          </a:p>
          <a:p>
            <a:r>
              <a:t>2. Context Window Management: know when to start fresh. If the conversation has too many errors, if you're changing topic, or if the thread is getting long — start a new conversation. Also use #file to include specific files and @workspace for project-wide context.</a:t>
            </a:r>
          </a:p>
          <a:p>
            <a:endParaRPr/>
          </a:p>
          <a:p>
            <a:r>
              <a:t>3. Few-Shot Prompting: show Copilot an example of what you want. If you have an existing endpoint that follows your pattern, reference it and ask Copilot to create the new one following the same pattern. This ensures perfect consistency across your codebase.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core of today's session. We're going to build a notification microservice from scratch using Copilot in agent mode. This isn't a toy todo app — it's a real pattern you encounter daily: queue processing, retry with exponential backoff, dead letter queues, and observability.</a:t>
            </a:r>
          </a:p>
          <a:p>
            <a:r>
              <a:t>The goal is to show that Copilot understands architecture patterns, not just syntax. And more importantly — to demonstrate the business value: faster time-to-market, consistent code quality, and team-scalable practices.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demo isn't purely technical — it explicitly serves to demonstrate business value and drive adoption. Three angles:</a:t>
            </a:r>
          </a:p>
          <a:p>
            <a:r>
              <a:t>First, we're using a real Orange use case — notification services are everywhere in our stack.</a:t>
            </a:r>
          </a:p>
          <a:p>
            <a:r>
              <a:t>Second, the speed factor — going from a structured prompt to a fully working, tested service in under 20 minutes.</a:t>
            </a:r>
          </a:p>
          <a:p>
            <a:r>
              <a:t>Third, the business angle — faster delivery cycles, consistent code quality across teams, and knowledge that's captured in version-controlled instructions.</a:t>
            </a:r>
          </a:p>
          <a:p>
            <a:r>
              <a:t>The community forums require us to integrate concrete Orange use cases and illustrate both best practices AND advanced Copilot capabilities like agent mode and workflow automation.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full architecture we'll generate. The key layers are:</a:t>
            </a:r>
          </a:p>
          <a:p>
            <a:r>
              <a:t>At the top, the .github folder — this is our Copilot context layer. It provides permanent project context so Copilot always knows our stack, conventions, and architecture patterns.</a:t>
            </a:r>
          </a:p>
          <a:p>
            <a:r>
              <a:t>The application layer follows clean separation: routes for API endpoints, queue for async processing with retry and dead letter, channels for the notification senders, and middleware for cross-cutting concerns like structured logging.</a:t>
            </a:r>
          </a:p>
          <a:p>
            <a:r>
              <a:t>And at the bottom, our test suite covering both happy paths and failure scenarios.</a:t>
            </a:r>
          </a:p>
          <a:p>
            <a:r>
              <a:t>All of this will be generated from a few well-structured prompts.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1: we send a single, well-structured prompt that describes the architecture.</a:t>
            </a:r>
          </a:p>
          <a:p>
            <a:r>
              <a:t>Notice we're NOT writing pseudocode or describing implementation details.</a:t>
            </a:r>
          </a:p>
          <a:p>
            <a:r>
              <a:t>We're telling Copilot WHAT we want — the structure, the patterns, the contracts — and it generates the full implementation.</a:t>
            </a:r>
          </a:p>
          <a:p>
            <a:r>
              <a:t>A well-structured prompt equals a complete microservice in about 30 seconds.</a:t>
            </a:r>
          </a:p>
          <a:p>
            <a:r>
              <a:t>This is the key message for adoption: describe architecture, get implementation.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2: We add resilience patterns — retry with exponential backoff and a dead letter queue.</a:t>
            </a:r>
          </a:p>
          <a:p>
            <a:r>
              <a:t>The key point here is that we're NOT rewriting anything. We're describing new behavior and Copilot modifies the existing codebase, maintaining context from step 1.</a:t>
            </a:r>
          </a:p>
          <a:p>
            <a:r>
              <a:t>This demonstrates that Copilot isn't just a generator — it's a collaborator that understands your project's current state and evolves it incrementally.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3: Tests. Copilot generates the full test suite covering four scenarios: happy path, validation errors, retry behavior with mocked channels, and dead letter.</a:t>
            </a:r>
          </a:p>
          <a:p>
            <a:r>
              <a:t>The important message here: Copilot writes the tests, but YOU are responsible for validating that the coverage makes sense and the test scenarios are relevant.</a:t>
            </a:r>
          </a:p>
          <a:p>
            <a:r>
              <a:t>The agent iterates on failures automatically, but you're the pilot.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4: We run everything and show it works. Tests pass, server starts, we can send notifications via curl, see structured logs, check the health endpoint with real stats.</a:t>
            </a:r>
          </a:p>
          <a:p>
            <a:r>
              <a:t>In less than 20 minutes, we have a microservice with retry, dead letter, observability, and tests. This isn't throwaway code — it's a solid, production-ready foundation.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5: Capitalization. This is where the real team-level value comes in.</a:t>
            </a:r>
          </a:p>
          <a:p>
            <a:r>
              <a:t>The .github folder contains copilot-instructions.md for permanent project context, and reusable prompt templates for common tasks.</a:t>
            </a:r>
          </a:p>
          <a:p>
            <a:r>
              <a:t>When a new team member clones the repo, Copilot automatically loads all this context. No onboarding friction, no repeated explanations.</a:t>
            </a:r>
          </a:p>
          <a:p>
            <a:r>
              <a:t>The key message: treat your Copilot instructions like code — version them, review them via PRs, and improve them as a team. This is collective tooling, not individual shortcuts.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Quick recap of what we built in 20 minutes: a complete notification microservice with retry, dead letter, observability, tests, and team-shareable Copilot instructions.</a:t>
            </a:r>
          </a:p>
          <a:p>
            <a:r>
              <a:t>Three key messages:</a:t>
            </a:r>
          </a:p>
          <a:p>
            <a:r>
              <a:t>1. Describe architecture, get implementation — Copilot understands patterns.</a:t>
            </a:r>
          </a:p>
          <a:p>
            <a:r>
              <a:t>2. Copilot modifies existing code with full context — it's a true collaborator.</a:t>
            </a:r>
          </a:p>
          <a:p>
            <a:r>
              <a:t>3. Capitalize via .github/ — your instructions are team assets, not personal tricks.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we're moving to the advanced section — multi-agent orchestration.</a:t>
            </a:r>
          </a:p>
          <a:p>
            <a:r>
              <a:t>This is where Forum 2 clearly introduces the industrialization dimension.</a:t>
            </a:r>
          </a:p>
          <a:p>
            <a:r>
              <a:t>We're going beyond individual developer productivity and into team-scale, cost-aware, reusable AI workflows.</a:t>
            </a:r>
          </a:p>
          <a:p>
            <a:r>
              <a:t>Three pillars: orchestration of specialized agents, token cost optimization, and sharing skills across teams to avoid duplication.</a:t>
            </a:r>
          </a:p>
          <a:p>
            <a:r>
              <a:t>This aligns with the Copilot roadmap moving toward full agentic capabilities.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Since VS Code 1.109 (January 2026), multi-agent is native.</a:t>
            </a:r>
            <a:br/>
            <a:br/>
            <a:r>
              <a:t>Key points:</a:t>
            </a:r>
            <a:br/>
            <a:r>
              <a:t>- Agent Sessions View centralizes EVERYTHING: local, background, cloud</a:t>
            </a:r>
            <a:br/>
            <a:r>
              <a:t>- No more manually switching conversations: subagents are delegated automatically</a:t>
            </a:r>
            <a:br/>
            <a:r>
              <a:t>- Claude and Codex are native agents under your Copilot subscription (Pro+ for local Codex)</a:t>
            </a:r>
            <a:br/>
            <a:r>
              <a:t>- Handoffs allow chaining Code -&gt; Review -&gt; Fix without intervention</a:t>
            </a:r>
            <a:br/>
            <a:br/>
            <a:r>
              <a:t>Transition: 'Now that we know how to orchestrate, how do we optimize costs?'</a:t>
            </a:r>
            <a:br/>
            <a:br/>
            <a:r>
              <a:t>Ref: https://code.visualstudio.com/blogs/2026/02/05/multi-agent-development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Choosing the right LLM is critical for both quality and cost control.</a:t>
            </a:r>
          </a:p>
          <a:p>
            <a:r>
              <a:t>Think of it as a spectrum: at the top, powerful models like Opus or GPT-4.1 for complex architecture decisions and multi-file refactoring.</a:t>
            </a:r>
          </a:p>
          <a:p>
            <a:r>
              <a:t>In the middle, Sonnet-class models for your daily agent work.</a:t>
            </a:r>
          </a:p>
          <a:p>
            <a:r>
              <a:t>At the bottom, lightweight models like Haiku for completions and sub-agent tasks.</a:t>
            </a:r>
          </a:p>
          <a:p>
            <a:r>
              <a:t>The rule is simple: start light, escalate only when needed.</a:t>
            </a:r>
          </a:p>
          <a:p>
            <a:r>
              <a:t>In the multi-agent context, the main orchestrator might use Sonnet while delegating simple sub-tasks to Haiku — reducing cost dramatically.</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 concrete strategies your team can adopt immediately.</a:t>
            </a:r>
            <a:br/>
            <a:br/>
            <a:r>
              <a:t>Emphasize:</a:t>
            </a:r>
            <a:br/>
            <a:r>
              <a:t>1. Precise prompts: 'POST /notifications, body: {to, channel, message}' vs 'create something for notifs'</a:t>
            </a:r>
            <a:br/>
            <a:r>
              <a:t>2. Instructions = permanent context = no repetition</a:t>
            </a:r>
            <a:br/>
            <a:r>
              <a:t>3. Skills = packaged workflows, loaded on demand</a:t>
            </a:r>
            <a:br/>
            <a:r>
              <a:t>4. Fresh conversation = reset polluted context</a:t>
            </a:r>
            <a:br/>
            <a:r>
              <a:t>5. Right model = you don't need Opus for a try/catch</a:t>
            </a:r>
            <a:br/>
            <a:r>
              <a:t>6. Caveman = we'll demo it live right after!</a:t>
            </a:r>
            <a:br/>
            <a:br/>
            <a:r>
              <a:t>Key message: these practices reduce costs AND improve quality. Less noise = better answers.</a:t>
            </a:r>
            <a:br/>
            <a:br/>
            <a:r>
              <a:t>Transition: 'Strategy 6, Caveman — let's test it live now.'</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LIVE DEMO moment.</a:t>
            </a:r>
            <a:br/>
            <a:br/>
            <a:r>
              <a:t>Script:</a:t>
            </a:r>
            <a:br/>
            <a:r>
              <a:t>1. Show .github/skills/caveman-mode/SKILL.md already created</a:t>
            </a:r>
            <a:br/>
            <a:r>
              <a:t>2. Open a NEW conversation in VS Code</a:t>
            </a:r>
            <a:br/>
            <a:r>
              <a:t>3. Type: 'Explain the retry with exponential backoff in notification-queue.ts'</a:t>
            </a:r>
            <a:br/>
            <a:r>
              <a:t>   -&gt; Show verbose response, note ~800 tokens</a:t>
            </a:r>
            <a:br/>
            <a:r>
              <a:t>4. Open ANOTHER new conversation</a:t>
            </a:r>
            <a:br/>
            <a:r>
              <a:t>5. Type: '/caveman-mode' then same prompt</a:t>
            </a:r>
            <a:br/>
            <a:r>
              <a:t>   -&gt; Show concise response, note ~250 tokens</a:t>
            </a:r>
            <a:br/>
            <a:r>
              <a:t>6. Show that generated code is identical in quality</a:t>
            </a:r>
            <a:br/>
            <a:br/>
            <a:r>
              <a:t>Key message:</a:t>
            </a:r>
            <a:br/>
            <a:r>
              <a:t>'Output tokens cost 3-4x more than input tokens.</a:t>
            </a:r>
            <a:br/>
            <a:r>
              <a:t>At Orange scale with hundreds of developers, Caveman represents</a:t>
            </a:r>
            <a:br/>
            <a:r>
              <a:t>thousands of euros in monthly savings. And code quality doesn't budge.'</a:t>
            </a:r>
            <a:br/>
            <a:br/>
            <a:r>
              <a:t>Source: https://github.com/github/awesome-copilot/blob/main/agents/caveman-mode.agent.md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key insight from the community: we need to centralize agents, plugins, and skills at the organization level to avoid duplication between teams.</a:t>
            </a:r>
          </a:p>
          <a:p>
            <a:r>
              <a:t>The pattern: teams contribute their specialized skills to a central org-level .github repository. All new projects automatically inherit this context.</a:t>
            </a:r>
          </a:p>
          <a:p>
            <a:r>
              <a:t>Benefits: zero-friction onboarding, consistent patterns across the org, and a community-driven, mutualized approach to AI tooling.</a:t>
            </a:r>
          </a:p>
          <a:p>
            <a:r>
              <a:t>This directly addresses the feedback about the need to centralize and avoid teams reinventing the same wheels independently.</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message: we're no longer talking about the future, this is the PRESENT.</a:t>
            </a:r>
            <a:br/>
            <a:br/>
            <a:r>
              <a:t>Everything shown today is available now:</a:t>
            </a:r>
            <a:br/>
            <a:r>
              <a:t>- Agent Sessions View since VS Code 1.109 (January 2026)</a:t>
            </a:r>
            <a:br/>
            <a:r>
              <a:t>- Claude &amp; Codex announced by GitHub in February 2026</a:t>
            </a:r>
            <a:br/>
            <a:r>
              <a:t>- Skills = open standard (agentskills.io)</a:t>
            </a:r>
            <a:br/>
            <a:br/>
            <a:r>
              <a:t>Orange positioning:</a:t>
            </a:r>
            <a:br/>
            <a:r>
              <a:t>'Teams that industrialize now (instructions, skills, agents, Caveman)</a:t>
            </a:r>
            <a:br/>
            <a:r>
              <a:t>will be the ones extracting the most value when autonomous workflows arrive.</a:t>
            </a:r>
            <a:br/>
            <a:r>
              <a:t>It's not a question of IF, it's a question of WHEN.'</a:t>
            </a:r>
            <a:br/>
            <a:br/>
            <a:r>
              <a:t>Transition: 'Let's wrap up. What do we take away?'</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we open for questions, a few critical reminders:</a:t>
            </a:r>
          </a:p>
          <a:p>
            <a:r>
              <a:t>Never let the agent push or merge without your review — you own the output.</a:t>
            </a:r>
          </a:p>
          <a:p>
            <a:r>
              <a:t>Never paste secrets or credentials in the chat — treat it like a public space.</a:t>
            </a:r>
          </a:p>
          <a:p>
            <a:r>
              <a:t>Always review generated code — it can be subtly wrong.</a:t>
            </a:r>
          </a:p>
          <a:p>
            <a:r>
              <a:t>One prompt, one task — decompose complex work yourself.</a:t>
            </a:r>
          </a:p>
          <a:p>
            <a:r>
              <a:t>And most importantly: you are the pilot. Copilot assists, you decide.</a:t>
            </a:r>
          </a:p>
          <a:p>
            <a:r>
              <a:t>These are non-negotiable guardrails for responsible AI-assisted development.</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floor for questions and discussion.</a:t>
            </a:r>
          </a:p>
          <a:p>
            <a:r>
              <a:t>Encourage both technical questions about Copilot features and organizational questions about adoption strategy.</a:t>
            </a:r>
          </a:p>
          <a:p>
            <a:r>
              <a:t>Take note of recurring themes — these will inform the hands-on workshop content.</a:t>
            </a:r>
          </a:p>
          <a:p>
            <a:r>
              <a:t>Remind people that their feedback directly shapes what we cover next time.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key takeaways from today:</a:t>
            </a:r>
          </a:p>
          <a:p>
            <a:r>
              <a:t>1. The demo showed that describing architecture gets you complete implementations.</a:t>
            </a:r>
          </a:p>
          <a:p>
            <a:r>
              <a:t>2. Multi-agents and token optimization represent the industrialization of AI-assisted dev.</a:t>
            </a:r>
          </a:p>
          <a:p>
            <a:r>
              <a:t>3. .github/ is your collective tooling foundation.</a:t>
            </a:r>
          </a:p>
          <a:p>
            <a:r>
              <a:t>Next step: the hands-on workshop. Everyone builds their own project with Copilot.</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the resources — documentation, feature page, our internal template repo, and the Teams channel for ongoing discussions.</a:t>
            </a:r>
          </a:p>
          <a:p>
            <a:r>
              <a:t>The recording of today's session will be shared for anyone who couldn't attend.</a:t>
            </a:r>
          </a:p>
          <a:p>
            <a:r>
              <a:t>Encourage people to start experimenting with .github/ in their own repos.</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everyone for their time and engagement.</a:t>
            </a:r>
          </a:p>
          <a:p>
            <a:r>
              <a:t>Encourage them to try what they've seen today on their own projects.</a:t>
            </a:r>
          </a:p>
          <a:p>
            <a:r>
              <a:t>Remind them about the community channel for questions and sharing.</a:t>
            </a:r>
          </a:p>
          <a:p>
            <a:r>
              <a:t>See you at the hands-on workshop!</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914400" y="1828800"/>
            <a:ext cx="10058400" cy="1371600"/>
          </a:xfrm>
          <a:prstGeom prst="rect">
            <a:avLst/>
          </a:prstGeom>
          <a:noFill/>
        </p:spPr>
        <p:txBody>
          <a:bodyPr wrap="square">
            <a:spAutoFit/>
          </a:bodyPr>
          <a:lstStyle/>
          <a:p>
            <a:pPr algn="ctr">
              <a:defRPr sz="4400" b="1">
                <a:solidFill>
                  <a:srgbClr val="FFFFFF"/>
                </a:solidFill>
              </a:defRPr>
            </a:pPr>
            <a:r>
              <a:t>🚀 Community Forum #2</a:t>
            </a:r>
          </a:p>
        </p:txBody>
      </p:sp>
      <p:sp>
        <p:nvSpPr>
          <p:cNvPr id="3" name="TextBox 2"/>
          <p:cNvSpPr txBox="1"/>
          <p:nvPr/>
        </p:nvSpPr>
        <p:spPr>
          <a:xfrm>
            <a:off x="914400" y="3200400"/>
            <a:ext cx="10058400" cy="914400"/>
          </a:xfrm>
          <a:prstGeom prst="rect">
            <a:avLst/>
          </a:prstGeom>
          <a:noFill/>
        </p:spPr>
        <p:txBody>
          <a:bodyPr wrap="square">
            <a:spAutoFit/>
          </a:bodyPr>
          <a:lstStyle/>
          <a:p>
            <a:pPr algn="ctr">
              <a:defRPr sz="2400" b="0">
                <a:solidFill>
                  <a:srgbClr val="A8B2D1"/>
                </a:solidFill>
              </a:defRPr>
            </a:pPr>
            <a:r>
              <a:t>GitHub Copilot — Going Further</a:t>
            </a:r>
          </a:p>
        </p:txBody>
      </p:sp>
      <p:sp>
        <p:nvSpPr>
          <p:cNvPr id="4" name="TextBox 3"/>
          <p:cNvSpPr txBox="1"/>
          <p:nvPr/>
        </p:nvSpPr>
        <p:spPr>
          <a:xfrm>
            <a:off x="914400" y="5029200"/>
            <a:ext cx="10058400" cy="457200"/>
          </a:xfrm>
          <a:prstGeom prst="rect">
            <a:avLst/>
          </a:prstGeom>
          <a:noFill/>
        </p:spPr>
        <p:txBody>
          <a:bodyPr wrap="square">
            <a:spAutoFit/>
          </a:bodyPr>
          <a:lstStyle/>
          <a:p>
            <a:pPr algn="ctr">
              <a:defRPr sz="1400" b="0">
                <a:solidFill>
                  <a:srgbClr val="64748B"/>
                </a:solidFill>
              </a:defRPr>
            </a:pPr>
            <a:r>
              <a:t>Community of Practice • 1h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square">
            <a:spAutoFit/>
          </a:bodyPr>
          <a:lstStyle/>
          <a:p>
            <a:pPr algn="l">
              <a:defRPr sz="3600" b="1">
                <a:solidFill>
                  <a:srgbClr val="E94560"/>
                </a:solidFill>
              </a:defRPr>
            </a:pPr>
            <a:r>
              <a:t>📋 Agenda</a:t>
            </a:r>
          </a:p>
        </p:txBody>
      </p:sp>
      <p:sp>
        <p:nvSpPr>
          <p:cNvPr id="3" name="Rounded Rectangle 2"/>
          <p:cNvSpPr/>
          <p:nvPr/>
        </p:nvSpPr>
        <p:spPr>
          <a:xfrm>
            <a:off x="457200" y="1188720"/>
            <a:ext cx="640080" cy="640080"/>
          </a:xfrm>
          <a:prstGeom prst="roundRect">
            <a:avLst/>
          </a:prstGeom>
          <a:solidFill>
            <a:srgbClr val="16213E"/>
          </a:solidFill>
          <a:ln w="19050">
            <a:solidFill>
              <a:srgbClr val="E9456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000">
                <a:solidFill>
                  <a:srgbClr val="FFFFFF"/>
                </a:solidFill>
              </a:defRPr>
            </a:pPr>
            <a:r>
              <a:t>🎬</a:t>
            </a:r>
          </a:p>
        </p:txBody>
      </p:sp>
      <p:sp>
        <p:nvSpPr>
          <p:cNvPr id="4" name="TextBox 3"/>
          <p:cNvSpPr txBox="1"/>
          <p:nvPr/>
        </p:nvSpPr>
        <p:spPr>
          <a:xfrm>
            <a:off x="1280160" y="1188720"/>
            <a:ext cx="7315200" cy="365760"/>
          </a:xfrm>
          <a:prstGeom prst="rect">
            <a:avLst/>
          </a:prstGeom>
          <a:noFill/>
        </p:spPr>
        <p:txBody>
          <a:bodyPr wrap="square">
            <a:spAutoFit/>
          </a:bodyPr>
          <a:lstStyle/>
          <a:p>
            <a:pPr algn="l">
              <a:defRPr sz="2000" b="1">
                <a:solidFill>
                  <a:srgbClr val="FFFFFF"/>
                </a:solidFill>
              </a:defRPr>
            </a:pPr>
            <a:r>
              <a:t>Intro</a:t>
            </a:r>
          </a:p>
        </p:txBody>
      </p:sp>
      <p:sp>
        <p:nvSpPr>
          <p:cNvPr id="5" name="TextBox 4"/>
          <p:cNvSpPr txBox="1"/>
          <p:nvPr/>
        </p:nvSpPr>
        <p:spPr>
          <a:xfrm>
            <a:off x="1280160" y="1536192"/>
            <a:ext cx="7315200" cy="365760"/>
          </a:xfrm>
          <a:prstGeom prst="rect">
            <a:avLst/>
          </a:prstGeom>
          <a:noFill/>
        </p:spPr>
        <p:txBody>
          <a:bodyPr wrap="square">
            <a:spAutoFit/>
          </a:bodyPr>
          <a:lstStyle/>
          <a:p>
            <a:pPr algn="l">
              <a:defRPr sz="1300" b="0">
                <a:solidFill>
                  <a:srgbClr val="A8B2D1"/>
                </a:solidFill>
              </a:defRPr>
            </a:pPr>
            <a:r>
              <a:t>Forum #1 recap, goals, workshop announcement</a:t>
            </a:r>
          </a:p>
        </p:txBody>
      </p:sp>
      <p:sp>
        <p:nvSpPr>
          <p:cNvPr id="6" name="TextBox 5"/>
          <p:cNvSpPr txBox="1"/>
          <p:nvPr/>
        </p:nvSpPr>
        <p:spPr>
          <a:xfrm>
            <a:off x="10058400" y="1280160"/>
            <a:ext cx="1828800" cy="365760"/>
          </a:xfrm>
          <a:prstGeom prst="rect">
            <a:avLst/>
          </a:prstGeom>
          <a:noFill/>
        </p:spPr>
        <p:txBody>
          <a:bodyPr wrap="square">
            <a:spAutoFit/>
          </a:bodyPr>
          <a:lstStyle/>
          <a:p>
            <a:pPr algn="r">
              <a:defRPr sz="1300" b="0">
                <a:solidFill>
                  <a:srgbClr val="64748B"/>
                </a:solidFill>
              </a:defRPr>
            </a:pPr>
            <a:r>
              <a:t>5 min</a:t>
            </a:r>
          </a:p>
        </p:txBody>
      </p:sp>
      <p:sp>
        <p:nvSpPr>
          <p:cNvPr id="7" name="Rounded Rectangle 6"/>
          <p:cNvSpPr/>
          <p:nvPr/>
        </p:nvSpPr>
        <p:spPr>
          <a:xfrm>
            <a:off x="457200" y="2194560"/>
            <a:ext cx="640080" cy="640080"/>
          </a:xfrm>
          <a:prstGeom prst="roundRect">
            <a:avLst/>
          </a:prstGeom>
          <a:solidFill>
            <a:srgbClr val="16213E"/>
          </a:solidFill>
          <a:ln w="19050">
            <a:solidFill>
              <a:srgbClr val="E9456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000">
                <a:solidFill>
                  <a:srgbClr val="FFFFFF"/>
                </a:solidFill>
              </a:defRPr>
            </a:pPr>
            <a:r>
              <a:t>🛠️</a:t>
            </a:r>
          </a:p>
        </p:txBody>
      </p:sp>
      <p:sp>
        <p:nvSpPr>
          <p:cNvPr id="8" name="TextBox 7"/>
          <p:cNvSpPr txBox="1"/>
          <p:nvPr/>
        </p:nvSpPr>
        <p:spPr>
          <a:xfrm>
            <a:off x="1280160" y="2194560"/>
            <a:ext cx="7315200" cy="365760"/>
          </a:xfrm>
          <a:prstGeom prst="rect">
            <a:avLst/>
          </a:prstGeom>
          <a:noFill/>
        </p:spPr>
        <p:txBody>
          <a:bodyPr wrap="square">
            <a:spAutoFit/>
          </a:bodyPr>
          <a:lstStyle/>
          <a:p>
            <a:pPr algn="l">
              <a:defRPr sz="2000" b="1">
                <a:solidFill>
                  <a:srgbClr val="FFFFFF"/>
                </a:solidFill>
              </a:defRPr>
            </a:pPr>
            <a:r>
              <a:t>Live Demo — Core Session</a:t>
            </a:r>
          </a:p>
        </p:txBody>
      </p:sp>
      <p:sp>
        <p:nvSpPr>
          <p:cNvPr id="9" name="TextBox 8"/>
          <p:cNvSpPr txBox="1"/>
          <p:nvPr/>
        </p:nvSpPr>
        <p:spPr>
          <a:xfrm>
            <a:off x="1280160" y="2542032"/>
            <a:ext cx="7315200" cy="365760"/>
          </a:xfrm>
          <a:prstGeom prst="rect">
            <a:avLst/>
          </a:prstGeom>
          <a:noFill/>
        </p:spPr>
        <p:txBody>
          <a:bodyPr wrap="square">
            <a:spAutoFit/>
          </a:bodyPr>
          <a:lstStyle/>
          <a:p>
            <a:pPr algn="l">
              <a:defRPr sz="1300" b="0">
                <a:solidFill>
                  <a:srgbClr val="A8B2D1"/>
                </a:solidFill>
              </a:defRPr>
            </a:pPr>
            <a:r>
              <a:t>API + Tests + .github/ • Orange use cases • Agent mode • Business value + Adoption</a:t>
            </a:r>
          </a:p>
        </p:txBody>
      </p:sp>
      <p:sp>
        <p:nvSpPr>
          <p:cNvPr id="10" name="TextBox 9"/>
          <p:cNvSpPr txBox="1"/>
          <p:nvPr/>
        </p:nvSpPr>
        <p:spPr>
          <a:xfrm>
            <a:off x="10058400" y="2286000"/>
            <a:ext cx="1828800" cy="365760"/>
          </a:xfrm>
          <a:prstGeom prst="rect">
            <a:avLst/>
          </a:prstGeom>
          <a:noFill/>
        </p:spPr>
        <p:txBody>
          <a:bodyPr wrap="square">
            <a:spAutoFit/>
          </a:bodyPr>
          <a:lstStyle/>
          <a:p>
            <a:pPr algn="r">
              <a:defRPr sz="1300" b="0">
                <a:solidFill>
                  <a:srgbClr val="64748B"/>
                </a:solidFill>
              </a:defRPr>
            </a:pPr>
            <a:r>
              <a:t>20 min</a:t>
            </a:r>
          </a:p>
        </p:txBody>
      </p:sp>
      <p:sp>
        <p:nvSpPr>
          <p:cNvPr id="11" name="Rounded Rectangle 10"/>
          <p:cNvSpPr/>
          <p:nvPr/>
        </p:nvSpPr>
        <p:spPr>
          <a:xfrm>
            <a:off x="457200" y="3200400"/>
            <a:ext cx="640080" cy="640080"/>
          </a:xfrm>
          <a:prstGeom prst="roundRect">
            <a:avLst/>
          </a:prstGeom>
          <a:solidFill>
            <a:srgbClr val="16213E"/>
          </a:solidFill>
          <a:ln w="19050">
            <a:solidFill>
              <a:srgbClr val="E9456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000">
                <a:solidFill>
                  <a:srgbClr val="FFFFFF"/>
                </a:solidFill>
              </a:defRPr>
            </a:pPr>
            <a:r>
              <a:t>🤖</a:t>
            </a:r>
          </a:p>
        </p:txBody>
      </p:sp>
      <p:sp>
        <p:nvSpPr>
          <p:cNvPr id="12" name="TextBox 11"/>
          <p:cNvSpPr txBox="1"/>
          <p:nvPr/>
        </p:nvSpPr>
        <p:spPr>
          <a:xfrm>
            <a:off x="1280160" y="3200400"/>
            <a:ext cx="7315200" cy="365760"/>
          </a:xfrm>
          <a:prstGeom prst="rect">
            <a:avLst/>
          </a:prstGeom>
          <a:noFill/>
        </p:spPr>
        <p:txBody>
          <a:bodyPr wrap="square">
            <a:spAutoFit/>
          </a:bodyPr>
          <a:lstStyle/>
          <a:p>
            <a:pPr algn="l">
              <a:defRPr sz="2000" b="1">
                <a:solidFill>
                  <a:srgbClr val="FFFFFF"/>
                </a:solidFill>
              </a:defRPr>
            </a:pPr>
            <a:r>
              <a:t>Multi-Agents — Industrialization</a:t>
            </a:r>
          </a:p>
        </p:txBody>
      </p:sp>
      <p:sp>
        <p:nvSpPr>
          <p:cNvPr id="13" name="TextBox 12"/>
          <p:cNvSpPr txBox="1"/>
          <p:nvPr/>
        </p:nvSpPr>
        <p:spPr>
          <a:xfrm>
            <a:off x="1280160" y="3547872"/>
            <a:ext cx="7315200" cy="365760"/>
          </a:xfrm>
          <a:prstGeom prst="rect">
            <a:avLst/>
          </a:prstGeom>
          <a:noFill/>
        </p:spPr>
        <p:txBody>
          <a:bodyPr wrap="square">
            <a:spAutoFit/>
          </a:bodyPr>
          <a:lstStyle/>
          <a:p>
            <a:pPr algn="l">
              <a:defRPr sz="1300" b="0">
                <a:solidFill>
                  <a:srgbClr val="A8B2D1"/>
                </a:solidFill>
              </a:defRPr>
            </a:pPr>
            <a:r>
              <a:t>Orchestration • LLM choice • Token reduction • Shared skills • Mutualized approach • Agentic roadmap</a:t>
            </a:r>
          </a:p>
        </p:txBody>
      </p:sp>
      <p:sp>
        <p:nvSpPr>
          <p:cNvPr id="14" name="TextBox 13"/>
          <p:cNvSpPr txBox="1"/>
          <p:nvPr/>
        </p:nvSpPr>
        <p:spPr>
          <a:xfrm>
            <a:off x="10058400" y="3291840"/>
            <a:ext cx="1828800" cy="365760"/>
          </a:xfrm>
          <a:prstGeom prst="rect">
            <a:avLst/>
          </a:prstGeom>
          <a:noFill/>
        </p:spPr>
        <p:txBody>
          <a:bodyPr wrap="square">
            <a:spAutoFit/>
          </a:bodyPr>
          <a:lstStyle/>
          <a:p>
            <a:pPr algn="r">
              <a:defRPr sz="1300" b="0">
                <a:solidFill>
                  <a:srgbClr val="64748B"/>
                </a:solidFill>
              </a:defRPr>
            </a:pPr>
            <a:r>
              <a:t>20 min</a:t>
            </a:r>
          </a:p>
        </p:txBody>
      </p:sp>
      <p:sp>
        <p:nvSpPr>
          <p:cNvPr id="15" name="Rounded Rectangle 14"/>
          <p:cNvSpPr/>
          <p:nvPr/>
        </p:nvSpPr>
        <p:spPr>
          <a:xfrm>
            <a:off x="457200" y="4206240"/>
            <a:ext cx="640080" cy="640080"/>
          </a:xfrm>
          <a:prstGeom prst="roundRect">
            <a:avLst/>
          </a:prstGeom>
          <a:solidFill>
            <a:srgbClr val="16213E"/>
          </a:solidFill>
          <a:ln w="19050">
            <a:solidFill>
              <a:srgbClr val="E9456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000">
                <a:solidFill>
                  <a:srgbClr val="FFFFFF"/>
                </a:solidFill>
              </a:defRPr>
            </a:pPr>
            <a:r>
              <a:t>💬</a:t>
            </a:r>
          </a:p>
        </p:txBody>
      </p:sp>
      <p:sp>
        <p:nvSpPr>
          <p:cNvPr id="16" name="TextBox 15"/>
          <p:cNvSpPr txBox="1"/>
          <p:nvPr/>
        </p:nvSpPr>
        <p:spPr>
          <a:xfrm>
            <a:off x="1280160" y="4206240"/>
            <a:ext cx="7315200" cy="365760"/>
          </a:xfrm>
          <a:prstGeom prst="rect">
            <a:avLst/>
          </a:prstGeom>
          <a:noFill/>
        </p:spPr>
        <p:txBody>
          <a:bodyPr wrap="square">
            <a:spAutoFit/>
          </a:bodyPr>
          <a:lstStyle/>
          <a:p>
            <a:pPr algn="l">
              <a:defRPr sz="2000" b="1">
                <a:solidFill>
                  <a:srgbClr val="FFFFFF"/>
                </a:solidFill>
              </a:defRPr>
            </a:pPr>
            <a:r>
              <a:t>Q&amp;A</a:t>
            </a:r>
          </a:p>
        </p:txBody>
      </p:sp>
      <p:sp>
        <p:nvSpPr>
          <p:cNvPr id="17" name="TextBox 16"/>
          <p:cNvSpPr txBox="1"/>
          <p:nvPr/>
        </p:nvSpPr>
        <p:spPr>
          <a:xfrm>
            <a:off x="1280160" y="4553712"/>
            <a:ext cx="7315200" cy="365760"/>
          </a:xfrm>
          <a:prstGeom prst="rect">
            <a:avLst/>
          </a:prstGeom>
          <a:noFill/>
        </p:spPr>
        <p:txBody>
          <a:bodyPr wrap="square">
            <a:spAutoFit/>
          </a:bodyPr>
          <a:lstStyle/>
          <a:p>
            <a:pPr algn="l">
              <a:defRPr sz="1300" b="0">
                <a:solidFill>
                  <a:srgbClr val="A8B2D1"/>
                </a:solidFill>
              </a:defRPr>
            </a:pPr>
            <a:r>
              <a:t>Open questions • Experience sharing • Ideas for next steps</a:t>
            </a:r>
          </a:p>
        </p:txBody>
      </p:sp>
      <p:sp>
        <p:nvSpPr>
          <p:cNvPr id="18" name="TextBox 17"/>
          <p:cNvSpPr txBox="1"/>
          <p:nvPr/>
        </p:nvSpPr>
        <p:spPr>
          <a:xfrm>
            <a:off x="10058400" y="4297680"/>
            <a:ext cx="1828800" cy="365760"/>
          </a:xfrm>
          <a:prstGeom prst="rect">
            <a:avLst/>
          </a:prstGeom>
          <a:noFill/>
        </p:spPr>
        <p:txBody>
          <a:bodyPr wrap="square">
            <a:spAutoFit/>
          </a:bodyPr>
          <a:lstStyle/>
          <a:p>
            <a:pPr algn="r">
              <a:defRPr sz="1300" b="0">
                <a:solidFill>
                  <a:srgbClr val="64748B"/>
                </a:solidFill>
              </a:defRPr>
            </a:pPr>
            <a:r>
              <a:t>10 min</a:t>
            </a:r>
          </a:p>
        </p:txBody>
      </p:sp>
      <p:sp>
        <p:nvSpPr>
          <p:cNvPr id="19" name="Rounded Rectangle 18"/>
          <p:cNvSpPr/>
          <p:nvPr/>
        </p:nvSpPr>
        <p:spPr>
          <a:xfrm>
            <a:off x="457200" y="5212080"/>
            <a:ext cx="640080" cy="640080"/>
          </a:xfrm>
          <a:prstGeom prst="roundRect">
            <a:avLst/>
          </a:prstGeom>
          <a:solidFill>
            <a:srgbClr val="16213E"/>
          </a:solidFill>
          <a:ln w="19050">
            <a:solidFill>
              <a:srgbClr val="E9456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000">
                <a:solidFill>
                  <a:srgbClr val="FFFFFF"/>
                </a:solidFill>
              </a:defRPr>
            </a:pPr>
            <a:r>
              <a:t>📌</a:t>
            </a:r>
          </a:p>
        </p:txBody>
      </p:sp>
      <p:sp>
        <p:nvSpPr>
          <p:cNvPr id="20" name="TextBox 19"/>
          <p:cNvSpPr txBox="1"/>
          <p:nvPr/>
        </p:nvSpPr>
        <p:spPr>
          <a:xfrm>
            <a:off x="1280160" y="5212080"/>
            <a:ext cx="7315200" cy="365760"/>
          </a:xfrm>
          <a:prstGeom prst="rect">
            <a:avLst/>
          </a:prstGeom>
          <a:noFill/>
        </p:spPr>
        <p:txBody>
          <a:bodyPr wrap="square">
            <a:spAutoFit/>
          </a:bodyPr>
          <a:lstStyle/>
          <a:p>
            <a:pPr algn="l">
              <a:defRPr sz="2000" b="1">
                <a:solidFill>
                  <a:srgbClr val="FFFFFF"/>
                </a:solidFill>
              </a:defRPr>
            </a:pPr>
            <a:r>
              <a:t>Closing</a:t>
            </a:r>
          </a:p>
        </p:txBody>
      </p:sp>
      <p:sp>
        <p:nvSpPr>
          <p:cNvPr id="21" name="TextBox 20"/>
          <p:cNvSpPr txBox="1"/>
          <p:nvPr/>
        </p:nvSpPr>
        <p:spPr>
          <a:xfrm>
            <a:off x="1280160" y="5559552"/>
            <a:ext cx="7315200" cy="365760"/>
          </a:xfrm>
          <a:prstGeom prst="rect">
            <a:avLst/>
          </a:prstGeom>
          <a:noFill/>
        </p:spPr>
        <p:txBody>
          <a:bodyPr wrap="square">
            <a:spAutoFit/>
          </a:bodyPr>
          <a:lstStyle/>
          <a:p>
            <a:pPr algn="l">
              <a:defRPr sz="1300" b="0">
                <a:solidFill>
                  <a:srgbClr val="A8B2D1"/>
                </a:solidFill>
              </a:defRPr>
            </a:pPr>
            <a:r>
              <a:t>Recap • Shared resources • Hands-on workshop date</a:t>
            </a:r>
          </a:p>
        </p:txBody>
      </p:sp>
      <p:sp>
        <p:nvSpPr>
          <p:cNvPr id="22" name="TextBox 21"/>
          <p:cNvSpPr txBox="1"/>
          <p:nvPr/>
        </p:nvSpPr>
        <p:spPr>
          <a:xfrm>
            <a:off x="10058400" y="5303520"/>
            <a:ext cx="1828800" cy="365760"/>
          </a:xfrm>
          <a:prstGeom prst="rect">
            <a:avLst/>
          </a:prstGeom>
          <a:noFill/>
        </p:spPr>
        <p:txBody>
          <a:bodyPr wrap="square">
            <a:spAutoFit/>
          </a:bodyPr>
          <a:lstStyle/>
          <a:p>
            <a:pPr algn="r">
              <a:defRPr sz="1300" b="0">
                <a:solidFill>
                  <a:srgbClr val="64748B"/>
                </a:solidFill>
              </a:defRPr>
            </a:pPr>
            <a:r>
              <a:t>5 min</a:t>
            </a:r>
          </a:p>
        </p:txBody>
      </p:sp>
      <p:sp>
        <p:nvSpPr>
          <p:cNvPr id="23" name="Rounded Rectangle 22"/>
          <p:cNvSpPr/>
          <p:nvPr/>
        </p:nvSpPr>
        <p:spPr>
          <a:xfrm>
            <a:off x="914400" y="5943600"/>
            <a:ext cx="10058400" cy="548640"/>
          </a:xfrm>
          <a:prstGeom prst="roundRect">
            <a:avLst/>
          </a:prstGeom>
          <a:solidFill>
            <a:srgbClr val="2A1A2E"/>
          </a:solidFill>
          <a:ln w="19050">
            <a:solidFill>
              <a:srgbClr val="E9456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a:solidFill>
                  <a:srgbClr val="E94560"/>
                </a:solidFill>
              </a:defRPr>
            </a:pPr>
            <a:r>
              <a:t>🎯 Two pillars: Practical demo (business value) + Industrialization (multi-agents &amp; tokens)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square">
            <a:spAutoFit/>
          </a:bodyPr>
          <a:lstStyle/>
          <a:p>
            <a:pPr algn="l">
              <a:defRPr sz="3600" b="1">
                <a:solidFill>
                  <a:srgbClr val="E94560"/>
                </a:solidFill>
              </a:defRPr>
            </a:pPr>
            <a:r>
              <a:t>📌 Forum #1 Recap</a:t>
            </a:r>
          </a:p>
        </p:txBody>
      </p:sp>
      <p:sp>
        <p:nvSpPr>
          <p:cNvPr id="3" name="TextBox 2"/>
          <p:cNvSpPr txBox="1"/>
          <p:nvPr/>
        </p:nvSpPr>
        <p:spPr>
          <a:xfrm>
            <a:off x="457200" y="1371600"/>
            <a:ext cx="4572000" cy="457200"/>
          </a:xfrm>
          <a:prstGeom prst="rect">
            <a:avLst/>
          </a:prstGeom>
          <a:noFill/>
        </p:spPr>
        <p:txBody>
          <a:bodyPr wrap="square">
            <a:spAutoFit/>
          </a:bodyPr>
          <a:lstStyle/>
          <a:p>
            <a:pPr algn="l">
              <a:defRPr sz="2000" b="1">
                <a:solidFill>
                  <a:srgbClr val="A8B2D1"/>
                </a:solidFill>
              </a:defRPr>
            </a:pPr>
            <a:r>
              <a:t>✅ What we covered</a:t>
            </a:r>
          </a:p>
        </p:txBody>
      </p:sp>
      <p:sp>
        <p:nvSpPr>
          <p:cNvPr id="4" name="TextBox 3"/>
          <p:cNvSpPr txBox="1"/>
          <p:nvPr/>
        </p:nvSpPr>
        <p:spPr>
          <a:xfrm>
            <a:off x="457200" y="1920240"/>
            <a:ext cx="5029200" cy="2286000"/>
          </a:xfrm>
          <a:prstGeom prst="rect">
            <a:avLst/>
          </a:prstGeom>
          <a:noFill/>
        </p:spPr>
        <p:txBody>
          <a:bodyPr wrap="square">
            <a:spAutoFit/>
          </a:bodyPr>
          <a:lstStyle/>
          <a:p>
            <a:pPr algn="l">
              <a:defRPr sz="1600" b="0">
                <a:solidFill>
                  <a:srgbClr val="C8D6E5"/>
                </a:solidFill>
              </a:defRPr>
            </a:pPr>
            <a:r>
              <a:t>💬  Copilot Chat &amp; Agent introduction</a:t>
            </a:r>
          </a:p>
          <a:p>
            <a:pPr algn="l">
              <a:spcBef>
                <a:spcPts val="600"/>
              </a:spcBef>
              <a:defRPr sz="1600" b="0">
                <a:solidFill>
                  <a:srgbClr val="C8D6E5"/>
                </a:solidFill>
              </a:defRPr>
            </a:pPr>
            <a:r>
              <a:t>📝  First steps with custom instructions</a:t>
            </a:r>
          </a:p>
          <a:p>
            <a:pPr algn="l">
              <a:spcBef>
                <a:spcPts val="600"/>
              </a:spcBef>
              <a:defRPr sz="1600" b="0">
                <a:solidFill>
                  <a:srgbClr val="C8D6E5"/>
                </a:solidFill>
              </a:defRPr>
            </a:pPr>
            <a:r>
              <a:t>🔀  Modes: Ask, Edit, Agent</a:t>
            </a:r>
          </a:p>
          <a:p>
            <a:pPr algn="l">
              <a:spcBef>
                <a:spcPts val="600"/>
              </a:spcBef>
              <a:defRPr sz="1600" b="0">
                <a:solidFill>
                  <a:srgbClr val="C8D6E5"/>
                </a:solidFill>
              </a:defRPr>
            </a:pPr>
            <a:r>
              <a:t>🧪  Initial demos &amp; quick wins</a:t>
            </a:r>
          </a:p>
        </p:txBody>
      </p:sp>
      <p:sp>
        <p:nvSpPr>
          <p:cNvPr id="5" name="TextBox 4"/>
          <p:cNvSpPr txBox="1"/>
          <p:nvPr/>
        </p:nvSpPr>
        <p:spPr>
          <a:xfrm>
            <a:off x="6400800" y="1371600"/>
            <a:ext cx="4572000" cy="457200"/>
          </a:xfrm>
          <a:prstGeom prst="rect">
            <a:avLst/>
          </a:prstGeom>
          <a:noFill/>
        </p:spPr>
        <p:txBody>
          <a:bodyPr wrap="square">
            <a:spAutoFit/>
          </a:bodyPr>
          <a:lstStyle/>
          <a:p>
            <a:pPr algn="l">
              <a:defRPr sz="2000" b="1">
                <a:solidFill>
                  <a:srgbClr val="A8B2D1"/>
                </a:solidFill>
              </a:defRPr>
            </a:pPr>
            <a:r>
              <a:t>🎯 Today's goals</a:t>
            </a:r>
          </a:p>
        </p:txBody>
      </p:sp>
      <p:sp>
        <p:nvSpPr>
          <p:cNvPr id="6" name="TextBox 5"/>
          <p:cNvSpPr txBox="1"/>
          <p:nvPr/>
        </p:nvSpPr>
        <p:spPr>
          <a:xfrm>
            <a:off x="6400800" y="1920240"/>
            <a:ext cx="5029200" cy="2286000"/>
          </a:xfrm>
          <a:prstGeom prst="rect">
            <a:avLst/>
          </a:prstGeom>
          <a:noFill/>
        </p:spPr>
        <p:txBody>
          <a:bodyPr wrap="square">
            <a:spAutoFit/>
          </a:bodyPr>
          <a:lstStyle/>
          <a:p>
            <a:pPr algn="l">
              <a:defRPr sz="1600" b="0">
                <a:solidFill>
                  <a:srgbClr val="C8D6E5"/>
                </a:solidFill>
              </a:defRPr>
            </a:pPr>
            <a:r>
              <a:t>🏗️  Build a real project live</a:t>
            </a:r>
          </a:p>
          <a:p>
            <a:pPr algn="l">
              <a:spcBef>
                <a:spcPts val="600"/>
              </a:spcBef>
              <a:defRPr sz="1600" b="0">
                <a:solidFill>
                  <a:srgbClr val="C8D6E5"/>
                </a:solidFill>
              </a:defRPr>
            </a:pPr>
            <a:r>
              <a:t>🤖  Multi-agent deep dive</a:t>
            </a:r>
          </a:p>
          <a:p>
            <a:pPr algn="l">
              <a:spcBef>
                <a:spcPts val="600"/>
              </a:spcBef>
              <a:defRPr sz="1600" b="0">
                <a:solidFill>
                  <a:srgbClr val="C8D6E5"/>
                </a:solidFill>
              </a:defRPr>
            </a:pPr>
            <a:r>
              <a:t>📊  Token optimization strategies</a:t>
            </a:r>
          </a:p>
          <a:p>
            <a:pPr algn="l">
              <a:spcBef>
                <a:spcPts val="600"/>
              </a:spcBef>
              <a:defRPr sz="1600" b="0">
                <a:solidFill>
                  <a:srgbClr val="C8D6E5"/>
                </a:solidFill>
              </a:defRPr>
            </a:pPr>
            <a:r>
              <a:t>📅  Announce hands-on workshop</a:t>
            </a:r>
          </a:p>
        </p:txBody>
      </p:sp>
      <p:sp>
        <p:nvSpPr>
          <p:cNvPr id="7" name="Rounded Rectangle 6"/>
          <p:cNvSpPr/>
          <p:nvPr/>
        </p:nvSpPr>
        <p:spPr>
          <a:xfrm>
            <a:off x="914400" y="5029200"/>
            <a:ext cx="10058400" cy="731520"/>
          </a:xfrm>
          <a:prstGeom prst="roundRect">
            <a:avLst/>
          </a:prstGeom>
          <a:solidFill>
            <a:srgbClr val="2A1A2E"/>
          </a:solidFill>
          <a:ln w="19050">
            <a:solidFill>
              <a:srgbClr val="E9456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a:solidFill>
                  <a:srgbClr val="FFFFFF"/>
                </a:solidFill>
              </a:defRPr>
            </a:pPr>
            <a:r>
              <a:t>From individual exploration → Team-scale adoption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square">
            <a:spAutoFit/>
          </a:bodyPr>
          <a:lstStyle/>
          <a:p>
            <a:pPr algn="l">
              <a:defRPr sz="3600" b="1">
                <a:solidFill>
                  <a:srgbClr val="E94560"/>
                </a:solidFill>
              </a:defRPr>
            </a:pPr>
            <a:r>
              <a:t>📝 Custom Instructions — Deep Dive</a:t>
            </a:r>
          </a:p>
        </p:txBody>
      </p:sp>
      <p:sp>
        <p:nvSpPr>
          <p:cNvPr id="3" name="Rounded Rectangle 2"/>
          <p:cNvSpPr/>
          <p:nvPr/>
        </p:nvSpPr>
        <p:spPr>
          <a:xfrm>
            <a:off x="457200" y="1188720"/>
            <a:ext cx="3474720" cy="2926080"/>
          </a:xfrm>
          <a:prstGeom prst="roundRect">
            <a:avLst/>
          </a:prstGeom>
          <a:solidFill>
            <a:srgbClr val="16213E"/>
          </a:solidFill>
          <a:ln w="19050">
            <a:solidFill>
              <a:srgbClr val="E945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371600"/>
            <a:ext cx="3108960" cy="457200"/>
          </a:xfrm>
          <a:prstGeom prst="rect">
            <a:avLst/>
          </a:prstGeom>
          <a:noFill/>
        </p:spPr>
        <p:txBody>
          <a:bodyPr wrap="square">
            <a:spAutoFit/>
          </a:bodyPr>
          <a:lstStyle/>
          <a:p>
            <a:pPr algn="ctr">
              <a:defRPr sz="1700" b="1">
                <a:solidFill>
                  <a:srgbClr val="E94560"/>
                </a:solidFill>
              </a:defRPr>
            </a:pPr>
            <a:r>
              <a:t>🏢 Organization</a:t>
            </a:r>
          </a:p>
        </p:txBody>
      </p:sp>
      <p:sp>
        <p:nvSpPr>
          <p:cNvPr id="5" name="TextBox 4"/>
          <p:cNvSpPr txBox="1"/>
          <p:nvPr/>
        </p:nvSpPr>
        <p:spPr>
          <a:xfrm>
            <a:off x="640080" y="1920240"/>
            <a:ext cx="3108960" cy="914400"/>
          </a:xfrm>
          <a:prstGeom prst="rect">
            <a:avLst/>
          </a:prstGeom>
          <a:noFill/>
        </p:spPr>
        <p:txBody>
          <a:bodyPr wrap="square">
            <a:spAutoFit/>
          </a:bodyPr>
          <a:lstStyle/>
          <a:p>
            <a:pPr algn="ctr">
              <a:defRPr sz="1200" b="0">
                <a:solidFill>
                  <a:srgbClr val="A8B2D1"/>
                </a:solidFill>
              </a:defRPr>
            </a:pPr>
            <a:r>
              <a:t>.github repo of the org</a:t>
            </a:r>
            <a:br/>
            <a:r>
              <a:t>Applied to ALL repos</a:t>
            </a:r>
          </a:p>
        </p:txBody>
      </p:sp>
      <p:sp>
        <p:nvSpPr>
          <p:cNvPr id="6" name="TextBox 5"/>
          <p:cNvSpPr txBox="1"/>
          <p:nvPr/>
        </p:nvSpPr>
        <p:spPr>
          <a:xfrm>
            <a:off x="640080" y="2926080"/>
            <a:ext cx="3108960" cy="914400"/>
          </a:xfrm>
          <a:prstGeom prst="rect">
            <a:avLst/>
          </a:prstGeom>
          <a:noFill/>
        </p:spPr>
        <p:txBody>
          <a:bodyPr wrap="square">
            <a:spAutoFit/>
          </a:bodyPr>
          <a:lstStyle/>
          <a:p>
            <a:pPr algn="ctr">
              <a:defRPr sz="1200" b="0">
                <a:solidFill>
                  <a:srgbClr val="C8D6E5"/>
                </a:solidFill>
              </a:defRPr>
            </a:pPr>
            <a:r>
              <a:t>Global conventions,</a:t>
            </a:r>
            <a:br/>
            <a:r>
              <a:t>security rules, shared stack</a:t>
            </a:r>
          </a:p>
        </p:txBody>
      </p:sp>
      <p:sp>
        <p:nvSpPr>
          <p:cNvPr id="7" name="Rounded Rectangle 6"/>
          <p:cNvSpPr/>
          <p:nvPr/>
        </p:nvSpPr>
        <p:spPr>
          <a:xfrm>
            <a:off x="4114800" y="1188720"/>
            <a:ext cx="3474720" cy="2926080"/>
          </a:xfrm>
          <a:prstGeom prst="roundRect">
            <a:avLst/>
          </a:prstGeom>
          <a:solidFill>
            <a:srgbClr val="16213E"/>
          </a:solidFill>
          <a:ln w="19050">
            <a:solidFill>
              <a:srgbClr val="4FAC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297680" y="1371600"/>
            <a:ext cx="3108960" cy="457200"/>
          </a:xfrm>
          <a:prstGeom prst="rect">
            <a:avLst/>
          </a:prstGeom>
          <a:noFill/>
        </p:spPr>
        <p:txBody>
          <a:bodyPr wrap="square">
            <a:spAutoFit/>
          </a:bodyPr>
          <a:lstStyle/>
          <a:p>
            <a:pPr algn="ctr">
              <a:defRPr sz="1700" b="1">
                <a:solidFill>
                  <a:srgbClr val="4FACFE"/>
                </a:solidFill>
              </a:defRPr>
            </a:pPr>
            <a:r>
              <a:t>📁 Repository</a:t>
            </a:r>
          </a:p>
        </p:txBody>
      </p:sp>
      <p:sp>
        <p:nvSpPr>
          <p:cNvPr id="9" name="TextBox 8"/>
          <p:cNvSpPr txBox="1"/>
          <p:nvPr/>
        </p:nvSpPr>
        <p:spPr>
          <a:xfrm>
            <a:off x="4297680" y="1920240"/>
            <a:ext cx="3108960" cy="914400"/>
          </a:xfrm>
          <a:prstGeom prst="rect">
            <a:avLst/>
          </a:prstGeom>
          <a:noFill/>
        </p:spPr>
        <p:txBody>
          <a:bodyPr wrap="square">
            <a:spAutoFit/>
          </a:bodyPr>
          <a:lstStyle/>
          <a:p>
            <a:pPr algn="ctr">
              <a:defRPr sz="1200" b="0">
                <a:solidFill>
                  <a:srgbClr val="A8B2D1"/>
                </a:solidFill>
              </a:defRPr>
            </a:pPr>
            <a:r>
              <a:t>.github/copilot-instructions.md</a:t>
            </a:r>
            <a:br/>
            <a:r>
              <a:t>In each repo</a:t>
            </a:r>
          </a:p>
        </p:txBody>
      </p:sp>
      <p:sp>
        <p:nvSpPr>
          <p:cNvPr id="10" name="TextBox 9"/>
          <p:cNvSpPr txBox="1"/>
          <p:nvPr/>
        </p:nvSpPr>
        <p:spPr>
          <a:xfrm>
            <a:off x="4297680" y="2926080"/>
            <a:ext cx="3108960" cy="914400"/>
          </a:xfrm>
          <a:prstGeom prst="rect">
            <a:avLst/>
          </a:prstGeom>
          <a:noFill/>
        </p:spPr>
        <p:txBody>
          <a:bodyPr wrap="square">
            <a:spAutoFit/>
          </a:bodyPr>
          <a:lstStyle/>
          <a:p>
            <a:pPr algn="ctr">
              <a:defRPr sz="1200" b="0">
                <a:solidFill>
                  <a:srgbClr val="C8D6E5"/>
                </a:solidFill>
              </a:defRPr>
            </a:pPr>
            <a:r>
              <a:t>Project stack, architecture,</a:t>
            </a:r>
            <a:br/>
            <a:r>
              <a:t>specific conventions</a:t>
            </a:r>
          </a:p>
        </p:txBody>
      </p:sp>
      <p:sp>
        <p:nvSpPr>
          <p:cNvPr id="11" name="Rounded Rectangle 10"/>
          <p:cNvSpPr/>
          <p:nvPr/>
        </p:nvSpPr>
        <p:spPr>
          <a:xfrm>
            <a:off x="7772400" y="1188720"/>
            <a:ext cx="3474720" cy="2926080"/>
          </a:xfrm>
          <a:prstGeom prst="roundRect">
            <a:avLst/>
          </a:prstGeom>
          <a:solidFill>
            <a:srgbClr val="16213E"/>
          </a:solidFill>
          <a:ln w="19050">
            <a:solidFill>
              <a:srgbClr val="2ED5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55280" y="1371600"/>
            <a:ext cx="3108960" cy="457200"/>
          </a:xfrm>
          <a:prstGeom prst="rect">
            <a:avLst/>
          </a:prstGeom>
          <a:noFill/>
        </p:spPr>
        <p:txBody>
          <a:bodyPr wrap="square">
            <a:spAutoFit/>
          </a:bodyPr>
          <a:lstStyle/>
          <a:p>
            <a:pPr algn="ctr">
              <a:defRPr sz="1700" b="1">
                <a:solidFill>
                  <a:srgbClr val="2ED573"/>
                </a:solidFill>
              </a:defRPr>
            </a:pPr>
            <a:r>
              <a:t>👤 Personal</a:t>
            </a:r>
          </a:p>
        </p:txBody>
      </p:sp>
      <p:sp>
        <p:nvSpPr>
          <p:cNvPr id="13" name="TextBox 12"/>
          <p:cNvSpPr txBox="1"/>
          <p:nvPr/>
        </p:nvSpPr>
        <p:spPr>
          <a:xfrm>
            <a:off x="7955280" y="1920240"/>
            <a:ext cx="3108960" cy="914400"/>
          </a:xfrm>
          <a:prstGeom prst="rect">
            <a:avLst/>
          </a:prstGeom>
          <a:noFill/>
        </p:spPr>
        <p:txBody>
          <a:bodyPr wrap="square">
            <a:spAutoFit/>
          </a:bodyPr>
          <a:lstStyle/>
          <a:p>
            <a:pPr algn="ctr">
              <a:defRPr sz="1200" b="0">
                <a:solidFill>
                  <a:srgbClr val="A8B2D1"/>
                </a:solidFill>
              </a:defRPr>
            </a:pPr>
            <a:r>
              <a:t>VS Code settings</a:t>
            </a:r>
            <a:br/>
            <a:r>
              <a:t>Individual preferences</a:t>
            </a:r>
          </a:p>
        </p:txBody>
      </p:sp>
      <p:sp>
        <p:nvSpPr>
          <p:cNvPr id="14" name="TextBox 13"/>
          <p:cNvSpPr txBox="1"/>
          <p:nvPr/>
        </p:nvSpPr>
        <p:spPr>
          <a:xfrm>
            <a:off x="7955280" y="2926080"/>
            <a:ext cx="3108960" cy="914400"/>
          </a:xfrm>
          <a:prstGeom prst="rect">
            <a:avLst/>
          </a:prstGeom>
          <a:noFill/>
        </p:spPr>
        <p:txBody>
          <a:bodyPr wrap="square">
            <a:spAutoFit/>
          </a:bodyPr>
          <a:lstStyle/>
          <a:p>
            <a:pPr algn="ctr">
              <a:defRPr sz="1200" b="0">
                <a:solidFill>
                  <a:srgbClr val="C8D6E5"/>
                </a:solidFill>
              </a:defRPr>
            </a:pPr>
            <a:r>
              <a:t>Style, language preference,</a:t>
            </a:r>
            <a:br/>
            <a:r>
              <a:t>editor behavior</a:t>
            </a:r>
          </a:p>
        </p:txBody>
      </p:sp>
      <p:sp>
        <p:nvSpPr>
          <p:cNvPr id="15" name="TextBox 14"/>
          <p:cNvSpPr txBox="1"/>
          <p:nvPr/>
        </p:nvSpPr>
        <p:spPr>
          <a:xfrm>
            <a:off x="457200" y="4389120"/>
            <a:ext cx="10972800" cy="365760"/>
          </a:xfrm>
          <a:prstGeom prst="rect">
            <a:avLst/>
          </a:prstGeom>
          <a:noFill/>
        </p:spPr>
        <p:txBody>
          <a:bodyPr wrap="square">
            <a:spAutoFit/>
          </a:bodyPr>
          <a:lstStyle/>
          <a:p>
            <a:pPr algn="ctr">
              <a:defRPr sz="1400" b="0">
                <a:solidFill>
                  <a:srgbClr val="A8B2D1"/>
                </a:solidFill>
              </a:defRPr>
            </a:pPr>
            <a:r>
              <a:t>⬇️ Priority: Org → Repo → Personal (most specific wins)</a:t>
            </a:r>
          </a:p>
        </p:txBody>
      </p:sp>
      <p:sp>
        <p:nvSpPr>
          <p:cNvPr id="16" name="Rounded Rectangle 15"/>
          <p:cNvSpPr/>
          <p:nvPr/>
        </p:nvSpPr>
        <p:spPr>
          <a:xfrm>
            <a:off x="457200" y="5029200"/>
            <a:ext cx="10972800" cy="1188720"/>
          </a:xfrm>
          <a:prstGeom prst="roundRect">
            <a:avLst/>
          </a:prstGeom>
          <a:solidFill>
            <a:srgbClr val="0F1F3A"/>
          </a:solidFill>
          <a:ln w="19050">
            <a:solidFill>
              <a:srgbClr val="4FACF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C8D6E5"/>
                </a:solidFill>
              </a:defRPr>
            </a:pPr>
            <a:r>
              <a:t>💡 Best practices:</a:t>
            </a:r>
            <a:br/>
            <a:r>
              <a:t>• Keep instructions concise (&lt;500 lines) — too long = ignored</a:t>
            </a:r>
            <a:br/>
            <a:r>
              <a:t>• Focus on WHAT (conventions), not HOW (implementation details)</a:t>
            </a:r>
            <a:br/>
            <a:r>
              <a:t>• Update via PR — treat as code, review as a team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square">
            <a:spAutoFit/>
          </a:bodyPr>
          <a:lstStyle/>
          <a:p>
            <a:pPr algn="l">
              <a:defRPr sz="3600" b="1">
                <a:solidFill>
                  <a:srgbClr val="E94560"/>
                </a:solidFill>
              </a:defRPr>
            </a:pPr>
            <a:r>
              <a:t>🎯 Prompt Engineering — Techniques</a:t>
            </a:r>
          </a:p>
        </p:txBody>
      </p:sp>
      <p:sp>
        <p:nvSpPr>
          <p:cNvPr id="3" name="TextBox 2"/>
          <p:cNvSpPr txBox="1"/>
          <p:nvPr/>
        </p:nvSpPr>
        <p:spPr>
          <a:xfrm>
            <a:off x="457200" y="1097280"/>
            <a:ext cx="5029200" cy="365760"/>
          </a:xfrm>
          <a:prstGeom prst="rect">
            <a:avLst/>
          </a:prstGeom>
          <a:noFill/>
        </p:spPr>
        <p:txBody>
          <a:bodyPr wrap="square">
            <a:spAutoFit/>
          </a:bodyPr>
          <a:lstStyle/>
          <a:p>
            <a:pPr algn="l">
              <a:defRPr sz="1600" b="1">
                <a:solidFill>
                  <a:srgbClr val="FF6B6B"/>
                </a:solidFill>
              </a:defRPr>
            </a:pPr>
            <a:r>
              <a:t>❌ Vague prompt</a:t>
            </a:r>
          </a:p>
        </p:txBody>
      </p:sp>
      <p:sp>
        <p:nvSpPr>
          <p:cNvPr id="4" name="Rounded Rectangle 3"/>
          <p:cNvSpPr/>
          <p:nvPr/>
        </p:nvSpPr>
        <p:spPr>
          <a:xfrm>
            <a:off x="457200" y="1554480"/>
            <a:ext cx="5029200" cy="1097280"/>
          </a:xfrm>
          <a:prstGeom prst="roundRect">
            <a:avLst/>
          </a:prstGeom>
          <a:solidFill>
            <a:srgbClr val="251515"/>
          </a:solidFill>
          <a:ln w="19050">
            <a:solidFill>
              <a:srgbClr val="FF6B6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a:solidFill>
                  <a:srgbClr val="FF6B6B"/>
                </a:solidFill>
              </a:defRPr>
            </a:pPr>
            <a:r>
              <a:t>"Make me a notification API"</a:t>
            </a:r>
          </a:p>
        </p:txBody>
      </p:sp>
      <p:sp>
        <p:nvSpPr>
          <p:cNvPr id="5" name="TextBox 4"/>
          <p:cNvSpPr txBox="1"/>
          <p:nvPr/>
        </p:nvSpPr>
        <p:spPr>
          <a:xfrm>
            <a:off x="6400800" y="1097280"/>
            <a:ext cx="5029200" cy="365760"/>
          </a:xfrm>
          <a:prstGeom prst="rect">
            <a:avLst/>
          </a:prstGeom>
          <a:noFill/>
        </p:spPr>
        <p:txBody>
          <a:bodyPr wrap="square">
            <a:spAutoFit/>
          </a:bodyPr>
          <a:lstStyle/>
          <a:p>
            <a:pPr algn="l">
              <a:defRPr sz="1600" b="1">
                <a:solidFill>
                  <a:srgbClr val="2ED573"/>
                </a:solidFill>
              </a:defRPr>
            </a:pPr>
            <a:r>
              <a:t>✅ Structured prompt</a:t>
            </a:r>
          </a:p>
        </p:txBody>
      </p:sp>
      <p:sp>
        <p:nvSpPr>
          <p:cNvPr id="6" name="Rounded Rectangle 5"/>
          <p:cNvSpPr/>
          <p:nvPr/>
        </p:nvSpPr>
        <p:spPr>
          <a:xfrm>
            <a:off x="6400800" y="1554480"/>
            <a:ext cx="5303520" cy="1097280"/>
          </a:xfrm>
          <a:prstGeom prst="roundRect">
            <a:avLst/>
          </a:prstGeom>
          <a:solidFill>
            <a:srgbClr val="12251A"/>
          </a:solidFill>
          <a:ln w="19050">
            <a:solidFill>
              <a:srgbClr val="2ED57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2ED573"/>
                </a:solidFill>
              </a:defRPr>
            </a:pPr>
            <a:r>
              <a:t>"Create a Node.js TypeScript microservice</a:t>
            </a:r>
            <a:br/>
            <a:r>
              <a:t>with POST /notifications, GET /health,</a:t>
            </a:r>
            <a:br/>
            <a:r>
              <a:t>in-memory queue, channels email+slack"</a:t>
            </a:r>
          </a:p>
        </p:txBody>
      </p:sp>
      <p:sp>
        <p:nvSpPr>
          <p:cNvPr id="7" name="TextBox 6"/>
          <p:cNvSpPr txBox="1"/>
          <p:nvPr/>
        </p:nvSpPr>
        <p:spPr>
          <a:xfrm>
            <a:off x="457200" y="3017520"/>
            <a:ext cx="10972800" cy="365760"/>
          </a:xfrm>
          <a:prstGeom prst="rect">
            <a:avLst/>
          </a:prstGeom>
          <a:noFill/>
        </p:spPr>
        <p:txBody>
          <a:bodyPr wrap="square">
            <a:spAutoFit/>
          </a:bodyPr>
          <a:lstStyle/>
          <a:p>
            <a:pPr algn="l">
              <a:defRPr sz="1800" b="1">
                <a:solidFill>
                  <a:srgbClr val="FFFFFF"/>
                </a:solidFill>
              </a:defRPr>
            </a:pPr>
            <a:r>
              <a:t>🧰 Essential Techniques</a:t>
            </a:r>
          </a:p>
        </p:txBody>
      </p:sp>
      <p:sp>
        <p:nvSpPr>
          <p:cNvPr id="8" name="TextBox 7"/>
          <p:cNvSpPr txBox="1"/>
          <p:nvPr/>
        </p:nvSpPr>
        <p:spPr>
          <a:xfrm>
            <a:off x="457200" y="3474720"/>
            <a:ext cx="1828800" cy="365760"/>
          </a:xfrm>
          <a:prstGeom prst="rect">
            <a:avLst/>
          </a:prstGeom>
          <a:noFill/>
        </p:spPr>
        <p:txBody>
          <a:bodyPr wrap="square">
            <a:spAutoFit/>
          </a:bodyPr>
          <a:lstStyle/>
          <a:p>
            <a:pPr algn="l">
              <a:defRPr sz="1300" b="1">
                <a:solidFill>
                  <a:srgbClr val="4FACFE"/>
                </a:solidFill>
              </a:defRPr>
            </a:pPr>
            <a:r>
              <a:t>▸ Structure</a:t>
            </a:r>
          </a:p>
        </p:txBody>
      </p:sp>
      <p:sp>
        <p:nvSpPr>
          <p:cNvPr id="9" name="TextBox 8"/>
          <p:cNvSpPr txBox="1"/>
          <p:nvPr/>
        </p:nvSpPr>
        <p:spPr>
          <a:xfrm>
            <a:off x="2468880" y="3474720"/>
            <a:ext cx="9144000" cy="365760"/>
          </a:xfrm>
          <a:prstGeom prst="rect">
            <a:avLst/>
          </a:prstGeom>
          <a:noFill/>
        </p:spPr>
        <p:txBody>
          <a:bodyPr wrap="square">
            <a:spAutoFit/>
          </a:bodyPr>
          <a:lstStyle/>
          <a:p>
            <a:pPr algn="l">
              <a:defRPr sz="1300" b="0">
                <a:solidFill>
                  <a:srgbClr val="C8D6E5"/>
                </a:solidFill>
              </a:defRPr>
            </a:pPr>
            <a:r>
              <a:t>Use bullet points, not paragraphs. One point = one requirement.</a:t>
            </a:r>
          </a:p>
        </p:txBody>
      </p:sp>
      <p:sp>
        <p:nvSpPr>
          <p:cNvPr id="10" name="TextBox 9"/>
          <p:cNvSpPr txBox="1"/>
          <p:nvPr/>
        </p:nvSpPr>
        <p:spPr>
          <a:xfrm>
            <a:off x="457200" y="3950208"/>
            <a:ext cx="1828800" cy="365760"/>
          </a:xfrm>
          <a:prstGeom prst="rect">
            <a:avLst/>
          </a:prstGeom>
          <a:noFill/>
        </p:spPr>
        <p:txBody>
          <a:bodyPr wrap="square">
            <a:spAutoFit/>
          </a:bodyPr>
          <a:lstStyle/>
          <a:p>
            <a:pPr algn="l">
              <a:defRPr sz="1300" b="1">
                <a:solidFill>
                  <a:srgbClr val="4FACFE"/>
                </a:solidFill>
              </a:defRPr>
            </a:pPr>
            <a:r>
              <a:t>▸ Context</a:t>
            </a:r>
          </a:p>
        </p:txBody>
      </p:sp>
      <p:sp>
        <p:nvSpPr>
          <p:cNvPr id="11" name="TextBox 10"/>
          <p:cNvSpPr txBox="1"/>
          <p:nvPr/>
        </p:nvSpPr>
        <p:spPr>
          <a:xfrm>
            <a:off x="2468880" y="3950208"/>
            <a:ext cx="9144000" cy="365760"/>
          </a:xfrm>
          <a:prstGeom prst="rect">
            <a:avLst/>
          </a:prstGeom>
          <a:noFill/>
        </p:spPr>
        <p:txBody>
          <a:bodyPr wrap="square">
            <a:spAutoFit/>
          </a:bodyPr>
          <a:lstStyle/>
          <a:p>
            <a:pPr algn="l">
              <a:defRPr sz="1300" b="0">
                <a:solidFill>
                  <a:srgbClr val="C8D6E5"/>
                </a:solidFill>
              </a:defRPr>
            </a:pPr>
            <a:r>
              <a:t>Specify stack, style, and constraints BEFORE the request.</a:t>
            </a:r>
          </a:p>
        </p:txBody>
      </p:sp>
      <p:sp>
        <p:nvSpPr>
          <p:cNvPr id="12" name="TextBox 11"/>
          <p:cNvSpPr txBox="1"/>
          <p:nvPr/>
        </p:nvSpPr>
        <p:spPr>
          <a:xfrm>
            <a:off x="457200" y="4425696"/>
            <a:ext cx="1828800" cy="365760"/>
          </a:xfrm>
          <a:prstGeom prst="rect">
            <a:avLst/>
          </a:prstGeom>
          <a:noFill/>
        </p:spPr>
        <p:txBody>
          <a:bodyPr wrap="square">
            <a:spAutoFit/>
          </a:bodyPr>
          <a:lstStyle/>
          <a:p>
            <a:pPr algn="l">
              <a:defRPr sz="1300" b="1">
                <a:solidFill>
                  <a:srgbClr val="4FACFE"/>
                </a:solidFill>
              </a:defRPr>
            </a:pPr>
            <a:r>
              <a:t>▸ Scope</a:t>
            </a:r>
          </a:p>
        </p:txBody>
      </p:sp>
      <p:sp>
        <p:nvSpPr>
          <p:cNvPr id="13" name="TextBox 12"/>
          <p:cNvSpPr txBox="1"/>
          <p:nvPr/>
        </p:nvSpPr>
        <p:spPr>
          <a:xfrm>
            <a:off x="2468880" y="4425696"/>
            <a:ext cx="9144000" cy="365760"/>
          </a:xfrm>
          <a:prstGeom prst="rect">
            <a:avLst/>
          </a:prstGeom>
          <a:noFill/>
        </p:spPr>
        <p:txBody>
          <a:bodyPr wrap="square">
            <a:spAutoFit/>
          </a:bodyPr>
          <a:lstStyle/>
          <a:p>
            <a:pPr algn="l">
              <a:defRPr sz="1300" b="0">
                <a:solidFill>
                  <a:srgbClr val="C8D6E5"/>
                </a:solidFill>
              </a:defRPr>
            </a:pPr>
            <a:r>
              <a:t>1 prompt = 1 clear task. Break down complex requests.</a:t>
            </a:r>
          </a:p>
        </p:txBody>
      </p:sp>
      <p:sp>
        <p:nvSpPr>
          <p:cNvPr id="14" name="TextBox 13"/>
          <p:cNvSpPr txBox="1"/>
          <p:nvPr/>
        </p:nvSpPr>
        <p:spPr>
          <a:xfrm>
            <a:off x="457200" y="4901183"/>
            <a:ext cx="1828800" cy="365760"/>
          </a:xfrm>
          <a:prstGeom prst="rect">
            <a:avLst/>
          </a:prstGeom>
          <a:noFill/>
        </p:spPr>
        <p:txBody>
          <a:bodyPr wrap="square">
            <a:spAutoFit/>
          </a:bodyPr>
          <a:lstStyle/>
          <a:p>
            <a:pPr algn="l">
              <a:defRPr sz="1300" b="1">
                <a:solidFill>
                  <a:srgbClr val="4FACFE"/>
                </a:solidFill>
              </a:defRPr>
            </a:pPr>
            <a:r>
              <a:t>▸ Examples</a:t>
            </a:r>
          </a:p>
        </p:txBody>
      </p:sp>
      <p:sp>
        <p:nvSpPr>
          <p:cNvPr id="15" name="TextBox 14"/>
          <p:cNvSpPr txBox="1"/>
          <p:nvPr/>
        </p:nvSpPr>
        <p:spPr>
          <a:xfrm>
            <a:off x="2468880" y="4901183"/>
            <a:ext cx="9144000" cy="365760"/>
          </a:xfrm>
          <a:prstGeom prst="rect">
            <a:avLst/>
          </a:prstGeom>
          <a:noFill/>
        </p:spPr>
        <p:txBody>
          <a:bodyPr wrap="square">
            <a:spAutoFit/>
          </a:bodyPr>
          <a:lstStyle/>
          <a:p>
            <a:pPr algn="l">
              <a:defRPr sz="1300" b="0">
                <a:solidFill>
                  <a:srgbClr val="C8D6E5"/>
                </a:solidFill>
              </a:defRPr>
            </a:pPr>
            <a:r>
              <a:t>Give an example of expected output: "like this: {...}"</a:t>
            </a:r>
          </a:p>
        </p:txBody>
      </p:sp>
      <p:sp>
        <p:nvSpPr>
          <p:cNvPr id="16" name="TextBox 15"/>
          <p:cNvSpPr txBox="1"/>
          <p:nvPr/>
        </p:nvSpPr>
        <p:spPr>
          <a:xfrm>
            <a:off x="457200" y="5376671"/>
            <a:ext cx="1828800" cy="365760"/>
          </a:xfrm>
          <a:prstGeom prst="rect">
            <a:avLst/>
          </a:prstGeom>
          <a:noFill/>
        </p:spPr>
        <p:txBody>
          <a:bodyPr wrap="square">
            <a:spAutoFit/>
          </a:bodyPr>
          <a:lstStyle/>
          <a:p>
            <a:pPr algn="l">
              <a:defRPr sz="1300" b="1">
                <a:solidFill>
                  <a:srgbClr val="4FACFE"/>
                </a:solidFill>
              </a:defRPr>
            </a:pPr>
            <a:r>
              <a:t>▸ Constraints</a:t>
            </a:r>
          </a:p>
        </p:txBody>
      </p:sp>
      <p:sp>
        <p:nvSpPr>
          <p:cNvPr id="17" name="TextBox 16"/>
          <p:cNvSpPr txBox="1"/>
          <p:nvPr/>
        </p:nvSpPr>
        <p:spPr>
          <a:xfrm>
            <a:off x="2468880" y="5376671"/>
            <a:ext cx="9144000" cy="365760"/>
          </a:xfrm>
          <a:prstGeom prst="rect">
            <a:avLst/>
          </a:prstGeom>
          <a:noFill/>
        </p:spPr>
        <p:txBody>
          <a:bodyPr wrap="square">
            <a:spAutoFit/>
          </a:bodyPr>
          <a:lstStyle/>
          <a:p>
            <a:pPr algn="l">
              <a:defRPr sz="1300" b="0">
                <a:solidFill>
                  <a:srgbClr val="C8D6E5"/>
                </a:solidFill>
              </a:defRPr>
            </a:pPr>
            <a:r>
              <a:t>Say what you DON'T want: "no database", "no classes"</a:t>
            </a:r>
          </a:p>
        </p:txBody>
      </p:sp>
      <p:sp>
        <p:nvSpPr>
          <p:cNvPr id="18" name="TextBox 17"/>
          <p:cNvSpPr txBox="1"/>
          <p:nvPr/>
        </p:nvSpPr>
        <p:spPr>
          <a:xfrm>
            <a:off x="457200" y="5852159"/>
            <a:ext cx="1828800" cy="365760"/>
          </a:xfrm>
          <a:prstGeom prst="rect">
            <a:avLst/>
          </a:prstGeom>
          <a:noFill/>
        </p:spPr>
        <p:txBody>
          <a:bodyPr wrap="square">
            <a:spAutoFit/>
          </a:bodyPr>
          <a:lstStyle/>
          <a:p>
            <a:pPr algn="l">
              <a:defRPr sz="1300" b="1">
                <a:solidFill>
                  <a:srgbClr val="4FACFE"/>
                </a:solidFill>
              </a:defRPr>
            </a:pPr>
            <a:r>
              <a:t>▸ Iteration</a:t>
            </a:r>
          </a:p>
        </p:txBody>
      </p:sp>
      <p:sp>
        <p:nvSpPr>
          <p:cNvPr id="19" name="TextBox 18"/>
          <p:cNvSpPr txBox="1"/>
          <p:nvPr/>
        </p:nvSpPr>
        <p:spPr>
          <a:xfrm>
            <a:off x="2468880" y="5852159"/>
            <a:ext cx="9144000" cy="365760"/>
          </a:xfrm>
          <a:prstGeom prst="rect">
            <a:avLst/>
          </a:prstGeom>
          <a:noFill/>
        </p:spPr>
        <p:txBody>
          <a:bodyPr wrap="square">
            <a:spAutoFit/>
          </a:bodyPr>
          <a:lstStyle/>
          <a:p>
            <a:pPr algn="l">
              <a:defRPr sz="1300" b="0">
                <a:solidFill>
                  <a:srgbClr val="C8D6E5"/>
                </a:solidFill>
              </a:defRPr>
            </a:pPr>
            <a:r>
              <a:t>If result is 80% good, refine: "Modify X to do 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square">
            <a:spAutoFit/>
          </a:bodyPr>
          <a:lstStyle/>
          <a:p>
            <a:pPr algn="l">
              <a:defRPr sz="3600" b="1">
                <a:solidFill>
                  <a:srgbClr val="E94560"/>
                </a:solidFill>
              </a:defRPr>
            </a:pPr>
            <a:r>
              <a:t>📋 Prompt Templates — Reusable Patterns</a:t>
            </a:r>
          </a:p>
        </p:txBody>
      </p:sp>
      <p:sp>
        <p:nvSpPr>
          <p:cNvPr id="3" name="Rounded Rectangle 2"/>
          <p:cNvSpPr/>
          <p:nvPr/>
        </p:nvSpPr>
        <p:spPr>
          <a:xfrm>
            <a:off x="457200" y="1188720"/>
            <a:ext cx="4572000" cy="2743200"/>
          </a:xfrm>
          <a:prstGeom prst="roundRect">
            <a:avLst/>
          </a:prstGeom>
          <a:solidFill>
            <a:srgbClr val="0D1117"/>
          </a:solidFill>
          <a:ln w="1905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4114800" cy="2560320"/>
          </a:xfrm>
          <a:prstGeom prst="rect">
            <a:avLst/>
          </a:prstGeom>
          <a:noFill/>
        </p:spPr>
        <p:txBody>
          <a:bodyPr wrap="square">
            <a:spAutoFit/>
          </a:bodyPr>
          <a:lstStyle/>
          <a:p>
            <a:pPr algn="l">
              <a:defRPr sz="1400" b="1">
                <a:solidFill>
                  <a:srgbClr val="FFC107"/>
                </a:solidFill>
              </a:defRPr>
            </a:pPr>
            <a:r>
              <a:t>.github/prompts/</a:t>
            </a:r>
          </a:p>
          <a:p>
            <a:pPr algn="l">
              <a:spcBef>
                <a:spcPts val="600"/>
              </a:spcBef>
              <a:defRPr sz="1300" b="0">
                <a:solidFill>
                  <a:srgbClr val="C8D6E5"/>
                </a:solidFill>
              </a:defRPr>
            </a:pPr>
            <a:r>
              <a:t>├── create-api.prompt.md</a:t>
            </a:r>
          </a:p>
          <a:p>
            <a:pPr algn="l">
              <a:spcBef>
                <a:spcPts val="600"/>
              </a:spcBef>
              <a:defRPr sz="1300" b="0">
                <a:solidFill>
                  <a:srgbClr val="C8D6E5"/>
                </a:solidFill>
              </a:defRPr>
            </a:pPr>
            <a:r>
              <a:t>├── add-tests.prompt.md</a:t>
            </a:r>
          </a:p>
          <a:p>
            <a:pPr algn="l">
              <a:spcBef>
                <a:spcPts val="600"/>
              </a:spcBef>
              <a:defRPr sz="1300" b="0">
                <a:solidFill>
                  <a:srgbClr val="C8D6E5"/>
                </a:solidFill>
              </a:defRPr>
            </a:pPr>
            <a:r>
              <a:t>├── refactor-module.prompt.md</a:t>
            </a:r>
          </a:p>
          <a:p>
            <a:pPr algn="l">
              <a:spcBef>
                <a:spcPts val="600"/>
              </a:spcBef>
              <a:defRPr sz="1300" b="0">
                <a:solidFill>
                  <a:srgbClr val="C8D6E5"/>
                </a:solidFill>
              </a:defRPr>
            </a:pPr>
            <a:r>
              <a:t>├── code-review.prompt.md</a:t>
            </a:r>
          </a:p>
          <a:p>
            <a:pPr algn="l">
              <a:spcBef>
                <a:spcPts val="600"/>
              </a:spcBef>
              <a:defRPr sz="1300" b="0">
                <a:solidFill>
                  <a:srgbClr val="C8D6E5"/>
                </a:solidFill>
              </a:defRPr>
            </a:pPr>
            <a:r>
              <a:t>├── fix-bug.prompt.md</a:t>
            </a:r>
          </a:p>
          <a:p>
            <a:pPr algn="l">
              <a:spcBef>
                <a:spcPts val="600"/>
              </a:spcBef>
              <a:defRPr sz="1300" b="0">
                <a:solidFill>
                  <a:srgbClr val="C8D6E5"/>
                </a:solidFill>
              </a:defRPr>
            </a:pPr>
            <a:r>
              <a:t>└── create-docs.prompt.md</a:t>
            </a:r>
          </a:p>
        </p:txBody>
      </p:sp>
      <p:sp>
        <p:nvSpPr>
          <p:cNvPr id="5" name="TextBox 4"/>
          <p:cNvSpPr txBox="1"/>
          <p:nvPr/>
        </p:nvSpPr>
        <p:spPr>
          <a:xfrm>
            <a:off x="5486400" y="1097280"/>
            <a:ext cx="5943600" cy="365760"/>
          </a:xfrm>
          <a:prstGeom prst="rect">
            <a:avLst/>
          </a:prstGeom>
          <a:noFill/>
        </p:spPr>
        <p:txBody>
          <a:bodyPr wrap="square">
            <a:spAutoFit/>
          </a:bodyPr>
          <a:lstStyle/>
          <a:p>
            <a:pPr algn="l">
              <a:defRPr sz="1400" b="1">
                <a:solidFill>
                  <a:srgbClr val="A8B2D1"/>
                </a:solidFill>
              </a:defRPr>
            </a:pPr>
            <a:r>
              <a:t>Example: create-api.prompt.md</a:t>
            </a:r>
          </a:p>
        </p:txBody>
      </p:sp>
      <p:sp>
        <p:nvSpPr>
          <p:cNvPr id="6" name="Rounded Rectangle 5"/>
          <p:cNvSpPr/>
          <p:nvPr/>
        </p:nvSpPr>
        <p:spPr>
          <a:xfrm>
            <a:off x="5486400" y="1554480"/>
            <a:ext cx="5943600" cy="2377440"/>
          </a:xfrm>
          <a:prstGeom prst="roundRect">
            <a:avLst/>
          </a:prstGeom>
          <a:solidFill>
            <a:srgbClr val="0D1117"/>
          </a:solidFill>
          <a:ln w="1905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0" y="1737360"/>
            <a:ext cx="5669280" cy="2103120"/>
          </a:xfrm>
          <a:prstGeom prst="rect">
            <a:avLst/>
          </a:prstGeom>
          <a:noFill/>
        </p:spPr>
        <p:txBody>
          <a:bodyPr wrap="square">
            <a:spAutoFit/>
          </a:bodyPr>
          <a:lstStyle/>
          <a:p>
            <a:pPr algn="l">
              <a:defRPr sz="1100" b="0">
                <a:solidFill>
                  <a:srgbClr val="64748B"/>
                </a:solidFill>
              </a:defRPr>
            </a:pPr>
            <a:r>
              <a:t>---</a:t>
            </a:r>
          </a:p>
          <a:p>
            <a:pPr algn="l">
              <a:spcBef>
                <a:spcPts val="600"/>
              </a:spcBef>
              <a:defRPr sz="1100" b="0">
                <a:solidFill>
                  <a:srgbClr val="FFC107"/>
                </a:solidFill>
              </a:defRPr>
            </a:pPr>
            <a:r>
              <a:t>name: create-api</a:t>
            </a:r>
          </a:p>
          <a:p>
            <a:pPr algn="l">
              <a:spcBef>
                <a:spcPts val="600"/>
              </a:spcBef>
              <a:defRPr sz="1100" b="0">
                <a:solidFill>
                  <a:srgbClr val="FFC107"/>
                </a:solidFill>
              </a:defRPr>
            </a:pPr>
            <a:r>
              <a:t>description: Create a REST endpoint</a:t>
            </a:r>
          </a:p>
          <a:p>
            <a:pPr algn="l">
              <a:spcBef>
                <a:spcPts val="600"/>
              </a:spcBef>
              <a:defRPr sz="1100" b="0">
                <a:solidFill>
                  <a:srgbClr val="64748B"/>
                </a:solidFill>
              </a:defRPr>
            </a:pPr>
            <a:r>
              <a:t>---</a:t>
            </a:r>
          </a:p>
          <a:p>
            <a:pPr algn="l">
              <a:spcBef>
                <a:spcPts val="600"/>
              </a:spcBef>
              <a:defRPr sz="600" b="0">
                <a:solidFill>
                  <a:srgbClr val="C8D6E5"/>
                </a:solidFill>
              </a:defRPr>
            </a:pPr>
            <a:endParaRPr/>
          </a:p>
          <a:p>
            <a:pPr algn="l">
              <a:spcBef>
                <a:spcPts val="600"/>
              </a:spcBef>
              <a:defRPr sz="1100" b="0">
                <a:solidFill>
                  <a:srgbClr val="7EE787"/>
                </a:solidFill>
              </a:defRPr>
            </a:pPr>
            <a:r>
              <a:t>Create an endpoint in src/routes/:</a:t>
            </a:r>
          </a:p>
          <a:p>
            <a:pPr algn="l">
              <a:spcBef>
                <a:spcPts val="600"/>
              </a:spcBef>
              <a:defRPr sz="1100" b="0">
                <a:solidFill>
                  <a:srgbClr val="7EE787"/>
                </a:solidFill>
              </a:defRPr>
            </a:pPr>
            <a:r>
              <a:t>• Input validation (400 if invalid)</a:t>
            </a:r>
          </a:p>
          <a:p>
            <a:pPr algn="l">
              <a:spcBef>
                <a:spcPts val="600"/>
              </a:spcBef>
              <a:defRPr sz="1100" b="0">
                <a:solidFill>
                  <a:srgbClr val="7EE787"/>
                </a:solidFill>
              </a:defRPr>
            </a:pPr>
            <a:r>
              <a:t>• Structured logs + correlationId</a:t>
            </a:r>
          </a:p>
          <a:p>
            <a:pPr algn="l">
              <a:spcBef>
                <a:spcPts val="600"/>
              </a:spcBef>
              <a:defRPr sz="1100" b="0">
                <a:solidFill>
                  <a:srgbClr val="7EE787"/>
                </a:solidFill>
              </a:defRPr>
            </a:pPr>
            <a:r>
              <a:t>• Tests in tests/</a:t>
            </a:r>
          </a:p>
        </p:txBody>
      </p:sp>
      <p:sp>
        <p:nvSpPr>
          <p:cNvPr id="8" name="TextBox 7"/>
          <p:cNvSpPr txBox="1"/>
          <p:nvPr/>
        </p:nvSpPr>
        <p:spPr>
          <a:xfrm>
            <a:off x="457200" y="4297680"/>
            <a:ext cx="10972800" cy="365760"/>
          </a:xfrm>
          <a:prstGeom prst="rect">
            <a:avLst/>
          </a:prstGeom>
          <a:noFill/>
        </p:spPr>
        <p:txBody>
          <a:bodyPr wrap="square">
            <a:spAutoFit/>
          </a:bodyPr>
          <a:lstStyle/>
          <a:p>
            <a:pPr algn="ctr">
              <a:defRPr sz="1400" b="0">
                <a:solidFill>
                  <a:srgbClr val="A8B2D1"/>
                </a:solidFill>
              </a:defRPr>
            </a:pPr>
            <a:r>
              <a:t>🚀 Usage: in Copilot chat, type / then select your template</a:t>
            </a:r>
          </a:p>
        </p:txBody>
      </p:sp>
      <p:sp>
        <p:nvSpPr>
          <p:cNvPr id="9" name="Rounded Rectangle 8"/>
          <p:cNvSpPr/>
          <p:nvPr/>
        </p:nvSpPr>
        <p:spPr>
          <a:xfrm>
            <a:off x="457200" y="4846320"/>
            <a:ext cx="10972800" cy="1371600"/>
          </a:xfrm>
          <a:prstGeom prst="roundRect">
            <a:avLst/>
          </a:prstGeom>
          <a:solidFill>
            <a:srgbClr val="12251A"/>
          </a:solidFill>
          <a:ln w="19050">
            <a:solidFill>
              <a:srgbClr val="2ED57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C8D6E5"/>
                </a:solidFill>
              </a:defRPr>
            </a:pPr>
            <a:r>
              <a:t>✅ Avantages:</a:t>
            </a:r>
            <a:br/>
            <a:r>
              <a:t>• No need to reformulate → saves time + tokens</a:t>
            </a:r>
            <a:br/>
            <a:r>
              <a:t>• Versioned in Git → whole team benefits</a:t>
            </a:r>
            <a:br/>
            <a:r>
              <a:t>• Standardization → same quality of output for everyone</a:t>
            </a:r>
            <a:br/>
            <a:r>
              <a:t>• Combinable with variables : {{filename}}, {{module}}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square">
            <a:spAutoFit/>
          </a:bodyPr>
          <a:lstStyle/>
          <a:p>
            <a:pPr algn="l">
              <a:defRPr sz="3600" b="1">
                <a:solidFill>
                  <a:srgbClr val="E94560"/>
                </a:solidFill>
              </a:defRPr>
            </a:pPr>
            <a:r>
              <a:t>🤖 Custom Agents — Build Your Own</a:t>
            </a:r>
          </a:p>
        </p:txBody>
      </p:sp>
      <p:sp>
        <p:nvSpPr>
          <p:cNvPr id="3" name="TextBox 2"/>
          <p:cNvSpPr txBox="1"/>
          <p:nvPr/>
        </p:nvSpPr>
        <p:spPr>
          <a:xfrm>
            <a:off x="457200" y="1097280"/>
            <a:ext cx="10972800" cy="365760"/>
          </a:xfrm>
          <a:prstGeom prst="rect">
            <a:avLst/>
          </a:prstGeom>
          <a:noFill/>
        </p:spPr>
        <p:txBody>
          <a:bodyPr wrap="square">
            <a:spAutoFit/>
          </a:bodyPr>
          <a:lstStyle/>
          <a:p>
            <a:pPr algn="ctr">
              <a:defRPr sz="1500" b="0">
                <a:solidFill>
                  <a:srgbClr val="A8B2D1"/>
                </a:solidFill>
              </a:defRPr>
            </a:pPr>
            <a:r>
              <a:t>A custom agent = a "specialized expert" you build for your team</a:t>
            </a:r>
          </a:p>
        </p:txBody>
      </p:sp>
      <p:sp>
        <p:nvSpPr>
          <p:cNvPr id="4" name="Rounded Rectangle 3"/>
          <p:cNvSpPr/>
          <p:nvPr/>
        </p:nvSpPr>
        <p:spPr>
          <a:xfrm>
            <a:off x="457200" y="1645920"/>
            <a:ext cx="5029200" cy="3200400"/>
          </a:xfrm>
          <a:prstGeom prst="roundRect">
            <a:avLst/>
          </a:prstGeom>
          <a:solidFill>
            <a:srgbClr val="16213E"/>
          </a:solidFill>
          <a:ln w="19050">
            <a:solidFill>
              <a:srgbClr val="A55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737360"/>
            <a:ext cx="4572000" cy="365760"/>
          </a:xfrm>
          <a:prstGeom prst="rect">
            <a:avLst/>
          </a:prstGeom>
          <a:noFill/>
        </p:spPr>
        <p:txBody>
          <a:bodyPr wrap="square">
            <a:spAutoFit/>
          </a:bodyPr>
          <a:lstStyle/>
          <a:p>
            <a:pPr algn="l">
              <a:defRPr sz="1600" b="1">
                <a:solidFill>
                  <a:srgbClr val="A55EEA"/>
                </a:solidFill>
              </a:defRPr>
            </a:pPr>
            <a:r>
              <a:t>🧬 Agent Anatomy</a:t>
            </a:r>
          </a:p>
        </p:txBody>
      </p:sp>
      <p:sp>
        <p:nvSpPr>
          <p:cNvPr id="6" name="TextBox 5"/>
          <p:cNvSpPr txBox="1"/>
          <p:nvPr/>
        </p:nvSpPr>
        <p:spPr>
          <a:xfrm>
            <a:off x="731520" y="2194560"/>
            <a:ext cx="4572000" cy="2560320"/>
          </a:xfrm>
          <a:prstGeom prst="rect">
            <a:avLst/>
          </a:prstGeom>
          <a:noFill/>
        </p:spPr>
        <p:txBody>
          <a:bodyPr wrap="square">
            <a:spAutoFit/>
          </a:bodyPr>
          <a:lstStyle/>
          <a:p>
            <a:pPr algn="l">
              <a:defRPr sz="1300" b="1">
                <a:solidFill>
                  <a:srgbClr val="FFFFFF"/>
                </a:solidFill>
              </a:defRPr>
            </a:pPr>
            <a:r>
              <a:t>📝 Instructions</a:t>
            </a:r>
          </a:p>
          <a:p>
            <a:pPr algn="l">
              <a:spcBef>
                <a:spcPts val="600"/>
              </a:spcBef>
              <a:defRPr sz="1100" b="0">
                <a:solidFill>
                  <a:srgbClr val="A8B2D1"/>
                </a:solidFill>
              </a:defRPr>
            </a:pPr>
            <a:r>
              <a:t>   Personality, expertise, response style</a:t>
            </a:r>
          </a:p>
          <a:p>
            <a:pPr algn="l">
              <a:spcBef>
                <a:spcPts val="600"/>
              </a:spcBef>
              <a:defRPr sz="600" b="0">
                <a:solidFill>
                  <a:srgbClr val="C8D6E5"/>
                </a:solidFill>
              </a:defRPr>
            </a:pPr>
            <a:endParaRPr/>
          </a:p>
          <a:p>
            <a:pPr algn="l">
              <a:spcBef>
                <a:spcPts val="600"/>
              </a:spcBef>
              <a:defRPr sz="1300" b="1">
                <a:solidFill>
                  <a:srgbClr val="FFFFFF"/>
                </a:solidFill>
              </a:defRPr>
            </a:pPr>
            <a:r>
              <a:t>🔧 Tools / Skills</a:t>
            </a:r>
          </a:p>
          <a:p>
            <a:pPr algn="l">
              <a:spcBef>
                <a:spcPts val="600"/>
              </a:spcBef>
              <a:defRPr sz="1100" b="0">
                <a:solidFill>
                  <a:srgbClr val="A8B2D1"/>
                </a:solidFill>
              </a:defRPr>
            </a:pPr>
            <a:r>
              <a:t>   APIs, CLI, files it can use</a:t>
            </a:r>
          </a:p>
          <a:p>
            <a:pPr algn="l">
              <a:spcBef>
                <a:spcPts val="600"/>
              </a:spcBef>
              <a:defRPr sz="600" b="0">
                <a:solidFill>
                  <a:srgbClr val="C8D6E5"/>
                </a:solidFill>
              </a:defRPr>
            </a:pPr>
            <a:endParaRPr/>
          </a:p>
          <a:p>
            <a:pPr algn="l">
              <a:spcBef>
                <a:spcPts val="600"/>
              </a:spcBef>
              <a:defRPr sz="1300" b="1">
                <a:solidFill>
                  <a:srgbClr val="FFFFFF"/>
                </a:solidFill>
              </a:defRPr>
            </a:pPr>
            <a:r>
              <a:t>📚 Knowledge</a:t>
            </a:r>
          </a:p>
          <a:p>
            <a:pPr algn="l">
              <a:spcBef>
                <a:spcPts val="600"/>
              </a:spcBef>
              <a:defRPr sz="1100" b="0">
                <a:solidFill>
                  <a:srgbClr val="A8B2D1"/>
                </a:solidFill>
              </a:defRPr>
            </a:pPr>
            <a:r>
              <a:t>   Documentation, patterns, examples</a:t>
            </a:r>
          </a:p>
          <a:p>
            <a:pPr algn="l">
              <a:spcBef>
                <a:spcPts val="600"/>
              </a:spcBef>
              <a:defRPr sz="600" b="0">
                <a:solidFill>
                  <a:srgbClr val="C8D6E5"/>
                </a:solidFill>
              </a:defRPr>
            </a:pPr>
            <a:endParaRPr/>
          </a:p>
          <a:p>
            <a:pPr algn="l">
              <a:spcBef>
                <a:spcPts val="600"/>
              </a:spcBef>
              <a:defRPr sz="1300" b="1">
                <a:solidFill>
                  <a:srgbClr val="FFFFFF"/>
                </a:solidFill>
              </a:defRPr>
            </a:pPr>
            <a:r>
              <a:t>🎯 Trigger</a:t>
            </a:r>
          </a:p>
          <a:p>
            <a:pPr algn="l">
              <a:spcBef>
                <a:spcPts val="600"/>
              </a:spcBef>
              <a:defRPr sz="1100" b="0">
                <a:solidFill>
                  <a:srgbClr val="A8B2D1"/>
                </a:solidFill>
              </a:defRPr>
            </a:pPr>
            <a:r>
              <a:t>   When it activates (@agent-name)</a:t>
            </a:r>
          </a:p>
        </p:txBody>
      </p:sp>
      <p:sp>
        <p:nvSpPr>
          <p:cNvPr id="7" name="TextBox 6"/>
          <p:cNvSpPr txBox="1"/>
          <p:nvPr/>
        </p:nvSpPr>
        <p:spPr>
          <a:xfrm>
            <a:off x="5943600" y="1737360"/>
            <a:ext cx="5486400" cy="365760"/>
          </a:xfrm>
          <a:prstGeom prst="rect">
            <a:avLst/>
          </a:prstGeom>
          <a:noFill/>
        </p:spPr>
        <p:txBody>
          <a:bodyPr wrap="square">
            <a:spAutoFit/>
          </a:bodyPr>
          <a:lstStyle/>
          <a:p>
            <a:pPr algn="l">
              <a:defRPr sz="1600" b="1">
                <a:solidFill>
                  <a:srgbClr val="FFC107"/>
                </a:solidFill>
              </a:defRPr>
            </a:pPr>
            <a:r>
              <a:t>💡 Examples for Orange</a:t>
            </a:r>
          </a:p>
        </p:txBody>
      </p:sp>
      <p:sp>
        <p:nvSpPr>
          <p:cNvPr id="8" name="TextBox 7"/>
          <p:cNvSpPr txBox="1"/>
          <p:nvPr/>
        </p:nvSpPr>
        <p:spPr>
          <a:xfrm>
            <a:off x="5943600" y="2194560"/>
            <a:ext cx="2286000" cy="320040"/>
          </a:xfrm>
          <a:prstGeom prst="rect">
            <a:avLst/>
          </a:prstGeom>
          <a:noFill/>
        </p:spPr>
        <p:txBody>
          <a:bodyPr wrap="square">
            <a:spAutoFit/>
          </a:bodyPr>
          <a:lstStyle/>
          <a:p>
            <a:pPr algn="l">
              <a:defRPr sz="1200" b="1">
                <a:solidFill>
                  <a:srgbClr val="2ED573"/>
                </a:solidFill>
              </a:defRPr>
            </a:pPr>
            <a:r>
              <a:t>@api-reviewer</a:t>
            </a:r>
          </a:p>
        </p:txBody>
      </p:sp>
      <p:sp>
        <p:nvSpPr>
          <p:cNvPr id="9" name="TextBox 8"/>
          <p:cNvSpPr txBox="1"/>
          <p:nvPr/>
        </p:nvSpPr>
        <p:spPr>
          <a:xfrm>
            <a:off x="8412480" y="2194560"/>
            <a:ext cx="3200400" cy="320040"/>
          </a:xfrm>
          <a:prstGeom prst="rect">
            <a:avLst/>
          </a:prstGeom>
          <a:noFill/>
        </p:spPr>
        <p:txBody>
          <a:bodyPr wrap="square">
            <a:spAutoFit/>
          </a:bodyPr>
          <a:lstStyle/>
          <a:p>
            <a:pPr algn="l">
              <a:defRPr sz="1100" b="0">
                <a:solidFill>
                  <a:srgbClr val="A8B2D1"/>
                </a:solidFill>
              </a:defRPr>
            </a:pPr>
            <a:r>
              <a:t>Review endpoints against our REST standards</a:t>
            </a:r>
          </a:p>
        </p:txBody>
      </p:sp>
      <p:sp>
        <p:nvSpPr>
          <p:cNvPr id="10" name="TextBox 9"/>
          <p:cNvSpPr txBox="1"/>
          <p:nvPr/>
        </p:nvSpPr>
        <p:spPr>
          <a:xfrm>
            <a:off x="5943600" y="2560320"/>
            <a:ext cx="2286000" cy="320040"/>
          </a:xfrm>
          <a:prstGeom prst="rect">
            <a:avLst/>
          </a:prstGeom>
          <a:noFill/>
        </p:spPr>
        <p:txBody>
          <a:bodyPr wrap="square">
            <a:spAutoFit/>
          </a:bodyPr>
          <a:lstStyle/>
          <a:p>
            <a:pPr algn="l">
              <a:defRPr sz="1200" b="1">
                <a:solidFill>
                  <a:srgbClr val="2ED573"/>
                </a:solidFill>
              </a:defRPr>
            </a:pPr>
            <a:r>
              <a:t>@security-check</a:t>
            </a:r>
          </a:p>
        </p:txBody>
      </p:sp>
      <p:sp>
        <p:nvSpPr>
          <p:cNvPr id="11" name="TextBox 10"/>
          <p:cNvSpPr txBox="1"/>
          <p:nvPr/>
        </p:nvSpPr>
        <p:spPr>
          <a:xfrm>
            <a:off x="8412480" y="2560320"/>
            <a:ext cx="3200400" cy="320040"/>
          </a:xfrm>
          <a:prstGeom prst="rect">
            <a:avLst/>
          </a:prstGeom>
          <a:noFill/>
        </p:spPr>
        <p:txBody>
          <a:bodyPr wrap="square">
            <a:spAutoFit/>
          </a:bodyPr>
          <a:lstStyle/>
          <a:p>
            <a:pPr algn="l">
              <a:defRPr sz="1100" b="0">
                <a:solidFill>
                  <a:srgbClr val="A8B2D1"/>
                </a:solidFill>
              </a:defRPr>
            </a:pPr>
            <a:r>
              <a:t>Check for OWASP vulnerabilities in code</a:t>
            </a:r>
          </a:p>
        </p:txBody>
      </p:sp>
      <p:sp>
        <p:nvSpPr>
          <p:cNvPr id="12" name="TextBox 11"/>
          <p:cNvSpPr txBox="1"/>
          <p:nvPr/>
        </p:nvSpPr>
        <p:spPr>
          <a:xfrm>
            <a:off x="5943600" y="2926079"/>
            <a:ext cx="2286000" cy="320040"/>
          </a:xfrm>
          <a:prstGeom prst="rect">
            <a:avLst/>
          </a:prstGeom>
          <a:noFill/>
        </p:spPr>
        <p:txBody>
          <a:bodyPr wrap="square">
            <a:spAutoFit/>
          </a:bodyPr>
          <a:lstStyle/>
          <a:p>
            <a:pPr algn="l">
              <a:defRPr sz="1200" b="1">
                <a:solidFill>
                  <a:srgbClr val="2ED573"/>
                </a:solidFill>
              </a:defRPr>
            </a:pPr>
            <a:r>
              <a:t>@doc-writer</a:t>
            </a:r>
          </a:p>
        </p:txBody>
      </p:sp>
      <p:sp>
        <p:nvSpPr>
          <p:cNvPr id="13" name="TextBox 12"/>
          <p:cNvSpPr txBox="1"/>
          <p:nvPr/>
        </p:nvSpPr>
        <p:spPr>
          <a:xfrm>
            <a:off x="8412480" y="2926079"/>
            <a:ext cx="3200400" cy="320040"/>
          </a:xfrm>
          <a:prstGeom prst="rect">
            <a:avLst/>
          </a:prstGeom>
          <a:noFill/>
        </p:spPr>
        <p:txBody>
          <a:bodyPr wrap="square">
            <a:spAutoFit/>
          </a:bodyPr>
          <a:lstStyle/>
          <a:p>
            <a:pPr algn="l">
              <a:defRPr sz="1100" b="0">
                <a:solidFill>
                  <a:srgbClr val="A8B2D1"/>
                </a:solidFill>
              </a:defRPr>
            </a:pPr>
            <a:r>
              <a:t>Generate OpenAPI docs + README</a:t>
            </a:r>
          </a:p>
        </p:txBody>
      </p:sp>
      <p:sp>
        <p:nvSpPr>
          <p:cNvPr id="14" name="TextBox 13"/>
          <p:cNvSpPr txBox="1"/>
          <p:nvPr/>
        </p:nvSpPr>
        <p:spPr>
          <a:xfrm>
            <a:off x="5943600" y="3291839"/>
            <a:ext cx="2286000" cy="320040"/>
          </a:xfrm>
          <a:prstGeom prst="rect">
            <a:avLst/>
          </a:prstGeom>
          <a:noFill/>
        </p:spPr>
        <p:txBody>
          <a:bodyPr wrap="square">
            <a:spAutoFit/>
          </a:bodyPr>
          <a:lstStyle/>
          <a:p>
            <a:pPr algn="l">
              <a:defRPr sz="1200" b="1">
                <a:solidFill>
                  <a:srgbClr val="2ED573"/>
                </a:solidFill>
              </a:defRPr>
            </a:pPr>
            <a:r>
              <a:t>@test-generator</a:t>
            </a:r>
          </a:p>
        </p:txBody>
      </p:sp>
      <p:sp>
        <p:nvSpPr>
          <p:cNvPr id="15" name="TextBox 14"/>
          <p:cNvSpPr txBox="1"/>
          <p:nvPr/>
        </p:nvSpPr>
        <p:spPr>
          <a:xfrm>
            <a:off x="8412480" y="3291839"/>
            <a:ext cx="3200400" cy="320040"/>
          </a:xfrm>
          <a:prstGeom prst="rect">
            <a:avLst/>
          </a:prstGeom>
          <a:noFill/>
        </p:spPr>
        <p:txBody>
          <a:bodyPr wrap="square">
            <a:spAutoFit/>
          </a:bodyPr>
          <a:lstStyle/>
          <a:p>
            <a:pPr algn="l">
              <a:defRPr sz="1100" b="0">
                <a:solidFill>
                  <a:srgbClr val="A8B2D1"/>
                </a:solidFill>
              </a:defRPr>
            </a:pPr>
            <a:r>
              <a:t>Create tests following our patterns</a:t>
            </a:r>
          </a:p>
        </p:txBody>
      </p:sp>
      <p:sp>
        <p:nvSpPr>
          <p:cNvPr id="16" name="TextBox 15"/>
          <p:cNvSpPr txBox="1"/>
          <p:nvPr/>
        </p:nvSpPr>
        <p:spPr>
          <a:xfrm>
            <a:off x="5943600" y="3657599"/>
            <a:ext cx="2286000" cy="320040"/>
          </a:xfrm>
          <a:prstGeom prst="rect">
            <a:avLst/>
          </a:prstGeom>
          <a:noFill/>
        </p:spPr>
        <p:txBody>
          <a:bodyPr wrap="square">
            <a:spAutoFit/>
          </a:bodyPr>
          <a:lstStyle/>
          <a:p>
            <a:pPr algn="l">
              <a:defRPr sz="1200" b="1">
                <a:solidFill>
                  <a:srgbClr val="2ED573"/>
                </a:solidFill>
              </a:defRPr>
            </a:pPr>
            <a:r>
              <a:t>@migration-helper</a:t>
            </a:r>
          </a:p>
        </p:txBody>
      </p:sp>
      <p:sp>
        <p:nvSpPr>
          <p:cNvPr id="17" name="TextBox 16"/>
          <p:cNvSpPr txBox="1"/>
          <p:nvPr/>
        </p:nvSpPr>
        <p:spPr>
          <a:xfrm>
            <a:off x="8412480" y="3657599"/>
            <a:ext cx="3200400" cy="320040"/>
          </a:xfrm>
          <a:prstGeom prst="rect">
            <a:avLst/>
          </a:prstGeom>
          <a:noFill/>
        </p:spPr>
        <p:txBody>
          <a:bodyPr wrap="square">
            <a:spAutoFit/>
          </a:bodyPr>
          <a:lstStyle/>
          <a:p>
            <a:pPr algn="l">
              <a:defRPr sz="1100" b="0">
                <a:solidFill>
                  <a:srgbClr val="A8B2D1"/>
                </a:solidFill>
              </a:defRPr>
            </a:pPr>
            <a:r>
              <a:t>Help migrate legacy APIs</a:t>
            </a:r>
          </a:p>
        </p:txBody>
      </p:sp>
      <p:sp>
        <p:nvSpPr>
          <p:cNvPr id="18" name="TextBox 17"/>
          <p:cNvSpPr txBox="1"/>
          <p:nvPr/>
        </p:nvSpPr>
        <p:spPr>
          <a:xfrm>
            <a:off x="5943600" y="4023359"/>
            <a:ext cx="2286000" cy="320040"/>
          </a:xfrm>
          <a:prstGeom prst="rect">
            <a:avLst/>
          </a:prstGeom>
          <a:noFill/>
        </p:spPr>
        <p:txBody>
          <a:bodyPr wrap="square">
            <a:spAutoFit/>
          </a:bodyPr>
          <a:lstStyle/>
          <a:p>
            <a:pPr algn="l">
              <a:defRPr sz="1200" b="1">
                <a:solidFill>
                  <a:srgbClr val="2ED573"/>
                </a:solidFill>
              </a:defRPr>
            </a:pPr>
            <a:r>
              <a:t>@onboarding</a:t>
            </a:r>
          </a:p>
        </p:txBody>
      </p:sp>
      <p:sp>
        <p:nvSpPr>
          <p:cNvPr id="19" name="TextBox 18"/>
          <p:cNvSpPr txBox="1"/>
          <p:nvPr/>
        </p:nvSpPr>
        <p:spPr>
          <a:xfrm>
            <a:off x="8412480" y="4023359"/>
            <a:ext cx="3200400" cy="320040"/>
          </a:xfrm>
          <a:prstGeom prst="rect">
            <a:avLst/>
          </a:prstGeom>
          <a:noFill/>
        </p:spPr>
        <p:txBody>
          <a:bodyPr wrap="square">
            <a:spAutoFit/>
          </a:bodyPr>
          <a:lstStyle/>
          <a:p>
            <a:pPr algn="l">
              <a:defRPr sz="1100" b="0">
                <a:solidFill>
                  <a:srgbClr val="A8B2D1"/>
                </a:solidFill>
              </a:defRPr>
            </a:pPr>
            <a:r>
              <a:t>Guide newcomers on the project</a:t>
            </a:r>
          </a:p>
        </p:txBody>
      </p:sp>
      <p:sp>
        <p:nvSpPr>
          <p:cNvPr id="20" name="Rounded Rectangle 19"/>
          <p:cNvSpPr/>
          <p:nvPr/>
        </p:nvSpPr>
        <p:spPr>
          <a:xfrm>
            <a:off x="457200" y="5303520"/>
            <a:ext cx="10972800" cy="914400"/>
          </a:xfrm>
          <a:prstGeom prst="roundRect">
            <a:avLst/>
          </a:prstGeom>
          <a:solidFill>
            <a:srgbClr val="1F1535"/>
          </a:solidFill>
          <a:ln w="19050">
            <a:solidFill>
              <a:srgbClr val="A55EE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C8D6E5"/>
                </a:solidFill>
              </a:defRPr>
            </a:pPr>
            <a:r>
              <a:t>🔑 Agent = instructions + tools + knowledge. Shared across the org → every team benefits.</a:t>
            </a:r>
            <a:br/>
            <a:r>
              <a:t>Extensible via MCP (Model Context Protocol) to connect your internal tools.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square">
            <a:spAutoFit/>
          </a:bodyPr>
          <a:lstStyle/>
          <a:p>
            <a:pPr algn="l">
              <a:defRPr sz="3600" b="1">
                <a:solidFill>
                  <a:srgbClr val="E94560"/>
                </a:solidFill>
              </a:defRPr>
            </a:pPr>
            <a:r>
              <a:t>⚡ Skills — Reusable Capabilities</a:t>
            </a:r>
          </a:p>
        </p:txBody>
      </p:sp>
      <p:sp>
        <p:nvSpPr>
          <p:cNvPr id="3" name="TextBox 2"/>
          <p:cNvSpPr txBox="1"/>
          <p:nvPr/>
        </p:nvSpPr>
        <p:spPr>
          <a:xfrm>
            <a:off x="457200" y="1005840"/>
            <a:ext cx="10972800" cy="457200"/>
          </a:xfrm>
          <a:prstGeom prst="rect">
            <a:avLst/>
          </a:prstGeom>
          <a:noFill/>
        </p:spPr>
        <p:txBody>
          <a:bodyPr wrap="square">
            <a:spAutoFit/>
          </a:bodyPr>
          <a:lstStyle/>
          <a:p>
            <a:pPr algn="ctr">
              <a:defRPr sz="1400" b="0">
                <a:solidFill>
                  <a:srgbClr val="A8B2D1"/>
                </a:solidFill>
              </a:defRPr>
            </a:pPr>
            <a:r>
              <a:t>Skill = a modular capability an agent can use (like a plugin)</a:t>
            </a:r>
          </a:p>
        </p:txBody>
      </p:sp>
      <p:sp>
        <p:nvSpPr>
          <p:cNvPr id="4" name="Rounded Rectangle 3"/>
          <p:cNvSpPr/>
          <p:nvPr/>
        </p:nvSpPr>
        <p:spPr>
          <a:xfrm>
            <a:off x="274320" y="1645920"/>
            <a:ext cx="1828800" cy="1828800"/>
          </a:xfrm>
          <a:prstGeom prst="roundRect">
            <a:avLst/>
          </a:prstGeom>
          <a:solidFill>
            <a:srgbClr val="16213E"/>
          </a:solidFill>
          <a:ln w="19050">
            <a:solidFill>
              <a:srgbClr val="4FACF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a:solidFill>
                  <a:srgbClr val="4FACFE"/>
                </a:solidFill>
              </a:defRPr>
            </a:pPr>
            <a:r>
              <a:t>🔍</a:t>
            </a:r>
            <a:br/>
            <a:br/>
            <a:r>
              <a:t>Code Search</a:t>
            </a:r>
            <a:br/>
            <a:r>
              <a:t>Semantic search</a:t>
            </a:r>
            <a:br/>
            <a:r>
              <a:t>in the codebase</a:t>
            </a:r>
          </a:p>
        </p:txBody>
      </p:sp>
      <p:sp>
        <p:nvSpPr>
          <p:cNvPr id="5" name="Rounded Rectangle 4"/>
          <p:cNvSpPr/>
          <p:nvPr/>
        </p:nvSpPr>
        <p:spPr>
          <a:xfrm>
            <a:off x="2286000" y="1645920"/>
            <a:ext cx="1828800" cy="1828800"/>
          </a:xfrm>
          <a:prstGeom prst="roundRect">
            <a:avLst/>
          </a:prstGeom>
          <a:solidFill>
            <a:srgbClr val="16213E"/>
          </a:solidFill>
          <a:ln w="19050">
            <a:solidFill>
              <a:srgbClr val="2ED57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a:solidFill>
                  <a:srgbClr val="2ED573"/>
                </a:solidFill>
              </a:defRPr>
            </a:pPr>
            <a:r>
              <a:t>🧪</a:t>
            </a:r>
            <a:br/>
            <a:br/>
            <a:r>
              <a:t>Test Runner</a:t>
            </a:r>
            <a:br/>
            <a:r>
              <a:t>Lancer et analyser</a:t>
            </a:r>
            <a:br/>
            <a:r>
              <a:t>les tests</a:t>
            </a:r>
          </a:p>
        </p:txBody>
      </p:sp>
      <p:sp>
        <p:nvSpPr>
          <p:cNvPr id="6" name="Rounded Rectangle 5"/>
          <p:cNvSpPr/>
          <p:nvPr/>
        </p:nvSpPr>
        <p:spPr>
          <a:xfrm>
            <a:off x="4297680" y="1645920"/>
            <a:ext cx="1828800" cy="1828800"/>
          </a:xfrm>
          <a:prstGeom prst="roundRect">
            <a:avLst/>
          </a:prstGeom>
          <a:solidFill>
            <a:srgbClr val="16213E"/>
          </a:solidFill>
          <a:ln w="19050">
            <a:solidFill>
              <a:srgbClr val="FFC10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a:solidFill>
                  <a:srgbClr val="FFC107"/>
                </a:solidFill>
              </a:defRPr>
            </a:pPr>
            <a:r>
              <a:t>📦</a:t>
            </a:r>
            <a:br/>
            <a:br/>
            <a:r>
              <a:t>Package Mgr</a:t>
            </a:r>
            <a:br/>
            <a:r>
              <a:t>Manage dependencies</a:t>
            </a:r>
            <a:br/>
            <a:r>
              <a:t>+ vulnerabilities</a:t>
            </a:r>
          </a:p>
        </p:txBody>
      </p:sp>
      <p:sp>
        <p:nvSpPr>
          <p:cNvPr id="7" name="Rounded Rectangle 6"/>
          <p:cNvSpPr/>
          <p:nvPr/>
        </p:nvSpPr>
        <p:spPr>
          <a:xfrm>
            <a:off x="6309360" y="1645920"/>
            <a:ext cx="1828800" cy="1828800"/>
          </a:xfrm>
          <a:prstGeom prst="roundRect">
            <a:avLst/>
          </a:prstGeom>
          <a:solidFill>
            <a:srgbClr val="16213E"/>
          </a:solidFill>
          <a:ln w="19050">
            <a:solidFill>
              <a:srgbClr val="E9456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a:solidFill>
                  <a:srgbClr val="E94560"/>
                </a:solidFill>
              </a:defRPr>
            </a:pPr>
            <a:r>
              <a:t>🔒</a:t>
            </a:r>
            <a:br/>
            <a:br/>
            <a:r>
              <a:t>Security Scan</a:t>
            </a:r>
            <a:br/>
            <a:r>
              <a:t>SAST/DAST</a:t>
            </a:r>
            <a:br/>
            <a:r>
              <a:t>automated</a:t>
            </a:r>
          </a:p>
        </p:txBody>
      </p:sp>
      <p:sp>
        <p:nvSpPr>
          <p:cNvPr id="8" name="Rounded Rectangle 7"/>
          <p:cNvSpPr/>
          <p:nvPr/>
        </p:nvSpPr>
        <p:spPr>
          <a:xfrm>
            <a:off x="8321040" y="1645920"/>
            <a:ext cx="1828800" cy="1828800"/>
          </a:xfrm>
          <a:prstGeom prst="roundRect">
            <a:avLst/>
          </a:prstGeom>
          <a:solidFill>
            <a:srgbClr val="16213E"/>
          </a:solidFill>
          <a:ln w="19050">
            <a:solidFill>
              <a:srgbClr val="A55EE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a:solidFill>
                  <a:srgbClr val="A55EEA"/>
                </a:solidFill>
              </a:defRPr>
            </a:pPr>
            <a:r>
              <a:t>📄</a:t>
            </a:r>
            <a:br/>
            <a:br/>
            <a:r>
              <a:t>Doc Generator</a:t>
            </a:r>
            <a:br/>
            <a:r>
              <a:t>OpenAPI, README,</a:t>
            </a:r>
            <a:br/>
            <a:r>
              <a:t>Changelog</a:t>
            </a:r>
          </a:p>
        </p:txBody>
      </p:sp>
      <p:sp>
        <p:nvSpPr>
          <p:cNvPr id="9" name="Rounded Rectangle 8"/>
          <p:cNvSpPr/>
          <p:nvPr/>
        </p:nvSpPr>
        <p:spPr>
          <a:xfrm>
            <a:off x="10332720" y="1645920"/>
            <a:ext cx="1828800" cy="1828800"/>
          </a:xfrm>
          <a:prstGeom prst="roundRect">
            <a:avLst/>
          </a:prstGeom>
          <a:solidFill>
            <a:srgbClr val="16213E"/>
          </a:solidFill>
          <a:ln w="19050">
            <a:solidFill>
              <a:srgbClr val="00D2D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a:solidFill>
                  <a:srgbClr val="00D2D3"/>
                </a:solidFill>
              </a:defRPr>
            </a:pPr>
            <a:r>
              <a:t>🚀</a:t>
            </a:r>
            <a:br/>
            <a:br/>
            <a:r>
              <a:t>Deployer</a:t>
            </a:r>
            <a:br/>
            <a:r>
              <a:t>CI/CD, preview</a:t>
            </a:r>
            <a:br/>
            <a:r>
              <a:t>environments</a:t>
            </a:r>
          </a:p>
        </p:txBody>
      </p:sp>
      <p:sp>
        <p:nvSpPr>
          <p:cNvPr id="10" name="TextBox 9"/>
          <p:cNvSpPr txBox="1"/>
          <p:nvPr/>
        </p:nvSpPr>
        <p:spPr>
          <a:xfrm>
            <a:off x="457200" y="3840480"/>
            <a:ext cx="10972800" cy="365760"/>
          </a:xfrm>
          <a:prstGeom prst="rect">
            <a:avLst/>
          </a:prstGeom>
          <a:noFill/>
        </p:spPr>
        <p:txBody>
          <a:bodyPr wrap="square">
            <a:spAutoFit/>
          </a:bodyPr>
          <a:lstStyle/>
          <a:p>
            <a:pPr algn="ctr">
              <a:defRPr sz="1500" b="1">
                <a:solidFill>
                  <a:srgbClr val="FFFFFF"/>
                </a:solidFill>
              </a:defRPr>
            </a:pPr>
            <a:r>
              <a:t>🔗 Composition: an agent can combine multiple skills</a:t>
            </a:r>
          </a:p>
        </p:txBody>
      </p:sp>
      <p:sp>
        <p:nvSpPr>
          <p:cNvPr id="11" name="Rounded Rectangle 10"/>
          <p:cNvSpPr/>
          <p:nvPr/>
        </p:nvSpPr>
        <p:spPr>
          <a:xfrm>
            <a:off x="457200" y="4389120"/>
            <a:ext cx="10972800" cy="1645920"/>
          </a:xfrm>
          <a:prstGeom prst="roundRect">
            <a:avLst/>
          </a:prstGeom>
          <a:solidFill>
            <a:srgbClr val="0D1117"/>
          </a:solidFill>
          <a:ln w="1905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4480560"/>
            <a:ext cx="10515600" cy="1463040"/>
          </a:xfrm>
          <a:prstGeom prst="rect">
            <a:avLst/>
          </a:prstGeom>
          <a:noFill/>
        </p:spPr>
        <p:txBody>
          <a:bodyPr wrap="square">
            <a:spAutoFit/>
          </a:bodyPr>
          <a:lstStyle/>
          <a:p>
            <a:pPr algn="l">
              <a:defRPr sz="1300" b="0">
                <a:solidFill>
                  <a:srgbClr val="C8D6E5"/>
                </a:solidFill>
              </a:defRPr>
            </a:pPr>
            <a:r>
              <a:t>Exemple : @api-reviewer utilise :</a:t>
            </a:r>
          </a:p>
          <a:p>
            <a:pPr algn="l">
              <a:spcBef>
                <a:spcPts val="600"/>
              </a:spcBef>
              <a:defRPr sz="1200" b="0">
                <a:solidFill>
                  <a:srgbClr val="4FACFE"/>
                </a:solidFill>
              </a:defRPr>
            </a:pPr>
            <a:r>
              <a:t>   Code Search (find endpoints) + Security Scan (check OWASP) + Doc Generator (check docs)</a:t>
            </a:r>
          </a:p>
          <a:p>
            <a:pPr algn="l">
              <a:spcBef>
                <a:spcPts val="600"/>
              </a:spcBef>
              <a:defRPr sz="600" b="0">
                <a:solidFill>
                  <a:srgbClr val="C8D6E5"/>
                </a:solidFill>
              </a:defRPr>
            </a:pPr>
            <a:endParaRPr/>
          </a:p>
          <a:p>
            <a:pPr algn="l">
              <a:spcBef>
                <a:spcPts val="600"/>
              </a:spcBef>
              <a:defRPr sz="1300" b="0">
                <a:solidFill>
                  <a:srgbClr val="C8D6E5"/>
                </a:solidFill>
              </a:defRPr>
            </a:pPr>
            <a:r>
              <a:t>Exemple : @onboarding utilise :</a:t>
            </a:r>
          </a:p>
          <a:p>
            <a:pPr algn="l">
              <a:spcBef>
                <a:spcPts val="600"/>
              </a:spcBef>
              <a:defRPr sz="1200" b="0">
                <a:solidFill>
                  <a:srgbClr val="2ED573"/>
                </a:solidFill>
              </a:defRPr>
            </a:pPr>
            <a:r>
              <a:t>   Code Search (navigate code) + Doc Generator (explain architecture) + Test Runner (show examples)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square">
            <a:spAutoFit/>
          </a:bodyPr>
          <a:lstStyle/>
          <a:p>
            <a:pPr algn="l">
              <a:defRPr sz="3600" b="1">
                <a:solidFill>
                  <a:srgbClr val="E94560"/>
                </a:solidFill>
              </a:defRPr>
            </a:pPr>
            <a:r>
              <a:t>🔌 MCP — Connect Your Tools</a:t>
            </a:r>
          </a:p>
        </p:txBody>
      </p:sp>
      <p:sp>
        <p:nvSpPr>
          <p:cNvPr id="3" name="TextBox 2"/>
          <p:cNvSpPr txBox="1"/>
          <p:nvPr/>
        </p:nvSpPr>
        <p:spPr>
          <a:xfrm>
            <a:off x="457200" y="1005840"/>
            <a:ext cx="10972800" cy="457200"/>
          </a:xfrm>
          <a:prstGeom prst="rect">
            <a:avLst/>
          </a:prstGeom>
          <a:noFill/>
        </p:spPr>
        <p:txBody>
          <a:bodyPr wrap="square">
            <a:spAutoFit/>
          </a:bodyPr>
          <a:lstStyle/>
          <a:p>
            <a:pPr algn="ctr">
              <a:defRPr sz="1400" b="0">
                <a:solidFill>
                  <a:srgbClr val="A8B2D1"/>
                </a:solidFill>
              </a:defRPr>
            </a:pPr>
            <a:r>
              <a:t>Model Context Protocol = the standard for connecting Copilot to your internal tools</a:t>
            </a:r>
          </a:p>
        </p:txBody>
      </p:sp>
      <p:sp>
        <p:nvSpPr>
          <p:cNvPr id="4" name="Rounded Rectangle 3"/>
          <p:cNvSpPr/>
          <p:nvPr/>
        </p:nvSpPr>
        <p:spPr>
          <a:xfrm>
            <a:off x="4114800" y="1645920"/>
            <a:ext cx="3657600" cy="914400"/>
          </a:xfrm>
          <a:prstGeom prst="roundRect">
            <a:avLst/>
          </a:prstGeom>
          <a:solidFill>
            <a:srgbClr val="16213E"/>
          </a:solidFill>
          <a:ln w="19050">
            <a:solidFill>
              <a:srgbClr val="E9456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a:solidFill>
                  <a:srgbClr val="FFFFFF"/>
                </a:solidFill>
              </a:defRPr>
            </a:pPr>
            <a:r>
              <a:t>🤖 Copilot Agent</a:t>
            </a:r>
          </a:p>
        </p:txBody>
      </p:sp>
      <p:sp>
        <p:nvSpPr>
          <p:cNvPr id="5" name="Rounded Rectangle 4"/>
          <p:cNvSpPr/>
          <p:nvPr/>
        </p:nvSpPr>
        <p:spPr>
          <a:xfrm>
            <a:off x="2743200" y="2926080"/>
            <a:ext cx="6400800" cy="640080"/>
          </a:xfrm>
          <a:prstGeom prst="roundRect">
            <a:avLst/>
          </a:prstGeom>
          <a:solidFill>
            <a:srgbClr val="1F1535"/>
          </a:solidFill>
          <a:ln w="19050">
            <a:solidFill>
              <a:srgbClr val="A55EE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a:solidFill>
                  <a:srgbClr val="A55EEA"/>
                </a:solidFill>
              </a:defRPr>
            </a:pPr>
            <a:r>
              <a:t>🔌 MCP Layer (Model Context Protocol)</a:t>
            </a:r>
          </a:p>
        </p:txBody>
      </p:sp>
      <p:sp>
        <p:nvSpPr>
          <p:cNvPr id="6" name="Rounded Rectangle 5"/>
          <p:cNvSpPr/>
          <p:nvPr/>
        </p:nvSpPr>
        <p:spPr>
          <a:xfrm>
            <a:off x="274320" y="3931920"/>
            <a:ext cx="1828800" cy="822960"/>
          </a:xfrm>
          <a:prstGeom prst="roundRect">
            <a:avLst/>
          </a:prstGeom>
          <a:solidFill>
            <a:srgbClr val="16213E"/>
          </a:solidFill>
          <a:ln w="19050">
            <a:solidFill>
              <a:srgbClr val="30363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a:solidFill>
                  <a:srgbClr val="C8D6E5"/>
                </a:solidFill>
              </a:defRPr>
            </a:pPr>
            <a:r>
              <a:t>🔧 Jira</a:t>
            </a:r>
          </a:p>
        </p:txBody>
      </p:sp>
      <p:sp>
        <p:nvSpPr>
          <p:cNvPr id="7" name="Rounded Rectangle 6"/>
          <p:cNvSpPr/>
          <p:nvPr/>
        </p:nvSpPr>
        <p:spPr>
          <a:xfrm>
            <a:off x="2286000" y="3931920"/>
            <a:ext cx="1828800" cy="822960"/>
          </a:xfrm>
          <a:prstGeom prst="roundRect">
            <a:avLst/>
          </a:prstGeom>
          <a:solidFill>
            <a:srgbClr val="16213E"/>
          </a:solidFill>
          <a:ln w="19050">
            <a:solidFill>
              <a:srgbClr val="30363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a:solidFill>
                  <a:srgbClr val="C8D6E5"/>
                </a:solidFill>
              </a:defRPr>
            </a:pPr>
            <a:r>
              <a:t>📚 Confluence</a:t>
            </a:r>
          </a:p>
        </p:txBody>
      </p:sp>
      <p:sp>
        <p:nvSpPr>
          <p:cNvPr id="8" name="Rounded Rectangle 7"/>
          <p:cNvSpPr/>
          <p:nvPr/>
        </p:nvSpPr>
        <p:spPr>
          <a:xfrm>
            <a:off x="4297680" y="3931920"/>
            <a:ext cx="1828800" cy="822960"/>
          </a:xfrm>
          <a:prstGeom prst="roundRect">
            <a:avLst/>
          </a:prstGeom>
          <a:solidFill>
            <a:srgbClr val="16213E"/>
          </a:solidFill>
          <a:ln w="19050">
            <a:solidFill>
              <a:srgbClr val="30363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a:solidFill>
                  <a:srgbClr val="C8D6E5"/>
                </a:solidFill>
              </a:defRPr>
            </a:pPr>
            <a:r>
              <a:t>🗄️ Database</a:t>
            </a:r>
          </a:p>
        </p:txBody>
      </p:sp>
      <p:sp>
        <p:nvSpPr>
          <p:cNvPr id="9" name="Rounded Rectangle 8"/>
          <p:cNvSpPr/>
          <p:nvPr/>
        </p:nvSpPr>
        <p:spPr>
          <a:xfrm>
            <a:off x="6309360" y="3931920"/>
            <a:ext cx="1828800" cy="822960"/>
          </a:xfrm>
          <a:prstGeom prst="roundRect">
            <a:avLst/>
          </a:prstGeom>
          <a:solidFill>
            <a:srgbClr val="16213E"/>
          </a:solidFill>
          <a:ln w="19050">
            <a:solidFill>
              <a:srgbClr val="30363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a:solidFill>
                  <a:srgbClr val="C8D6E5"/>
                </a:solidFill>
              </a:defRPr>
            </a:pPr>
            <a:r>
              <a:t>🚀 CI/CD</a:t>
            </a:r>
          </a:p>
        </p:txBody>
      </p:sp>
      <p:sp>
        <p:nvSpPr>
          <p:cNvPr id="10" name="Rounded Rectangle 9"/>
          <p:cNvSpPr/>
          <p:nvPr/>
        </p:nvSpPr>
        <p:spPr>
          <a:xfrm>
            <a:off x="8321040" y="3931920"/>
            <a:ext cx="1828800" cy="822960"/>
          </a:xfrm>
          <a:prstGeom prst="roundRect">
            <a:avLst/>
          </a:prstGeom>
          <a:solidFill>
            <a:srgbClr val="16213E"/>
          </a:solidFill>
          <a:ln w="19050">
            <a:solidFill>
              <a:srgbClr val="30363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a:solidFill>
                  <a:srgbClr val="C8D6E5"/>
                </a:solidFill>
              </a:defRPr>
            </a:pPr>
            <a:r>
              <a:t>📊 Monitoring</a:t>
            </a:r>
          </a:p>
        </p:txBody>
      </p:sp>
      <p:sp>
        <p:nvSpPr>
          <p:cNvPr id="11" name="Rounded Rectangle 10"/>
          <p:cNvSpPr/>
          <p:nvPr/>
        </p:nvSpPr>
        <p:spPr>
          <a:xfrm>
            <a:off x="10332720" y="3931920"/>
            <a:ext cx="1828800" cy="822960"/>
          </a:xfrm>
          <a:prstGeom prst="roundRect">
            <a:avLst/>
          </a:prstGeom>
          <a:solidFill>
            <a:srgbClr val="16213E"/>
          </a:solidFill>
          <a:ln w="19050">
            <a:solidFill>
              <a:srgbClr val="30363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a:solidFill>
                  <a:srgbClr val="C8D6E5"/>
                </a:solidFill>
              </a:defRPr>
            </a:pPr>
            <a:r>
              <a:t>🔐 Vault</a:t>
            </a:r>
          </a:p>
        </p:txBody>
      </p:sp>
      <p:sp>
        <p:nvSpPr>
          <p:cNvPr id="12" name="TextBox 11"/>
          <p:cNvSpPr txBox="1"/>
          <p:nvPr/>
        </p:nvSpPr>
        <p:spPr>
          <a:xfrm>
            <a:off x="457200" y="5029200"/>
            <a:ext cx="10972800" cy="365760"/>
          </a:xfrm>
          <a:prstGeom prst="rect">
            <a:avLst/>
          </a:prstGeom>
          <a:noFill/>
        </p:spPr>
        <p:txBody>
          <a:bodyPr wrap="square">
            <a:spAutoFit/>
          </a:bodyPr>
          <a:lstStyle/>
          <a:p>
            <a:pPr algn="l">
              <a:defRPr sz="1500" b="1">
                <a:solidFill>
                  <a:srgbClr val="FFFFFF"/>
                </a:solidFill>
              </a:defRPr>
            </a:pPr>
            <a:r>
              <a:t>What it enables:</a:t>
            </a:r>
          </a:p>
        </p:txBody>
      </p:sp>
      <p:sp>
        <p:nvSpPr>
          <p:cNvPr id="13" name="TextBox 12"/>
          <p:cNvSpPr txBox="1"/>
          <p:nvPr/>
        </p:nvSpPr>
        <p:spPr>
          <a:xfrm>
            <a:off x="457200" y="5394960"/>
            <a:ext cx="10972800" cy="1371600"/>
          </a:xfrm>
          <a:prstGeom prst="rect">
            <a:avLst/>
          </a:prstGeom>
          <a:noFill/>
        </p:spPr>
        <p:txBody>
          <a:bodyPr wrap="square">
            <a:spAutoFit/>
          </a:bodyPr>
          <a:lstStyle/>
          <a:p>
            <a:pPr algn="l">
              <a:defRPr sz="1300" b="0">
                <a:solidFill>
                  <a:srgbClr val="C8D6E5"/>
                </a:solidFill>
              </a:defRPr>
            </a:pPr>
            <a:r>
              <a:t>✓ "Create a Jira ticket for this bug" → Copilot calls the Jira API</a:t>
            </a:r>
          </a:p>
          <a:p>
            <a:pPr algn="l">
              <a:spcBef>
                <a:spcPts val="600"/>
              </a:spcBef>
              <a:defRPr sz="1300" b="0">
                <a:solidFill>
                  <a:srgbClr val="C8D6E5"/>
                </a:solidFill>
              </a:defRPr>
            </a:pPr>
            <a:r>
              <a:t>✓ "What's the status of the last deploy?" → Copilot queries the CI/CD</a:t>
            </a:r>
          </a:p>
          <a:p>
            <a:pPr algn="l">
              <a:spcBef>
                <a:spcPts val="600"/>
              </a:spcBef>
              <a:defRPr sz="1300" b="0">
                <a:solidFill>
                  <a:srgbClr val="C8D6E5"/>
                </a:solidFill>
              </a:defRPr>
            </a:pPr>
            <a:r>
              <a:t>✓ "Show latency metrics for service X" → Copilot queries monitoring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square">
            <a:spAutoFit/>
          </a:bodyPr>
          <a:lstStyle/>
          <a:p>
            <a:pPr algn="l">
              <a:defRPr sz="3600" b="1">
                <a:solidFill>
                  <a:srgbClr val="E94560"/>
                </a:solidFill>
              </a:defRPr>
            </a:pPr>
            <a:r>
              <a:t>🔗 Advanced Techniques</a:t>
            </a:r>
          </a:p>
        </p:txBody>
      </p:sp>
      <p:sp>
        <p:nvSpPr>
          <p:cNvPr id="3" name="TextBox 2"/>
          <p:cNvSpPr txBox="1"/>
          <p:nvPr/>
        </p:nvSpPr>
        <p:spPr>
          <a:xfrm>
            <a:off x="457200" y="1097280"/>
            <a:ext cx="5303520" cy="365760"/>
          </a:xfrm>
          <a:prstGeom prst="rect">
            <a:avLst/>
          </a:prstGeom>
          <a:noFill/>
        </p:spPr>
        <p:txBody>
          <a:bodyPr wrap="square">
            <a:spAutoFit/>
          </a:bodyPr>
          <a:lstStyle/>
          <a:p>
            <a:pPr algn="l">
              <a:defRPr sz="1800" b="1">
                <a:solidFill>
                  <a:srgbClr val="4FACFE"/>
                </a:solidFill>
              </a:defRPr>
            </a:pPr>
            <a:r>
              <a:t>🔗 Prompt Chaining</a:t>
            </a:r>
          </a:p>
        </p:txBody>
      </p:sp>
      <p:sp>
        <p:nvSpPr>
          <p:cNvPr id="4" name="Rounded Rectangle 3"/>
          <p:cNvSpPr/>
          <p:nvPr/>
        </p:nvSpPr>
        <p:spPr>
          <a:xfrm>
            <a:off x="457200" y="1554480"/>
            <a:ext cx="5303520" cy="2011680"/>
          </a:xfrm>
          <a:prstGeom prst="roundRect">
            <a:avLst/>
          </a:prstGeom>
          <a:solidFill>
            <a:srgbClr val="0D1117"/>
          </a:solidFill>
          <a:ln w="1905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645920"/>
            <a:ext cx="5029200" cy="1828800"/>
          </a:xfrm>
          <a:prstGeom prst="rect">
            <a:avLst/>
          </a:prstGeom>
          <a:noFill/>
        </p:spPr>
        <p:txBody>
          <a:bodyPr wrap="square">
            <a:spAutoFit/>
          </a:bodyPr>
          <a:lstStyle/>
          <a:p>
            <a:pPr algn="l">
              <a:defRPr sz="1200" b="0">
                <a:solidFill>
                  <a:srgbClr val="A8B2D1"/>
                </a:solidFill>
              </a:defRPr>
            </a:pPr>
            <a:r>
              <a:t>Break down a complex task:</a:t>
            </a:r>
          </a:p>
          <a:p>
            <a:pPr algn="l">
              <a:spcBef>
                <a:spcPts val="600"/>
              </a:spcBef>
              <a:defRPr sz="600" b="0">
                <a:solidFill>
                  <a:srgbClr val="C8D6E5"/>
                </a:solidFill>
              </a:defRPr>
            </a:pPr>
            <a:endParaRPr/>
          </a:p>
          <a:p>
            <a:pPr algn="l">
              <a:spcBef>
                <a:spcPts val="600"/>
              </a:spcBef>
              <a:defRPr sz="1200" b="0">
                <a:solidFill>
                  <a:srgbClr val="7EE787"/>
                </a:solidFill>
              </a:defRPr>
            </a:pPr>
            <a:r>
              <a:t>1️⃣ "Analyze this service and list the endpoints"</a:t>
            </a:r>
          </a:p>
          <a:p>
            <a:pPr algn="l">
              <a:spcBef>
                <a:spcPts val="600"/>
              </a:spcBef>
              <a:defRPr sz="1200" b="0">
                <a:solidFill>
                  <a:srgbClr val="7EE787"/>
                </a:solidFill>
              </a:defRPr>
            </a:pPr>
            <a:r>
              <a:t>2️⃣ "For each endpoint, identify error cases"</a:t>
            </a:r>
          </a:p>
          <a:p>
            <a:pPr algn="l">
              <a:spcBef>
                <a:spcPts val="600"/>
              </a:spcBef>
              <a:defRPr sz="1200" b="0">
                <a:solidFill>
                  <a:srgbClr val="7EE787"/>
                </a:solidFill>
              </a:defRPr>
            </a:pPr>
            <a:r>
              <a:t>3️⃣ "Write tests for the identified error cases"</a:t>
            </a:r>
          </a:p>
          <a:p>
            <a:pPr algn="l">
              <a:spcBef>
                <a:spcPts val="600"/>
              </a:spcBef>
              <a:defRPr sz="1200" b="0">
                <a:solidFill>
                  <a:srgbClr val="7EE787"/>
                </a:solidFill>
              </a:defRPr>
            </a:pPr>
            <a:r>
              <a:t>4️⃣ "Run tests and fix failures"</a:t>
            </a:r>
          </a:p>
          <a:p>
            <a:pPr algn="l">
              <a:spcBef>
                <a:spcPts val="600"/>
              </a:spcBef>
              <a:defRPr sz="600" b="0">
                <a:solidFill>
                  <a:srgbClr val="C8D6E5"/>
                </a:solidFill>
              </a:defRPr>
            </a:pPr>
            <a:endParaRPr/>
          </a:p>
          <a:p>
            <a:pPr algn="l">
              <a:spcBef>
                <a:spcPts val="600"/>
              </a:spcBef>
              <a:defRPr sz="1100" b="0">
                <a:solidFill>
                  <a:srgbClr val="A8B2D1"/>
                </a:solidFill>
              </a:defRPr>
            </a:pPr>
            <a:r>
              <a:t>→ Each step uses the output of the previous one</a:t>
            </a:r>
          </a:p>
        </p:txBody>
      </p:sp>
      <p:sp>
        <p:nvSpPr>
          <p:cNvPr id="6" name="TextBox 5"/>
          <p:cNvSpPr txBox="1"/>
          <p:nvPr/>
        </p:nvSpPr>
        <p:spPr>
          <a:xfrm>
            <a:off x="6217920" y="1097280"/>
            <a:ext cx="5303520" cy="365760"/>
          </a:xfrm>
          <a:prstGeom prst="rect">
            <a:avLst/>
          </a:prstGeom>
          <a:noFill/>
        </p:spPr>
        <p:txBody>
          <a:bodyPr wrap="square">
            <a:spAutoFit/>
          </a:bodyPr>
          <a:lstStyle/>
          <a:p>
            <a:pPr algn="l">
              <a:defRPr sz="1800" b="1">
                <a:solidFill>
                  <a:srgbClr val="2ED573"/>
                </a:solidFill>
              </a:defRPr>
            </a:pPr>
            <a:r>
              <a:t>🧠 Context Window</a:t>
            </a:r>
          </a:p>
        </p:txBody>
      </p:sp>
      <p:sp>
        <p:nvSpPr>
          <p:cNvPr id="7" name="Rounded Rectangle 6"/>
          <p:cNvSpPr/>
          <p:nvPr/>
        </p:nvSpPr>
        <p:spPr>
          <a:xfrm>
            <a:off x="6217920" y="1554480"/>
            <a:ext cx="5303520" cy="2011680"/>
          </a:xfrm>
          <a:prstGeom prst="roundRect">
            <a:avLst/>
          </a:prstGeom>
          <a:solidFill>
            <a:srgbClr val="0D1117"/>
          </a:solidFill>
          <a:ln w="1905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0" y="1645920"/>
            <a:ext cx="5029200" cy="1828800"/>
          </a:xfrm>
          <a:prstGeom prst="rect">
            <a:avLst/>
          </a:prstGeom>
          <a:noFill/>
        </p:spPr>
        <p:txBody>
          <a:bodyPr wrap="square">
            <a:spAutoFit/>
          </a:bodyPr>
          <a:lstStyle/>
          <a:p>
            <a:pPr algn="l">
              <a:defRPr sz="1200" b="0">
                <a:solidFill>
                  <a:srgbClr val="A8B2D1"/>
                </a:solidFill>
              </a:defRPr>
            </a:pPr>
            <a:r>
              <a:t>Manage the context window:</a:t>
            </a:r>
          </a:p>
          <a:p>
            <a:pPr algn="l">
              <a:spcBef>
                <a:spcPts val="600"/>
              </a:spcBef>
              <a:defRPr sz="600" b="0">
                <a:solidFill>
                  <a:srgbClr val="C8D6E5"/>
                </a:solidFill>
              </a:defRPr>
            </a:pPr>
            <a:endParaRPr/>
          </a:p>
          <a:p>
            <a:pPr algn="l">
              <a:spcBef>
                <a:spcPts val="600"/>
              </a:spcBef>
              <a:defRPr sz="1200" b="0">
                <a:solidFill>
                  <a:srgbClr val="FFFFFF"/>
                </a:solidFill>
              </a:defRPr>
            </a:pPr>
            <a:r>
              <a:t>⚡ New conversation if:</a:t>
            </a:r>
          </a:p>
          <a:p>
            <a:pPr algn="l">
              <a:spcBef>
                <a:spcPts val="600"/>
              </a:spcBef>
              <a:defRPr sz="1100" b="0">
                <a:solidFill>
                  <a:srgbClr val="C8D6E5"/>
                </a:solidFill>
              </a:defRPr>
            </a:pPr>
            <a:r>
              <a:t>   • Context polluted (too many errors)</a:t>
            </a:r>
          </a:p>
          <a:p>
            <a:pPr algn="l">
              <a:spcBef>
                <a:spcPts val="600"/>
              </a:spcBef>
              <a:defRPr sz="1100" b="0">
                <a:solidFill>
                  <a:srgbClr val="C8D6E5"/>
                </a:solidFill>
              </a:defRPr>
            </a:pPr>
            <a:r>
              <a:t>   • Topic change</a:t>
            </a:r>
          </a:p>
          <a:p>
            <a:pPr algn="l">
              <a:spcBef>
                <a:spcPts val="600"/>
              </a:spcBef>
              <a:defRPr sz="1100" b="0">
                <a:solidFill>
                  <a:srgbClr val="C8D6E5"/>
                </a:solidFill>
              </a:defRPr>
            </a:pPr>
            <a:r>
              <a:t>   • &gt;20 messages in the thread</a:t>
            </a:r>
          </a:p>
          <a:p>
            <a:pPr algn="l">
              <a:spcBef>
                <a:spcPts val="600"/>
              </a:spcBef>
              <a:defRPr sz="600" b="0">
                <a:solidFill>
                  <a:srgbClr val="C8D6E5"/>
                </a:solidFill>
              </a:defRPr>
            </a:pPr>
            <a:endParaRPr/>
          </a:p>
          <a:p>
            <a:pPr algn="l">
              <a:spcBef>
                <a:spcPts val="600"/>
              </a:spcBef>
              <a:defRPr sz="1200" b="0">
                <a:solidFill>
                  <a:srgbClr val="FFFFFF"/>
                </a:solidFill>
              </a:defRPr>
            </a:pPr>
            <a:r>
              <a:t>📎 Reference files:</a:t>
            </a:r>
          </a:p>
          <a:p>
            <a:pPr algn="l">
              <a:spcBef>
                <a:spcPts val="600"/>
              </a:spcBef>
              <a:defRPr sz="1100" b="0">
                <a:solidFill>
                  <a:srgbClr val="C8D6E5"/>
                </a:solidFill>
              </a:defRPr>
            </a:pPr>
            <a:r>
              <a:t>   • #file to include a file</a:t>
            </a:r>
          </a:p>
          <a:p>
            <a:pPr algn="l">
              <a:spcBef>
                <a:spcPts val="600"/>
              </a:spcBef>
              <a:defRPr sz="1100" b="0">
                <a:solidFill>
                  <a:srgbClr val="C8D6E5"/>
                </a:solidFill>
              </a:defRPr>
            </a:pPr>
            <a:r>
              <a:t>   • @workspace for the entire project</a:t>
            </a:r>
          </a:p>
        </p:txBody>
      </p:sp>
      <p:sp>
        <p:nvSpPr>
          <p:cNvPr id="9" name="TextBox 8"/>
          <p:cNvSpPr txBox="1"/>
          <p:nvPr/>
        </p:nvSpPr>
        <p:spPr>
          <a:xfrm>
            <a:off x="457200" y="3931920"/>
            <a:ext cx="10972800" cy="365760"/>
          </a:xfrm>
          <a:prstGeom prst="rect">
            <a:avLst/>
          </a:prstGeom>
          <a:noFill/>
        </p:spPr>
        <p:txBody>
          <a:bodyPr wrap="square">
            <a:spAutoFit/>
          </a:bodyPr>
          <a:lstStyle/>
          <a:p>
            <a:pPr algn="l">
              <a:defRPr sz="1800" b="1">
                <a:solidFill>
                  <a:srgbClr val="FFC107"/>
                </a:solidFill>
              </a:defRPr>
            </a:pPr>
            <a:r>
              <a:t>📝 Few-Shot Prompting — Show by example</a:t>
            </a:r>
          </a:p>
        </p:txBody>
      </p:sp>
      <p:sp>
        <p:nvSpPr>
          <p:cNvPr id="10" name="Rounded Rectangle 9"/>
          <p:cNvSpPr/>
          <p:nvPr/>
        </p:nvSpPr>
        <p:spPr>
          <a:xfrm>
            <a:off x="457200" y="4389120"/>
            <a:ext cx="10972800" cy="1828800"/>
          </a:xfrm>
          <a:prstGeom prst="roundRect">
            <a:avLst/>
          </a:prstGeom>
          <a:solidFill>
            <a:srgbClr val="0D1117"/>
          </a:solidFill>
          <a:ln w="1905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4480560"/>
            <a:ext cx="10515600" cy="1645920"/>
          </a:xfrm>
          <a:prstGeom prst="rect">
            <a:avLst/>
          </a:prstGeom>
          <a:noFill/>
        </p:spPr>
        <p:txBody>
          <a:bodyPr wrap="square">
            <a:spAutoFit/>
          </a:bodyPr>
          <a:lstStyle/>
          <a:p>
            <a:pPr algn="l">
              <a:defRPr sz="1200" b="0">
                <a:solidFill>
                  <a:srgbClr val="7EE787"/>
                </a:solidFill>
              </a:defRPr>
            </a:pPr>
            <a:r>
              <a:t>"Create a DELETE /notifications/:id endpoint following this pattern:</a:t>
            </a:r>
          </a:p>
          <a:p>
            <a:pPr algn="l">
              <a:spcBef>
                <a:spcPts val="600"/>
              </a:spcBef>
              <a:defRPr sz="600" b="0">
                <a:solidFill>
                  <a:srgbClr val="C8D6E5"/>
                </a:solidFill>
              </a:defRPr>
            </a:pPr>
            <a:endParaRPr/>
          </a:p>
          <a:p>
            <a:pPr algn="l">
              <a:spcBef>
                <a:spcPts val="600"/>
              </a:spcBef>
              <a:defRPr sz="1200" b="0">
                <a:solidFill>
                  <a:srgbClr val="7EE787"/>
                </a:solidFill>
              </a:defRPr>
            </a:pPr>
            <a:r>
              <a:t>Existing example (GET /notifications/:id):</a:t>
            </a:r>
          </a:p>
          <a:p>
            <a:pPr algn="l">
              <a:spcBef>
                <a:spcPts val="600"/>
              </a:spcBef>
              <a:defRPr sz="1200" b="0">
                <a:solidFill>
                  <a:srgbClr val="7EE787"/>
                </a:solidFill>
              </a:defRPr>
            </a:pPr>
            <a:r>
              <a:t>- ID validation → 404 if not found</a:t>
            </a:r>
          </a:p>
          <a:p>
            <a:pPr algn="l">
              <a:spcBef>
                <a:spcPts val="600"/>
              </a:spcBef>
              <a:defRPr sz="1200" b="0">
                <a:solidFill>
                  <a:srgbClr val="7EE787"/>
                </a:solidFill>
              </a:defRPr>
            </a:pPr>
            <a:r>
              <a:t>- Structured log with correlationId</a:t>
            </a:r>
          </a:p>
          <a:p>
            <a:pPr algn="l">
              <a:spcBef>
                <a:spcPts val="600"/>
              </a:spcBef>
              <a:defRPr sz="1200" b="0">
                <a:solidFill>
                  <a:srgbClr val="7EE787"/>
                </a:solidFill>
              </a:defRPr>
            </a:pPr>
            <a:r>
              <a:t>- Return 200 with the result"</a:t>
            </a:r>
          </a:p>
          <a:p>
            <a:pPr algn="l">
              <a:spcBef>
                <a:spcPts val="600"/>
              </a:spcBef>
              <a:defRPr sz="600" b="0">
                <a:solidFill>
                  <a:srgbClr val="C8D6E5"/>
                </a:solidFill>
              </a:defRPr>
            </a:pPr>
            <a:endParaRPr/>
          </a:p>
          <a:p>
            <a:pPr algn="l">
              <a:spcBef>
                <a:spcPts val="600"/>
              </a:spcBef>
              <a:defRPr sz="1100" b="0">
                <a:solidFill>
                  <a:srgbClr val="A8B2D1"/>
                </a:solidFill>
              </a:defRPr>
            </a:pPr>
            <a:r>
              <a:t>→ Copilot reproduces the existing pattern with perfect consistency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914400" y="1828800"/>
            <a:ext cx="10058400" cy="1097280"/>
          </a:xfrm>
          <a:prstGeom prst="rect">
            <a:avLst/>
          </a:prstGeom>
          <a:noFill/>
        </p:spPr>
        <p:txBody>
          <a:bodyPr wrap="square">
            <a:spAutoFit/>
          </a:bodyPr>
          <a:lstStyle/>
          <a:p>
            <a:pPr algn="ctr">
              <a:defRPr sz="4400" b="1">
                <a:solidFill>
                  <a:srgbClr val="FFFFFF"/>
                </a:solidFill>
              </a:defRPr>
            </a:pPr>
            <a:r>
              <a:t>🛠️ Live Demo</a:t>
            </a:r>
          </a:p>
        </p:txBody>
      </p:sp>
      <p:sp>
        <p:nvSpPr>
          <p:cNvPr id="3" name="TextBox 2"/>
          <p:cNvSpPr txBox="1"/>
          <p:nvPr/>
        </p:nvSpPr>
        <p:spPr>
          <a:xfrm>
            <a:off x="914400" y="3017520"/>
            <a:ext cx="10058400" cy="731520"/>
          </a:xfrm>
          <a:prstGeom prst="rect">
            <a:avLst/>
          </a:prstGeom>
          <a:noFill/>
        </p:spPr>
        <p:txBody>
          <a:bodyPr wrap="square">
            <a:spAutoFit/>
          </a:bodyPr>
          <a:lstStyle/>
          <a:p>
            <a:pPr algn="ctr">
              <a:defRPr sz="2200" b="0">
                <a:solidFill>
                  <a:srgbClr val="A8B2D1"/>
                </a:solidFill>
              </a:defRPr>
            </a:pPr>
            <a:r>
              <a:t>Notification Microservice — From Scratch</a:t>
            </a:r>
          </a:p>
        </p:txBody>
      </p:sp>
      <p:sp>
        <p:nvSpPr>
          <p:cNvPr id="4" name="TextBox 3"/>
          <p:cNvSpPr txBox="1"/>
          <p:nvPr/>
        </p:nvSpPr>
        <p:spPr>
          <a:xfrm>
            <a:off x="914400" y="4114800"/>
            <a:ext cx="10058400" cy="548640"/>
          </a:xfrm>
          <a:prstGeom prst="rect">
            <a:avLst/>
          </a:prstGeom>
          <a:noFill/>
        </p:spPr>
        <p:txBody>
          <a:bodyPr wrap="square">
            <a:spAutoFit/>
          </a:bodyPr>
          <a:lstStyle/>
          <a:p>
            <a:pPr algn="ctr">
              <a:defRPr sz="1600" b="0">
                <a:solidFill>
                  <a:srgbClr val="64748B"/>
                </a:solidFill>
              </a:defRPr>
            </a:pPr>
            <a:r>
              <a:t>Retry • Dead Letter Queue • Structured Logging • Tests</a:t>
            </a:r>
          </a:p>
        </p:txBody>
      </p:sp>
      <p:sp>
        <p:nvSpPr>
          <p:cNvPr id="5" name="Rounded Rectangle 4"/>
          <p:cNvSpPr/>
          <p:nvPr/>
        </p:nvSpPr>
        <p:spPr>
          <a:xfrm>
            <a:off x="1371600" y="5029200"/>
            <a:ext cx="2011680" cy="1097280"/>
          </a:xfrm>
          <a:prstGeom prst="roundRect">
            <a:avLst/>
          </a:prstGeom>
          <a:solidFill>
            <a:srgbClr val="16213E"/>
          </a:solidFill>
          <a:ln w="19050">
            <a:solidFill>
              <a:srgbClr val="E9456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E94560"/>
                </a:solidFill>
              </a:defRPr>
            </a:pPr>
            <a:r>
              <a:t>API</a:t>
            </a:r>
            <a:br/>
            <a:r>
              <a:t>POST /notify</a:t>
            </a:r>
          </a:p>
        </p:txBody>
      </p:sp>
      <p:sp>
        <p:nvSpPr>
          <p:cNvPr id="6" name="Rounded Rectangle 5"/>
          <p:cNvSpPr/>
          <p:nvPr/>
        </p:nvSpPr>
        <p:spPr>
          <a:xfrm>
            <a:off x="3657600" y="5029200"/>
            <a:ext cx="2011680" cy="1097280"/>
          </a:xfrm>
          <a:prstGeom prst="roundRect">
            <a:avLst/>
          </a:prstGeom>
          <a:solidFill>
            <a:srgbClr val="16213E"/>
          </a:solidFill>
          <a:ln w="19050">
            <a:solidFill>
              <a:srgbClr val="4FACF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4FACFE"/>
                </a:solidFill>
              </a:defRPr>
            </a:pPr>
            <a:r>
              <a:t>Queue</a:t>
            </a:r>
            <a:br/>
            <a:r>
              <a:t>Async processing</a:t>
            </a:r>
          </a:p>
        </p:txBody>
      </p:sp>
      <p:sp>
        <p:nvSpPr>
          <p:cNvPr id="7" name="Rounded Rectangle 6"/>
          <p:cNvSpPr/>
          <p:nvPr/>
        </p:nvSpPr>
        <p:spPr>
          <a:xfrm>
            <a:off x="5943600" y="5029200"/>
            <a:ext cx="2011680" cy="1097280"/>
          </a:xfrm>
          <a:prstGeom prst="roundRect">
            <a:avLst/>
          </a:prstGeom>
          <a:solidFill>
            <a:srgbClr val="16213E"/>
          </a:solidFill>
          <a:ln w="19050">
            <a:solidFill>
              <a:srgbClr val="2ED57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2ED573"/>
                </a:solidFill>
              </a:defRPr>
            </a:pPr>
            <a:r>
              <a:t>Channels</a:t>
            </a:r>
            <a:br/>
            <a:r>
              <a:t>📧 Email  💬 Slack</a:t>
            </a:r>
          </a:p>
        </p:txBody>
      </p:sp>
      <p:sp>
        <p:nvSpPr>
          <p:cNvPr id="8" name="Rounded Rectangle 7"/>
          <p:cNvSpPr/>
          <p:nvPr/>
        </p:nvSpPr>
        <p:spPr>
          <a:xfrm>
            <a:off x="8686800" y="5029200"/>
            <a:ext cx="2011680" cy="1097280"/>
          </a:xfrm>
          <a:prstGeom prst="roundRect">
            <a:avLst/>
          </a:prstGeom>
          <a:solidFill>
            <a:srgbClr val="16213E"/>
          </a:solidFill>
          <a:ln w="19050">
            <a:solidFill>
              <a:srgbClr val="FF6B6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FF6B6B"/>
                </a:solidFill>
              </a:defRPr>
            </a:pPr>
            <a:r>
              <a:t>Retry x3</a:t>
            </a:r>
            <a:br/>
            <a:r>
              <a:t>+ Dead Letter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square">
            <a:spAutoFit/>
          </a:bodyPr>
          <a:lstStyle/>
          <a:p>
            <a:pPr algn="l">
              <a:defRPr sz="3600" b="1">
                <a:solidFill>
                  <a:srgbClr val="E94560"/>
                </a:solidFill>
              </a:defRPr>
            </a:pPr>
            <a:r>
              <a:t>🎯 Why This Demo Matters</a:t>
            </a:r>
          </a:p>
        </p:txBody>
      </p:sp>
      <p:sp>
        <p:nvSpPr>
          <p:cNvPr id="3" name="Rounded Rectangle 2"/>
          <p:cNvSpPr/>
          <p:nvPr/>
        </p:nvSpPr>
        <p:spPr>
          <a:xfrm>
            <a:off x="457200" y="1371600"/>
            <a:ext cx="3474720" cy="2286000"/>
          </a:xfrm>
          <a:prstGeom prst="roundRect">
            <a:avLst/>
          </a:prstGeom>
          <a:solidFill>
            <a:srgbClr val="16213E"/>
          </a:solidFill>
          <a:ln w="1905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554480"/>
            <a:ext cx="3108960" cy="457200"/>
          </a:xfrm>
          <a:prstGeom prst="rect">
            <a:avLst/>
          </a:prstGeom>
          <a:noFill/>
        </p:spPr>
        <p:txBody>
          <a:bodyPr wrap="square">
            <a:spAutoFit/>
          </a:bodyPr>
          <a:lstStyle/>
          <a:p>
            <a:pPr algn="ctr">
              <a:defRPr sz="1800" b="1">
                <a:solidFill>
                  <a:srgbClr val="E94560"/>
                </a:solidFill>
              </a:defRPr>
            </a:pPr>
            <a:r>
              <a:t>🏢 Orange Use Cases</a:t>
            </a:r>
          </a:p>
        </p:txBody>
      </p:sp>
      <p:sp>
        <p:nvSpPr>
          <p:cNvPr id="5" name="TextBox 4"/>
          <p:cNvSpPr txBox="1"/>
          <p:nvPr/>
        </p:nvSpPr>
        <p:spPr>
          <a:xfrm>
            <a:off x="640080" y="2194560"/>
            <a:ext cx="3108960" cy="1371600"/>
          </a:xfrm>
          <a:prstGeom prst="rect">
            <a:avLst/>
          </a:prstGeom>
          <a:noFill/>
        </p:spPr>
        <p:txBody>
          <a:bodyPr wrap="square">
            <a:spAutoFit/>
          </a:bodyPr>
          <a:lstStyle/>
          <a:p>
            <a:pPr algn="ctr">
              <a:defRPr sz="1400" b="0">
                <a:solidFill>
                  <a:srgbClr val="A8B2D1"/>
                </a:solidFill>
              </a:defRPr>
            </a:pPr>
            <a:r>
              <a:t>Real microservice patterns</a:t>
            </a:r>
            <a:br/>
            <a:r>
              <a:t>we use daily — not a</a:t>
            </a:r>
            <a:br/>
            <a:r>
              <a:t>contrived example</a:t>
            </a:r>
          </a:p>
        </p:txBody>
      </p:sp>
      <p:sp>
        <p:nvSpPr>
          <p:cNvPr id="6" name="Rounded Rectangle 5"/>
          <p:cNvSpPr/>
          <p:nvPr/>
        </p:nvSpPr>
        <p:spPr>
          <a:xfrm>
            <a:off x="4114800" y="1371600"/>
            <a:ext cx="3474720" cy="2286000"/>
          </a:xfrm>
          <a:prstGeom prst="roundRect">
            <a:avLst/>
          </a:prstGeom>
          <a:solidFill>
            <a:srgbClr val="16213E"/>
          </a:solidFill>
          <a:ln w="1905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297680" y="1554480"/>
            <a:ext cx="3108960" cy="457200"/>
          </a:xfrm>
          <a:prstGeom prst="rect">
            <a:avLst/>
          </a:prstGeom>
          <a:noFill/>
        </p:spPr>
        <p:txBody>
          <a:bodyPr wrap="square">
            <a:spAutoFit/>
          </a:bodyPr>
          <a:lstStyle/>
          <a:p>
            <a:pPr algn="ctr">
              <a:defRPr sz="1800" b="1">
                <a:solidFill>
                  <a:srgbClr val="E94560"/>
                </a:solidFill>
              </a:defRPr>
            </a:pPr>
            <a:r>
              <a:t>⚡ Dev Acceleration</a:t>
            </a:r>
          </a:p>
        </p:txBody>
      </p:sp>
      <p:sp>
        <p:nvSpPr>
          <p:cNvPr id="8" name="TextBox 7"/>
          <p:cNvSpPr txBox="1"/>
          <p:nvPr/>
        </p:nvSpPr>
        <p:spPr>
          <a:xfrm>
            <a:off x="4297680" y="2194560"/>
            <a:ext cx="3108960" cy="1371600"/>
          </a:xfrm>
          <a:prstGeom prst="rect">
            <a:avLst/>
          </a:prstGeom>
          <a:noFill/>
        </p:spPr>
        <p:txBody>
          <a:bodyPr wrap="square">
            <a:spAutoFit/>
          </a:bodyPr>
          <a:lstStyle/>
          <a:p>
            <a:pPr algn="ctr">
              <a:defRPr sz="1400" b="0">
                <a:solidFill>
                  <a:srgbClr val="A8B2D1"/>
                </a:solidFill>
              </a:defRPr>
            </a:pPr>
            <a:r>
              <a:t>From prompt to working</a:t>
            </a:r>
            <a:br/>
            <a:r>
              <a:t>service in &lt;20 min with</a:t>
            </a:r>
            <a:br/>
            <a:r>
              <a:t>tests &amp; observability</a:t>
            </a:r>
          </a:p>
        </p:txBody>
      </p:sp>
      <p:sp>
        <p:nvSpPr>
          <p:cNvPr id="9" name="Rounded Rectangle 8"/>
          <p:cNvSpPr/>
          <p:nvPr/>
        </p:nvSpPr>
        <p:spPr>
          <a:xfrm>
            <a:off x="7772400" y="1371600"/>
            <a:ext cx="3474720" cy="2286000"/>
          </a:xfrm>
          <a:prstGeom prst="roundRect">
            <a:avLst/>
          </a:prstGeom>
          <a:solidFill>
            <a:srgbClr val="16213E"/>
          </a:solidFill>
          <a:ln w="1905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55280" y="1554480"/>
            <a:ext cx="3108960" cy="457200"/>
          </a:xfrm>
          <a:prstGeom prst="rect">
            <a:avLst/>
          </a:prstGeom>
          <a:noFill/>
        </p:spPr>
        <p:txBody>
          <a:bodyPr wrap="square">
            <a:spAutoFit/>
          </a:bodyPr>
          <a:lstStyle/>
          <a:p>
            <a:pPr algn="ctr">
              <a:defRPr sz="1800" b="1">
                <a:solidFill>
                  <a:srgbClr val="E94560"/>
                </a:solidFill>
              </a:defRPr>
            </a:pPr>
            <a:r>
              <a:t>📈 Business Value</a:t>
            </a:r>
          </a:p>
        </p:txBody>
      </p:sp>
      <p:sp>
        <p:nvSpPr>
          <p:cNvPr id="11" name="TextBox 10"/>
          <p:cNvSpPr txBox="1"/>
          <p:nvPr/>
        </p:nvSpPr>
        <p:spPr>
          <a:xfrm>
            <a:off x="7955280" y="2194560"/>
            <a:ext cx="3108960" cy="1371600"/>
          </a:xfrm>
          <a:prstGeom prst="rect">
            <a:avLst/>
          </a:prstGeom>
          <a:noFill/>
        </p:spPr>
        <p:txBody>
          <a:bodyPr wrap="square">
            <a:spAutoFit/>
          </a:bodyPr>
          <a:lstStyle/>
          <a:p>
            <a:pPr algn="ctr">
              <a:defRPr sz="1400" b="0">
                <a:solidFill>
                  <a:srgbClr val="A8B2D1"/>
                </a:solidFill>
              </a:defRPr>
            </a:pPr>
            <a:r>
              <a:t>Faster delivery, consistent</a:t>
            </a:r>
            <a:br/>
            <a:r>
              <a:t>quality, knowledge</a:t>
            </a:r>
            <a:br/>
            <a:r>
              <a:t>capitalization</a:t>
            </a:r>
          </a:p>
        </p:txBody>
      </p:sp>
      <p:sp>
        <p:nvSpPr>
          <p:cNvPr id="12" name="Rounded Rectangle 11"/>
          <p:cNvSpPr/>
          <p:nvPr/>
        </p:nvSpPr>
        <p:spPr>
          <a:xfrm>
            <a:off x="457200" y="4114800"/>
            <a:ext cx="10972800" cy="1097280"/>
          </a:xfrm>
          <a:prstGeom prst="roundRect">
            <a:avLst/>
          </a:prstGeom>
          <a:solidFill>
            <a:srgbClr val="0F1F3A"/>
          </a:solidFill>
          <a:ln w="19050">
            <a:solidFill>
              <a:srgbClr val="4FACF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a:solidFill>
                  <a:srgbClr val="4FACFE"/>
                </a:solidFill>
              </a:defRPr>
            </a:pPr>
            <a:r>
              <a:t>💡 Key insight: We describe the WHAT (architecture), Copilot handles the HOW (implementation).</a:t>
            </a:r>
            <a:br/>
            <a:r>
              <a:t>This is not just code generation — it's workflow automation.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square">
            <a:spAutoFit/>
          </a:bodyPr>
          <a:lstStyle/>
          <a:p>
            <a:pPr algn="l">
              <a:defRPr sz="3600" b="1">
                <a:solidFill>
                  <a:srgbClr val="E94560"/>
                </a:solidFill>
              </a:defRPr>
            </a:pPr>
            <a:r>
              <a:t>🏗️ Architecture Overview</a:t>
            </a:r>
          </a:p>
        </p:txBody>
      </p:sp>
      <p:sp>
        <p:nvSpPr>
          <p:cNvPr id="3" name="Rounded Rectangle 2"/>
          <p:cNvSpPr/>
          <p:nvPr/>
        </p:nvSpPr>
        <p:spPr>
          <a:xfrm>
            <a:off x="457200" y="1188720"/>
            <a:ext cx="10972800" cy="1097280"/>
          </a:xfrm>
          <a:prstGeom prst="roundRect">
            <a:avLst/>
          </a:prstGeom>
          <a:solidFill>
            <a:srgbClr val="1F1525"/>
          </a:solidFill>
          <a:ln w="19050">
            <a:solidFill>
              <a:srgbClr val="E945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280160"/>
            <a:ext cx="5486400" cy="365760"/>
          </a:xfrm>
          <a:prstGeom prst="rect">
            <a:avLst/>
          </a:prstGeom>
          <a:noFill/>
        </p:spPr>
        <p:txBody>
          <a:bodyPr wrap="square">
            <a:spAutoFit/>
          </a:bodyPr>
          <a:lstStyle/>
          <a:p>
            <a:pPr algn="l">
              <a:defRPr sz="1400" b="1">
                <a:solidFill>
                  <a:srgbClr val="E94560"/>
                </a:solidFill>
              </a:defRPr>
            </a:pPr>
            <a:r>
              <a:t>📁 .github/ — Copilot Context Layer</a:t>
            </a:r>
          </a:p>
        </p:txBody>
      </p:sp>
      <p:sp>
        <p:nvSpPr>
          <p:cNvPr id="5" name="TextBox 4"/>
          <p:cNvSpPr txBox="1"/>
          <p:nvPr/>
        </p:nvSpPr>
        <p:spPr>
          <a:xfrm>
            <a:off x="731520" y="1645920"/>
            <a:ext cx="9144000" cy="457200"/>
          </a:xfrm>
          <a:prstGeom prst="rect">
            <a:avLst/>
          </a:prstGeom>
          <a:noFill/>
        </p:spPr>
        <p:txBody>
          <a:bodyPr wrap="square">
            <a:spAutoFit/>
          </a:bodyPr>
          <a:lstStyle/>
          <a:p>
            <a:pPr algn="l">
              <a:defRPr sz="1200" b="0">
                <a:solidFill>
                  <a:srgbClr val="A8B2D1"/>
                </a:solidFill>
              </a:defRPr>
            </a:pPr>
            <a:r>
              <a:t>copilot-instructions.md  •  prompts/create-api.prompt.md</a:t>
            </a:r>
          </a:p>
        </p:txBody>
      </p:sp>
      <p:sp>
        <p:nvSpPr>
          <p:cNvPr id="6" name="TextBox 5"/>
          <p:cNvSpPr txBox="1"/>
          <p:nvPr/>
        </p:nvSpPr>
        <p:spPr>
          <a:xfrm>
            <a:off x="731520" y="2560320"/>
            <a:ext cx="5486400" cy="365760"/>
          </a:xfrm>
          <a:prstGeom prst="rect">
            <a:avLst/>
          </a:prstGeom>
          <a:noFill/>
        </p:spPr>
        <p:txBody>
          <a:bodyPr wrap="square">
            <a:spAutoFit/>
          </a:bodyPr>
          <a:lstStyle/>
          <a:p>
            <a:pPr algn="l">
              <a:defRPr sz="1400" b="1">
                <a:solidFill>
                  <a:srgbClr val="4FACFE"/>
                </a:solidFill>
              </a:defRPr>
            </a:pPr>
            <a:r>
              <a:t>📦 src/ — Application Layer</a:t>
            </a:r>
          </a:p>
        </p:txBody>
      </p:sp>
      <p:sp>
        <p:nvSpPr>
          <p:cNvPr id="7" name="Rounded Rectangle 6"/>
          <p:cNvSpPr/>
          <p:nvPr/>
        </p:nvSpPr>
        <p:spPr>
          <a:xfrm>
            <a:off x="457200" y="3108960"/>
            <a:ext cx="2560320" cy="1645920"/>
          </a:xfrm>
          <a:prstGeom prst="roundRect">
            <a:avLst/>
          </a:prstGeom>
          <a:solidFill>
            <a:srgbClr val="16213E"/>
          </a:solidFill>
          <a:ln w="19050">
            <a:solidFill>
              <a:srgbClr val="E945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3200400"/>
            <a:ext cx="2194560" cy="365760"/>
          </a:xfrm>
          <a:prstGeom prst="rect">
            <a:avLst/>
          </a:prstGeom>
          <a:noFill/>
        </p:spPr>
        <p:txBody>
          <a:bodyPr wrap="square">
            <a:spAutoFit/>
          </a:bodyPr>
          <a:lstStyle/>
          <a:p>
            <a:pPr algn="ctr">
              <a:defRPr sz="1400" b="1">
                <a:solidFill>
                  <a:srgbClr val="E94560"/>
                </a:solidFill>
              </a:defRPr>
            </a:pPr>
            <a:r>
              <a:t>routes/</a:t>
            </a:r>
          </a:p>
        </p:txBody>
      </p:sp>
      <p:sp>
        <p:nvSpPr>
          <p:cNvPr id="9" name="TextBox 8"/>
          <p:cNvSpPr txBox="1"/>
          <p:nvPr/>
        </p:nvSpPr>
        <p:spPr>
          <a:xfrm>
            <a:off x="640080" y="3611880"/>
            <a:ext cx="2194560" cy="914400"/>
          </a:xfrm>
          <a:prstGeom prst="rect">
            <a:avLst/>
          </a:prstGeom>
          <a:noFill/>
        </p:spPr>
        <p:txBody>
          <a:bodyPr wrap="square">
            <a:spAutoFit/>
          </a:bodyPr>
          <a:lstStyle/>
          <a:p>
            <a:pPr algn="ctr">
              <a:defRPr sz="1100" b="0">
                <a:solidFill>
                  <a:srgbClr val="A8B2D1"/>
                </a:solidFill>
              </a:defRPr>
            </a:pPr>
            <a:r>
              <a:t>POST /notifications</a:t>
            </a:r>
            <a:br/>
            <a:r>
              <a:t>GET /health • GET /:id</a:t>
            </a:r>
          </a:p>
        </p:txBody>
      </p:sp>
      <p:sp>
        <p:nvSpPr>
          <p:cNvPr id="10" name="Rounded Rectangle 9"/>
          <p:cNvSpPr/>
          <p:nvPr/>
        </p:nvSpPr>
        <p:spPr>
          <a:xfrm>
            <a:off x="3200400" y="3108960"/>
            <a:ext cx="2560320" cy="1645920"/>
          </a:xfrm>
          <a:prstGeom prst="roundRect">
            <a:avLst/>
          </a:prstGeom>
          <a:solidFill>
            <a:srgbClr val="16213E"/>
          </a:solidFill>
          <a:ln w="19050">
            <a:solidFill>
              <a:srgbClr val="4FAC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83280" y="3200400"/>
            <a:ext cx="2194560" cy="365760"/>
          </a:xfrm>
          <a:prstGeom prst="rect">
            <a:avLst/>
          </a:prstGeom>
          <a:noFill/>
        </p:spPr>
        <p:txBody>
          <a:bodyPr wrap="square">
            <a:spAutoFit/>
          </a:bodyPr>
          <a:lstStyle/>
          <a:p>
            <a:pPr algn="ctr">
              <a:defRPr sz="1400" b="1">
                <a:solidFill>
                  <a:srgbClr val="4FACFE"/>
                </a:solidFill>
              </a:defRPr>
            </a:pPr>
            <a:r>
              <a:t>queue/</a:t>
            </a:r>
          </a:p>
        </p:txBody>
      </p:sp>
      <p:sp>
        <p:nvSpPr>
          <p:cNvPr id="12" name="TextBox 11"/>
          <p:cNvSpPr txBox="1"/>
          <p:nvPr/>
        </p:nvSpPr>
        <p:spPr>
          <a:xfrm>
            <a:off x="3383280" y="3611880"/>
            <a:ext cx="2194560" cy="914400"/>
          </a:xfrm>
          <a:prstGeom prst="rect">
            <a:avLst/>
          </a:prstGeom>
          <a:noFill/>
        </p:spPr>
        <p:txBody>
          <a:bodyPr wrap="square">
            <a:spAutoFit/>
          </a:bodyPr>
          <a:lstStyle/>
          <a:p>
            <a:pPr algn="ctr">
              <a:defRPr sz="1100" b="0">
                <a:solidFill>
                  <a:srgbClr val="A8B2D1"/>
                </a:solidFill>
              </a:defRPr>
            </a:pPr>
            <a:r>
              <a:t>Async processing</a:t>
            </a:r>
            <a:br/>
            <a:r>
              <a:t>Retry + Dead Letter</a:t>
            </a:r>
          </a:p>
        </p:txBody>
      </p:sp>
      <p:sp>
        <p:nvSpPr>
          <p:cNvPr id="13" name="Rounded Rectangle 12"/>
          <p:cNvSpPr/>
          <p:nvPr/>
        </p:nvSpPr>
        <p:spPr>
          <a:xfrm>
            <a:off x="5943600" y="3108960"/>
            <a:ext cx="2560320" cy="1645920"/>
          </a:xfrm>
          <a:prstGeom prst="roundRect">
            <a:avLst/>
          </a:prstGeom>
          <a:solidFill>
            <a:srgbClr val="16213E"/>
          </a:solidFill>
          <a:ln w="19050">
            <a:solidFill>
              <a:srgbClr val="2ED5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0" y="3200400"/>
            <a:ext cx="2194560" cy="365760"/>
          </a:xfrm>
          <a:prstGeom prst="rect">
            <a:avLst/>
          </a:prstGeom>
          <a:noFill/>
        </p:spPr>
        <p:txBody>
          <a:bodyPr wrap="square">
            <a:spAutoFit/>
          </a:bodyPr>
          <a:lstStyle/>
          <a:p>
            <a:pPr algn="ctr">
              <a:defRPr sz="1400" b="1">
                <a:solidFill>
                  <a:srgbClr val="2ED573"/>
                </a:solidFill>
              </a:defRPr>
            </a:pPr>
            <a:r>
              <a:t>channels/</a:t>
            </a:r>
          </a:p>
        </p:txBody>
      </p:sp>
      <p:sp>
        <p:nvSpPr>
          <p:cNvPr id="15" name="TextBox 14"/>
          <p:cNvSpPr txBox="1"/>
          <p:nvPr/>
        </p:nvSpPr>
        <p:spPr>
          <a:xfrm>
            <a:off x="6126480" y="3611880"/>
            <a:ext cx="2194560" cy="914400"/>
          </a:xfrm>
          <a:prstGeom prst="rect">
            <a:avLst/>
          </a:prstGeom>
          <a:noFill/>
        </p:spPr>
        <p:txBody>
          <a:bodyPr wrap="square">
            <a:spAutoFit/>
          </a:bodyPr>
          <a:lstStyle/>
          <a:p>
            <a:pPr algn="ctr">
              <a:defRPr sz="1100" b="0">
                <a:solidFill>
                  <a:srgbClr val="A8B2D1"/>
                </a:solidFill>
              </a:defRPr>
            </a:pPr>
            <a:r>
              <a:t>email.ts • slack.ts</a:t>
            </a:r>
            <a:br/>
            <a:r>
              <a:t>Simulated senders</a:t>
            </a:r>
          </a:p>
        </p:txBody>
      </p:sp>
      <p:sp>
        <p:nvSpPr>
          <p:cNvPr id="16" name="Rounded Rectangle 15"/>
          <p:cNvSpPr/>
          <p:nvPr/>
        </p:nvSpPr>
        <p:spPr>
          <a:xfrm>
            <a:off x="8686800" y="3108960"/>
            <a:ext cx="2560320" cy="1645920"/>
          </a:xfrm>
          <a:prstGeom prst="roundRect">
            <a:avLst/>
          </a:prstGeom>
          <a:solidFill>
            <a:srgbClr val="16213E"/>
          </a:solidFill>
          <a:ln w="19050">
            <a:solidFill>
              <a:srgbClr val="FFC10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869680" y="3200400"/>
            <a:ext cx="2194560" cy="365760"/>
          </a:xfrm>
          <a:prstGeom prst="rect">
            <a:avLst/>
          </a:prstGeom>
          <a:noFill/>
        </p:spPr>
        <p:txBody>
          <a:bodyPr wrap="square">
            <a:spAutoFit/>
          </a:bodyPr>
          <a:lstStyle/>
          <a:p>
            <a:pPr algn="ctr">
              <a:defRPr sz="1400" b="1">
                <a:solidFill>
                  <a:srgbClr val="FFC107"/>
                </a:solidFill>
              </a:defRPr>
            </a:pPr>
            <a:r>
              <a:t>middleware/</a:t>
            </a:r>
          </a:p>
        </p:txBody>
      </p:sp>
      <p:sp>
        <p:nvSpPr>
          <p:cNvPr id="18" name="TextBox 17"/>
          <p:cNvSpPr txBox="1"/>
          <p:nvPr/>
        </p:nvSpPr>
        <p:spPr>
          <a:xfrm>
            <a:off x="8869680" y="3611880"/>
            <a:ext cx="2194560" cy="914400"/>
          </a:xfrm>
          <a:prstGeom prst="rect">
            <a:avLst/>
          </a:prstGeom>
          <a:noFill/>
        </p:spPr>
        <p:txBody>
          <a:bodyPr wrap="square">
            <a:spAutoFit/>
          </a:bodyPr>
          <a:lstStyle/>
          <a:p>
            <a:pPr algn="ctr">
              <a:defRPr sz="1100" b="0">
                <a:solidFill>
                  <a:srgbClr val="A8B2D1"/>
                </a:solidFill>
              </a:defRPr>
            </a:pPr>
            <a:r>
              <a:t>Structured JSON</a:t>
            </a:r>
            <a:br/>
            <a:r>
              <a:t>logging</a:t>
            </a:r>
          </a:p>
        </p:txBody>
      </p:sp>
      <p:sp>
        <p:nvSpPr>
          <p:cNvPr id="19" name="Rounded Rectangle 18"/>
          <p:cNvSpPr/>
          <p:nvPr/>
        </p:nvSpPr>
        <p:spPr>
          <a:xfrm>
            <a:off x="457200" y="5120640"/>
            <a:ext cx="7315200" cy="640080"/>
          </a:xfrm>
          <a:prstGeom prst="roundRect">
            <a:avLst/>
          </a:prstGeom>
          <a:solidFill>
            <a:srgbClr val="12251A"/>
          </a:solidFill>
          <a:ln w="19050">
            <a:solidFill>
              <a:srgbClr val="2ED57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a:solidFill>
                  <a:srgbClr val="2ED573"/>
                </a:solidFill>
              </a:defRPr>
            </a:pPr>
            <a:r>
              <a:t>🧪 tests/ — Jest + Supertest (notifications.test.ts • retry.test.ts)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square">
            <a:spAutoFit/>
          </a:bodyPr>
          <a:lstStyle/>
          <a:p>
            <a:pPr algn="l">
              <a:defRPr sz="3600" b="1">
                <a:solidFill>
                  <a:srgbClr val="E94560"/>
                </a:solidFill>
              </a:defRPr>
            </a:pPr>
            <a:r>
              <a:t>① Bootstrap — One Prompt</a:t>
            </a:r>
          </a:p>
        </p:txBody>
      </p:sp>
      <p:sp>
        <p:nvSpPr>
          <p:cNvPr id="3" name="Rounded Rectangle 2"/>
          <p:cNvSpPr/>
          <p:nvPr/>
        </p:nvSpPr>
        <p:spPr>
          <a:xfrm>
            <a:off x="457200" y="1371600"/>
            <a:ext cx="10972800" cy="3200400"/>
          </a:xfrm>
          <a:prstGeom prst="roundRect">
            <a:avLst/>
          </a:prstGeom>
          <a:solidFill>
            <a:srgbClr val="0D1117"/>
          </a:solidFill>
          <a:ln w="1905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554480"/>
            <a:ext cx="10515600" cy="2926080"/>
          </a:xfrm>
          <a:prstGeom prst="rect">
            <a:avLst/>
          </a:prstGeom>
          <a:noFill/>
        </p:spPr>
        <p:txBody>
          <a:bodyPr wrap="square">
            <a:spAutoFit/>
          </a:bodyPr>
          <a:lstStyle/>
          <a:p>
            <a:pPr algn="l">
              <a:defRPr sz="1600" b="0">
                <a:solidFill>
                  <a:srgbClr val="7EE787"/>
                </a:solidFill>
              </a:defRPr>
            </a:pPr>
            <a:r>
              <a:t>"Create a Node.js TypeScript notification microservice with:"</a:t>
            </a:r>
          </a:p>
          <a:p>
            <a:pPr algn="l">
              <a:spcBef>
                <a:spcPts val="600"/>
              </a:spcBef>
              <a:defRPr sz="1000" b="0">
                <a:solidFill>
                  <a:srgbClr val="C8D6E5"/>
                </a:solidFill>
              </a:defRPr>
            </a:pPr>
            <a:endParaRPr/>
          </a:p>
          <a:p>
            <a:pPr algn="l">
              <a:spcBef>
                <a:spcPts val="600"/>
              </a:spcBef>
              <a:defRPr sz="1400" b="0">
                <a:solidFill>
                  <a:srgbClr val="7EE787"/>
                </a:solidFill>
              </a:defRPr>
            </a:pPr>
            <a:r>
              <a:t>•  Express API with POST /notifications, GET /:id, GET /health</a:t>
            </a:r>
          </a:p>
          <a:p>
            <a:pPr algn="l">
              <a:spcBef>
                <a:spcPts val="600"/>
              </a:spcBef>
              <a:defRPr sz="1400" b="0">
                <a:solidFill>
                  <a:srgbClr val="7EE787"/>
                </a:solidFill>
              </a:defRPr>
            </a:pPr>
            <a:r>
              <a:t>•  In-memory async queue for processing</a:t>
            </a:r>
          </a:p>
          <a:p>
            <a:pPr algn="l">
              <a:spcBef>
                <a:spcPts val="600"/>
              </a:spcBef>
              <a:defRPr sz="1400" b="0">
                <a:solidFill>
                  <a:srgbClr val="7EE787"/>
                </a:solidFill>
              </a:defRPr>
            </a:pPr>
            <a:r>
              <a:t>•  Two channels: email and slack (simulated)</a:t>
            </a:r>
          </a:p>
          <a:p>
            <a:pPr algn="l">
              <a:spcBef>
                <a:spcPts val="600"/>
              </a:spcBef>
              <a:defRPr sz="1400" b="0">
                <a:solidFill>
                  <a:srgbClr val="7EE787"/>
                </a:solidFill>
              </a:defRPr>
            </a:pPr>
            <a:r>
              <a:t>•  Structured JSON logging with correlationId</a:t>
            </a:r>
          </a:p>
          <a:p>
            <a:pPr algn="l">
              <a:spcBef>
                <a:spcPts val="600"/>
              </a:spcBef>
              <a:defRPr sz="1400" b="0">
                <a:solidFill>
                  <a:srgbClr val="7EE787"/>
                </a:solidFill>
              </a:defRPr>
            </a:pPr>
            <a:r>
              <a:t>•  Structure: src/routes/, src/queue/, src/channels/, src/middleware/"</a:t>
            </a:r>
          </a:p>
        </p:txBody>
      </p:sp>
      <p:sp>
        <p:nvSpPr>
          <p:cNvPr id="5" name="Rounded Rectangle 4"/>
          <p:cNvSpPr/>
          <p:nvPr/>
        </p:nvSpPr>
        <p:spPr>
          <a:xfrm>
            <a:off x="457200" y="5029200"/>
            <a:ext cx="10972800" cy="731520"/>
          </a:xfrm>
          <a:prstGeom prst="roundRect">
            <a:avLst/>
          </a:prstGeom>
          <a:solidFill>
            <a:srgbClr val="12251A"/>
          </a:solidFill>
          <a:ln w="19050">
            <a:solidFill>
              <a:srgbClr val="2ED57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a:solidFill>
                  <a:srgbClr val="2ED573"/>
                </a:solidFill>
              </a:defRPr>
            </a:pPr>
            <a:r>
              <a:t>🎯 We describe the ARCHITECTURE, not the code. Copilot understands microservice patterns.</a:t>
            </a:r>
          </a:p>
        </p:txBody>
      </p:sp>
      <p:sp>
        <p:nvSpPr>
          <p:cNvPr id="6" name="TextBox 5"/>
          <p:cNvSpPr txBox="1"/>
          <p:nvPr/>
        </p:nvSpPr>
        <p:spPr>
          <a:xfrm>
            <a:off x="457200" y="5943600"/>
            <a:ext cx="10972800" cy="457200"/>
          </a:xfrm>
          <a:prstGeom prst="rect">
            <a:avLst/>
          </a:prstGeom>
          <a:noFill/>
        </p:spPr>
        <p:txBody>
          <a:bodyPr wrap="square">
            <a:spAutoFit/>
          </a:bodyPr>
          <a:lstStyle/>
          <a:p>
            <a:pPr algn="ctr">
              <a:defRPr sz="1300" b="0">
                <a:solidFill>
                  <a:srgbClr val="64748B"/>
                </a:solidFill>
              </a:defRPr>
            </a:pPr>
            <a:r>
              <a:t>⏱️ ~30 seconds → complete microservice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square">
            <a:spAutoFit/>
          </a:bodyPr>
          <a:lstStyle/>
          <a:p>
            <a:pPr algn="l">
              <a:defRPr sz="3600" b="1">
                <a:solidFill>
                  <a:srgbClr val="E94560"/>
                </a:solidFill>
              </a:defRPr>
            </a:pPr>
            <a:r>
              <a:t>② Retry + Dead Letter Queue</a:t>
            </a:r>
          </a:p>
        </p:txBody>
      </p:sp>
      <p:sp>
        <p:nvSpPr>
          <p:cNvPr id="3" name="Rounded Rectangle 2"/>
          <p:cNvSpPr/>
          <p:nvPr/>
        </p:nvSpPr>
        <p:spPr>
          <a:xfrm>
            <a:off x="457200" y="1188720"/>
            <a:ext cx="5029200" cy="2743200"/>
          </a:xfrm>
          <a:prstGeom prst="roundRect">
            <a:avLst/>
          </a:prstGeom>
          <a:solidFill>
            <a:srgbClr val="0D1117"/>
          </a:solidFill>
          <a:ln w="1905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4572000" cy="2560320"/>
          </a:xfrm>
          <a:prstGeom prst="rect">
            <a:avLst/>
          </a:prstGeom>
          <a:noFill/>
        </p:spPr>
        <p:txBody>
          <a:bodyPr wrap="square">
            <a:spAutoFit/>
          </a:bodyPr>
          <a:lstStyle/>
          <a:p>
            <a:pPr algn="l">
              <a:defRPr sz="1400" b="0">
                <a:solidFill>
                  <a:srgbClr val="7EE787"/>
                </a:solidFill>
              </a:defRPr>
            </a:pPr>
            <a:r>
              <a:t>"Add retry mechanism:"</a:t>
            </a:r>
          </a:p>
          <a:p>
            <a:pPr algn="l">
              <a:spcBef>
                <a:spcPts val="600"/>
              </a:spcBef>
              <a:defRPr sz="1300" b="0">
                <a:solidFill>
                  <a:srgbClr val="7EE787"/>
                </a:solidFill>
              </a:defRPr>
            </a:pPr>
            <a:r>
              <a:t>• 3 attempts, exponential backoff</a:t>
            </a:r>
          </a:p>
          <a:p>
            <a:pPr algn="l">
              <a:spcBef>
                <a:spcPts val="600"/>
              </a:spcBef>
              <a:defRPr sz="1300" b="0">
                <a:solidFill>
                  <a:srgbClr val="7EE787"/>
                </a:solidFill>
              </a:defRPr>
            </a:pPr>
            <a:r>
              <a:t>• After 3 fails → dead letter queue</a:t>
            </a:r>
          </a:p>
          <a:p>
            <a:pPr algn="l">
              <a:spcBef>
                <a:spcPts val="600"/>
              </a:spcBef>
              <a:defRPr sz="1300" b="0">
                <a:solidFill>
                  <a:srgbClr val="7EE787"/>
                </a:solidFill>
              </a:defRPr>
            </a:pPr>
            <a:r>
              <a:t>• GET /dead-letter endpoint</a:t>
            </a:r>
          </a:p>
          <a:p>
            <a:pPr algn="l">
              <a:spcBef>
                <a:spcPts val="600"/>
              </a:spcBef>
              <a:defRPr sz="1300" b="0">
                <a:solidFill>
                  <a:srgbClr val="7EE787"/>
                </a:solidFill>
              </a:defRPr>
            </a:pPr>
            <a:r>
              <a:t>• Email fails 30% randomly</a:t>
            </a:r>
          </a:p>
        </p:txBody>
      </p:sp>
      <p:sp>
        <p:nvSpPr>
          <p:cNvPr id="5" name="Rounded Rectangle 4"/>
          <p:cNvSpPr/>
          <p:nvPr/>
        </p:nvSpPr>
        <p:spPr>
          <a:xfrm>
            <a:off x="6400800" y="1188720"/>
            <a:ext cx="1828800" cy="731520"/>
          </a:xfrm>
          <a:prstGeom prst="roundRect">
            <a:avLst/>
          </a:prstGeom>
          <a:solidFill>
            <a:srgbClr val="16213E"/>
          </a:solidFill>
          <a:ln w="19050">
            <a:solidFill>
              <a:srgbClr val="4FACF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a:solidFill>
                  <a:srgbClr val="4FACFE"/>
                </a:solidFill>
              </a:defRPr>
            </a:pPr>
            <a:r>
              <a:t>Send</a:t>
            </a:r>
          </a:p>
        </p:txBody>
      </p:sp>
      <p:sp>
        <p:nvSpPr>
          <p:cNvPr id="6" name="Rounded Rectangle 5"/>
          <p:cNvSpPr/>
          <p:nvPr/>
        </p:nvSpPr>
        <p:spPr>
          <a:xfrm>
            <a:off x="9144000" y="1188720"/>
            <a:ext cx="1828800" cy="731520"/>
          </a:xfrm>
          <a:prstGeom prst="roundRect">
            <a:avLst/>
          </a:prstGeom>
          <a:solidFill>
            <a:srgbClr val="16213E"/>
          </a:solidFill>
          <a:ln w="19050">
            <a:solidFill>
              <a:srgbClr val="2ED57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a:solidFill>
                  <a:srgbClr val="2ED573"/>
                </a:solidFill>
              </a:defRPr>
            </a:pPr>
            <a:r>
              <a:t>✓ Done</a:t>
            </a:r>
          </a:p>
        </p:txBody>
      </p:sp>
      <p:sp>
        <p:nvSpPr>
          <p:cNvPr id="7" name="TextBox 6"/>
          <p:cNvSpPr txBox="1"/>
          <p:nvPr/>
        </p:nvSpPr>
        <p:spPr>
          <a:xfrm>
            <a:off x="6400800" y="2286000"/>
            <a:ext cx="4572000" cy="365760"/>
          </a:xfrm>
          <a:prstGeom prst="rect">
            <a:avLst/>
          </a:prstGeom>
          <a:noFill/>
        </p:spPr>
        <p:txBody>
          <a:bodyPr wrap="square">
            <a:spAutoFit/>
          </a:bodyPr>
          <a:lstStyle/>
          <a:p>
            <a:pPr algn="l">
              <a:defRPr sz="1300" b="0">
                <a:solidFill>
                  <a:srgbClr val="FF6B6B"/>
                </a:solidFill>
              </a:defRPr>
            </a:pPr>
            <a:r>
              <a:t>↻ Retry: 1s → 2s → 4s (backoff)</a:t>
            </a:r>
          </a:p>
        </p:txBody>
      </p:sp>
      <p:sp>
        <p:nvSpPr>
          <p:cNvPr id="8" name="Rounded Rectangle 7"/>
          <p:cNvSpPr/>
          <p:nvPr/>
        </p:nvSpPr>
        <p:spPr>
          <a:xfrm>
            <a:off x="6400800" y="2926080"/>
            <a:ext cx="3200400" cy="822960"/>
          </a:xfrm>
          <a:prstGeom prst="roundRect">
            <a:avLst/>
          </a:prstGeom>
          <a:solidFill>
            <a:srgbClr val="251515"/>
          </a:solidFill>
          <a:ln w="19050">
            <a:solidFill>
              <a:srgbClr val="FF6B6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FF6B6B"/>
                </a:solidFill>
              </a:defRPr>
            </a:pPr>
            <a:r>
              <a:t>💀 Dead Letter Queue</a:t>
            </a:r>
            <a:br/>
            <a:r>
              <a:t>After 3 failures</a:t>
            </a:r>
          </a:p>
        </p:txBody>
      </p:sp>
      <p:sp>
        <p:nvSpPr>
          <p:cNvPr id="9" name="Rounded Rectangle 8"/>
          <p:cNvSpPr/>
          <p:nvPr/>
        </p:nvSpPr>
        <p:spPr>
          <a:xfrm>
            <a:off x="457200" y="4572000"/>
            <a:ext cx="10972800" cy="731520"/>
          </a:xfrm>
          <a:prstGeom prst="roundRect">
            <a:avLst/>
          </a:prstGeom>
          <a:solidFill>
            <a:srgbClr val="0F1F3A"/>
          </a:solidFill>
          <a:ln w="19050">
            <a:solidFill>
              <a:srgbClr val="4FACF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a:solidFill>
                  <a:srgbClr val="4FACFE"/>
                </a:solidFill>
              </a:defRPr>
            </a:pPr>
            <a:r>
              <a:t>💡 No rewriting. Copilot modifies existing code with full project context.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square">
            <a:spAutoFit/>
          </a:bodyPr>
          <a:lstStyle/>
          <a:p>
            <a:pPr algn="l">
              <a:defRPr sz="3600" b="1">
                <a:solidFill>
                  <a:srgbClr val="E94560"/>
                </a:solidFill>
              </a:defRPr>
            </a:pPr>
            <a:r>
              <a:t>③ Automated Tests</a:t>
            </a:r>
          </a:p>
        </p:txBody>
      </p:sp>
      <p:sp>
        <p:nvSpPr>
          <p:cNvPr id="3" name="Rounded Rectangle 2"/>
          <p:cNvSpPr/>
          <p:nvPr/>
        </p:nvSpPr>
        <p:spPr>
          <a:xfrm>
            <a:off x="457200" y="1371600"/>
            <a:ext cx="2560320" cy="1645920"/>
          </a:xfrm>
          <a:prstGeom prst="roundRect">
            <a:avLst/>
          </a:prstGeom>
          <a:solidFill>
            <a:srgbClr val="16213E"/>
          </a:solidFill>
          <a:ln w="19050">
            <a:solidFill>
              <a:srgbClr val="2ED5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554480"/>
            <a:ext cx="2194560" cy="457200"/>
          </a:xfrm>
          <a:prstGeom prst="rect">
            <a:avLst/>
          </a:prstGeom>
          <a:noFill/>
        </p:spPr>
        <p:txBody>
          <a:bodyPr wrap="square">
            <a:spAutoFit/>
          </a:bodyPr>
          <a:lstStyle/>
          <a:p>
            <a:pPr algn="ctr">
              <a:defRPr sz="1500" b="1">
                <a:solidFill>
                  <a:srgbClr val="2ED573"/>
                </a:solidFill>
              </a:defRPr>
            </a:pPr>
            <a:r>
              <a:t>✅ Happy Path</a:t>
            </a:r>
          </a:p>
        </p:txBody>
      </p:sp>
      <p:sp>
        <p:nvSpPr>
          <p:cNvPr id="5" name="TextBox 4"/>
          <p:cNvSpPr txBox="1"/>
          <p:nvPr/>
        </p:nvSpPr>
        <p:spPr>
          <a:xfrm>
            <a:off x="640080" y="2103120"/>
            <a:ext cx="2194560" cy="731520"/>
          </a:xfrm>
          <a:prstGeom prst="rect">
            <a:avLst/>
          </a:prstGeom>
          <a:noFill/>
        </p:spPr>
        <p:txBody>
          <a:bodyPr wrap="square">
            <a:spAutoFit/>
          </a:bodyPr>
          <a:lstStyle/>
          <a:p>
            <a:pPr algn="ctr">
              <a:defRPr sz="1200" b="0">
                <a:solidFill>
                  <a:srgbClr val="A8B2D1"/>
                </a:solidFill>
              </a:defRPr>
            </a:pPr>
            <a:r>
              <a:t>POST → 201</a:t>
            </a:r>
            <a:br/>
            <a:r>
              <a:t>GET → status</a:t>
            </a:r>
          </a:p>
        </p:txBody>
      </p:sp>
      <p:sp>
        <p:nvSpPr>
          <p:cNvPr id="6" name="Rounded Rectangle 5"/>
          <p:cNvSpPr/>
          <p:nvPr/>
        </p:nvSpPr>
        <p:spPr>
          <a:xfrm>
            <a:off x="3200400" y="1371600"/>
            <a:ext cx="2560320" cy="1645920"/>
          </a:xfrm>
          <a:prstGeom prst="roundRect">
            <a:avLst/>
          </a:prstGeom>
          <a:solidFill>
            <a:srgbClr val="16213E"/>
          </a:solidFill>
          <a:ln w="19050">
            <a:solidFill>
              <a:srgbClr val="E945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383280" y="1554480"/>
            <a:ext cx="2194560" cy="457200"/>
          </a:xfrm>
          <a:prstGeom prst="rect">
            <a:avLst/>
          </a:prstGeom>
          <a:noFill/>
        </p:spPr>
        <p:txBody>
          <a:bodyPr wrap="square">
            <a:spAutoFit/>
          </a:bodyPr>
          <a:lstStyle/>
          <a:p>
            <a:pPr algn="ctr">
              <a:defRPr sz="1500" b="1">
                <a:solidFill>
                  <a:srgbClr val="E94560"/>
                </a:solidFill>
              </a:defRPr>
            </a:pPr>
            <a:r>
              <a:t>❌ Validation</a:t>
            </a:r>
          </a:p>
        </p:txBody>
      </p:sp>
      <p:sp>
        <p:nvSpPr>
          <p:cNvPr id="8" name="TextBox 7"/>
          <p:cNvSpPr txBox="1"/>
          <p:nvPr/>
        </p:nvSpPr>
        <p:spPr>
          <a:xfrm>
            <a:off x="3383280" y="2103120"/>
            <a:ext cx="2194560" cy="731520"/>
          </a:xfrm>
          <a:prstGeom prst="rect">
            <a:avLst/>
          </a:prstGeom>
          <a:noFill/>
        </p:spPr>
        <p:txBody>
          <a:bodyPr wrap="square">
            <a:spAutoFit/>
          </a:bodyPr>
          <a:lstStyle/>
          <a:p>
            <a:pPr algn="ctr">
              <a:defRPr sz="1200" b="0">
                <a:solidFill>
                  <a:srgbClr val="A8B2D1"/>
                </a:solidFill>
              </a:defRPr>
            </a:pPr>
            <a:r>
              <a:t>Bad payload → 400</a:t>
            </a:r>
            <a:br/>
            <a:r>
              <a:t>Missing fields</a:t>
            </a:r>
          </a:p>
        </p:txBody>
      </p:sp>
      <p:sp>
        <p:nvSpPr>
          <p:cNvPr id="9" name="Rounded Rectangle 8"/>
          <p:cNvSpPr/>
          <p:nvPr/>
        </p:nvSpPr>
        <p:spPr>
          <a:xfrm>
            <a:off x="5943600" y="1371600"/>
            <a:ext cx="2560320" cy="1645920"/>
          </a:xfrm>
          <a:prstGeom prst="roundRect">
            <a:avLst/>
          </a:prstGeom>
          <a:solidFill>
            <a:srgbClr val="16213E"/>
          </a:solidFill>
          <a:ln w="19050">
            <a:solidFill>
              <a:srgbClr val="4FAC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26480" y="1554480"/>
            <a:ext cx="2194560" cy="457200"/>
          </a:xfrm>
          <a:prstGeom prst="rect">
            <a:avLst/>
          </a:prstGeom>
          <a:noFill/>
        </p:spPr>
        <p:txBody>
          <a:bodyPr wrap="square">
            <a:spAutoFit/>
          </a:bodyPr>
          <a:lstStyle/>
          <a:p>
            <a:pPr algn="ctr">
              <a:defRPr sz="1500" b="1">
                <a:solidFill>
                  <a:srgbClr val="4FACFE"/>
                </a:solidFill>
              </a:defRPr>
            </a:pPr>
            <a:r>
              <a:t>🔄 Retry</a:t>
            </a:r>
          </a:p>
        </p:txBody>
      </p:sp>
      <p:sp>
        <p:nvSpPr>
          <p:cNvPr id="11" name="TextBox 10"/>
          <p:cNvSpPr txBox="1"/>
          <p:nvPr/>
        </p:nvSpPr>
        <p:spPr>
          <a:xfrm>
            <a:off x="6126480" y="2103120"/>
            <a:ext cx="2194560" cy="731520"/>
          </a:xfrm>
          <a:prstGeom prst="rect">
            <a:avLst/>
          </a:prstGeom>
          <a:noFill/>
        </p:spPr>
        <p:txBody>
          <a:bodyPr wrap="square">
            <a:spAutoFit/>
          </a:bodyPr>
          <a:lstStyle/>
          <a:p>
            <a:pPr algn="ctr">
              <a:defRPr sz="1200" b="0">
                <a:solidFill>
                  <a:srgbClr val="A8B2D1"/>
                </a:solidFill>
              </a:defRPr>
            </a:pPr>
            <a:r>
              <a:t>Fail 2x → succeed</a:t>
            </a:r>
            <a:br/>
            <a:r>
              <a:t>Mock channels</a:t>
            </a:r>
          </a:p>
        </p:txBody>
      </p:sp>
      <p:sp>
        <p:nvSpPr>
          <p:cNvPr id="12" name="Rounded Rectangle 11"/>
          <p:cNvSpPr/>
          <p:nvPr/>
        </p:nvSpPr>
        <p:spPr>
          <a:xfrm>
            <a:off x="8686800" y="1371600"/>
            <a:ext cx="2560320" cy="1645920"/>
          </a:xfrm>
          <a:prstGeom prst="roundRect">
            <a:avLst/>
          </a:prstGeom>
          <a:solidFill>
            <a:srgbClr val="16213E"/>
          </a:solidFill>
          <a:ln w="1905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869680" y="1554480"/>
            <a:ext cx="2194560" cy="457200"/>
          </a:xfrm>
          <a:prstGeom prst="rect">
            <a:avLst/>
          </a:prstGeom>
          <a:noFill/>
        </p:spPr>
        <p:txBody>
          <a:bodyPr wrap="square">
            <a:spAutoFit/>
          </a:bodyPr>
          <a:lstStyle/>
          <a:p>
            <a:pPr algn="ctr">
              <a:defRPr sz="1500" b="1">
                <a:solidFill>
                  <a:srgbClr val="FF6B6B"/>
                </a:solidFill>
              </a:defRPr>
            </a:pPr>
            <a:r>
              <a:t>💀 Dead Letter</a:t>
            </a:r>
          </a:p>
        </p:txBody>
      </p:sp>
      <p:sp>
        <p:nvSpPr>
          <p:cNvPr id="14" name="TextBox 13"/>
          <p:cNvSpPr txBox="1"/>
          <p:nvPr/>
        </p:nvSpPr>
        <p:spPr>
          <a:xfrm>
            <a:off x="8869680" y="2103120"/>
            <a:ext cx="2194560" cy="731520"/>
          </a:xfrm>
          <a:prstGeom prst="rect">
            <a:avLst/>
          </a:prstGeom>
          <a:noFill/>
        </p:spPr>
        <p:txBody>
          <a:bodyPr wrap="square">
            <a:spAutoFit/>
          </a:bodyPr>
          <a:lstStyle/>
          <a:p>
            <a:pPr algn="ctr">
              <a:defRPr sz="1200" b="0">
                <a:solidFill>
                  <a:srgbClr val="A8B2D1"/>
                </a:solidFill>
              </a:defRPr>
            </a:pPr>
            <a:r>
              <a:t>Always fail → DLQ</a:t>
            </a:r>
            <a:br/>
            <a:r>
              <a:t>GET /dead-letter</a:t>
            </a:r>
          </a:p>
        </p:txBody>
      </p:sp>
      <p:sp>
        <p:nvSpPr>
          <p:cNvPr id="15" name="Rounded Rectangle 14"/>
          <p:cNvSpPr/>
          <p:nvPr/>
        </p:nvSpPr>
        <p:spPr>
          <a:xfrm>
            <a:off x="457200" y="3474720"/>
            <a:ext cx="10972800" cy="731520"/>
          </a:xfrm>
          <a:prstGeom prst="roundRect">
            <a:avLst/>
          </a:prstGeom>
          <a:solidFill>
            <a:srgbClr val="12251A"/>
          </a:solidFill>
          <a:ln w="19050">
            <a:solidFill>
              <a:srgbClr val="2ED57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a:solidFill>
                  <a:srgbClr val="2ED573"/>
                </a:solidFill>
              </a:defRPr>
            </a:pPr>
            <a:r>
              <a:t>🧪 Jest + Supertest — 12 tests passing ✅</a:t>
            </a:r>
          </a:p>
        </p:txBody>
      </p:sp>
      <p:sp>
        <p:nvSpPr>
          <p:cNvPr id="16" name="Rounded Rectangle 15"/>
          <p:cNvSpPr/>
          <p:nvPr/>
        </p:nvSpPr>
        <p:spPr>
          <a:xfrm>
            <a:off x="457200" y="4754880"/>
            <a:ext cx="10972800" cy="914400"/>
          </a:xfrm>
          <a:prstGeom prst="roundRect">
            <a:avLst/>
          </a:prstGeom>
          <a:solidFill>
            <a:srgbClr val="2A1A2E"/>
          </a:solidFill>
          <a:ln w="19050">
            <a:solidFill>
              <a:srgbClr val="E9456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a:solidFill>
                  <a:srgbClr val="FFFFFF"/>
                </a:solidFill>
              </a:defRPr>
            </a:pPr>
            <a:r>
              <a:t>🧪 Copilot writes the tests. YOU validate coverage and relevance.</a:t>
            </a:r>
            <a:br/>
            <a:r>
              <a:t>The agent iterates — you steer.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square">
            <a:spAutoFit/>
          </a:bodyPr>
          <a:lstStyle/>
          <a:p>
            <a:pPr algn="l">
              <a:defRPr sz="3600" b="1">
                <a:solidFill>
                  <a:srgbClr val="E94560"/>
                </a:solidFill>
              </a:defRPr>
            </a:pPr>
            <a:r>
              <a:t>④ Run &amp; Validate</a:t>
            </a:r>
          </a:p>
        </p:txBody>
      </p:sp>
      <p:sp>
        <p:nvSpPr>
          <p:cNvPr id="3" name="Rounded Rectangle 2"/>
          <p:cNvSpPr/>
          <p:nvPr/>
        </p:nvSpPr>
        <p:spPr>
          <a:xfrm>
            <a:off x="457200" y="1188720"/>
            <a:ext cx="10972800" cy="4114800"/>
          </a:xfrm>
          <a:prstGeom prst="roundRect">
            <a:avLst/>
          </a:prstGeom>
          <a:solidFill>
            <a:srgbClr val="0D1117"/>
          </a:solidFill>
          <a:ln w="1905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10515600" cy="3657600"/>
          </a:xfrm>
          <a:prstGeom prst="rect">
            <a:avLst/>
          </a:prstGeom>
          <a:noFill/>
        </p:spPr>
        <p:txBody>
          <a:bodyPr wrap="square">
            <a:spAutoFit/>
          </a:bodyPr>
          <a:lstStyle/>
          <a:p>
            <a:pPr algn="l">
              <a:defRPr sz="1400" b="0">
                <a:solidFill>
                  <a:srgbClr val="C8D6E5"/>
                </a:solidFill>
              </a:defRPr>
            </a:pPr>
            <a:r>
              <a:t>$ npm test</a:t>
            </a:r>
          </a:p>
          <a:p>
            <a:pPr algn="l">
              <a:spcBef>
                <a:spcPts val="600"/>
              </a:spcBef>
              <a:defRPr sz="1300" b="0">
                <a:solidFill>
                  <a:srgbClr val="2ED573"/>
                </a:solidFill>
              </a:defRPr>
            </a:pPr>
            <a:r>
              <a:t> PASS  tests/notifications.test.ts</a:t>
            </a:r>
          </a:p>
          <a:p>
            <a:pPr algn="l">
              <a:spcBef>
                <a:spcPts val="600"/>
              </a:spcBef>
              <a:defRPr sz="1300" b="0">
                <a:solidFill>
                  <a:srgbClr val="2ED573"/>
                </a:solidFill>
              </a:defRPr>
            </a:pPr>
            <a:r>
              <a:t> PASS  tests/retry.test.ts</a:t>
            </a:r>
          </a:p>
          <a:p>
            <a:pPr algn="l">
              <a:spcBef>
                <a:spcPts val="600"/>
              </a:spcBef>
              <a:defRPr sz="1300" b="0">
                <a:solidFill>
                  <a:srgbClr val="2ED573"/>
                </a:solidFill>
              </a:defRPr>
            </a:pPr>
            <a:r>
              <a:t> ✅ 12 tests passed</a:t>
            </a:r>
          </a:p>
          <a:p>
            <a:pPr algn="l">
              <a:spcBef>
                <a:spcPts val="600"/>
              </a:spcBef>
              <a:defRPr sz="800" b="0">
                <a:solidFill>
                  <a:srgbClr val="C8D6E5"/>
                </a:solidFill>
              </a:defRPr>
            </a:pPr>
            <a:endParaRPr/>
          </a:p>
          <a:p>
            <a:pPr algn="l">
              <a:spcBef>
                <a:spcPts val="600"/>
              </a:spcBef>
              <a:defRPr sz="1400" b="0">
                <a:solidFill>
                  <a:srgbClr val="C8D6E5"/>
                </a:solidFill>
              </a:defRPr>
            </a:pPr>
            <a:r>
              <a:t>$ npm run dev</a:t>
            </a:r>
          </a:p>
          <a:p>
            <a:pPr algn="l">
              <a:spcBef>
                <a:spcPts val="600"/>
              </a:spcBef>
              <a:defRPr sz="1300" b="0">
                <a:solidFill>
                  <a:srgbClr val="4FACFE"/>
                </a:solidFill>
              </a:defRPr>
            </a:pPr>
            <a:r>
              <a:t> 🚀 Server running on :3000</a:t>
            </a:r>
          </a:p>
          <a:p>
            <a:pPr algn="l">
              <a:spcBef>
                <a:spcPts val="600"/>
              </a:spcBef>
              <a:defRPr sz="800" b="0">
                <a:solidFill>
                  <a:srgbClr val="C8D6E5"/>
                </a:solidFill>
              </a:defRPr>
            </a:pPr>
            <a:endParaRPr/>
          </a:p>
          <a:p>
            <a:pPr algn="l">
              <a:spcBef>
                <a:spcPts val="600"/>
              </a:spcBef>
              <a:defRPr sz="1300" b="0">
                <a:solidFill>
                  <a:srgbClr val="C8D6E5"/>
                </a:solidFill>
              </a:defRPr>
            </a:pPr>
            <a:r>
              <a:t>$ curl -X POST localhost:3000/notifications \</a:t>
            </a:r>
          </a:p>
          <a:p>
            <a:pPr algn="l">
              <a:spcBef>
                <a:spcPts val="600"/>
              </a:spcBef>
              <a:defRPr sz="1300" b="0">
                <a:solidFill>
                  <a:srgbClr val="C8D6E5"/>
                </a:solidFill>
              </a:defRPr>
            </a:pPr>
            <a:r>
              <a:t>  -d '{"channel":"email","to":"dev@orange.com","message":"Deploy v2.1 OK"}'</a:t>
            </a:r>
          </a:p>
          <a:p>
            <a:pPr algn="l">
              <a:spcBef>
                <a:spcPts val="600"/>
              </a:spcBef>
              <a:defRPr sz="800" b="0">
                <a:solidFill>
                  <a:srgbClr val="C8D6E5"/>
                </a:solidFill>
              </a:defRPr>
            </a:pPr>
            <a:endParaRPr/>
          </a:p>
          <a:p>
            <a:pPr algn="l">
              <a:spcBef>
                <a:spcPts val="600"/>
              </a:spcBef>
              <a:defRPr sz="1300" b="0">
                <a:solidFill>
                  <a:srgbClr val="79C0FF"/>
                </a:solidFill>
              </a:defRPr>
            </a:pPr>
            <a:r>
              <a:t>{"id":"notif-a3f2","status":"queued"}</a:t>
            </a:r>
          </a:p>
          <a:p>
            <a:pPr algn="l">
              <a:spcBef>
                <a:spcPts val="600"/>
              </a:spcBef>
              <a:defRPr sz="800" b="0">
                <a:solidFill>
                  <a:srgbClr val="C8D6E5"/>
                </a:solidFill>
              </a:defRPr>
            </a:pPr>
            <a:endParaRPr/>
          </a:p>
          <a:p>
            <a:pPr algn="l">
              <a:spcBef>
                <a:spcPts val="600"/>
              </a:spcBef>
              <a:defRPr sz="1300" b="0">
                <a:solidFill>
                  <a:srgbClr val="79C0FF"/>
                </a:solidFill>
              </a:defRPr>
            </a:pPr>
            <a:r>
              <a:t>$ GET /health → {"uptime":42,"sent":3,"failed":1,"queueSize":0,"deadLetter":1}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square">
            <a:spAutoFit/>
          </a:bodyPr>
          <a:lstStyle/>
          <a:p>
            <a:pPr algn="l">
              <a:defRPr sz="3600" b="1">
                <a:solidFill>
                  <a:srgbClr val="E94560"/>
                </a:solidFill>
              </a:defRPr>
            </a:pPr>
            <a:r>
              <a:t>⑤ Capitalize with .github/</a:t>
            </a:r>
          </a:p>
        </p:txBody>
      </p:sp>
      <p:sp>
        <p:nvSpPr>
          <p:cNvPr id="3" name="Rounded Rectangle 2"/>
          <p:cNvSpPr/>
          <p:nvPr/>
        </p:nvSpPr>
        <p:spPr>
          <a:xfrm>
            <a:off x="457200" y="1645920"/>
            <a:ext cx="2286000" cy="1371600"/>
          </a:xfrm>
          <a:prstGeom prst="roundRect">
            <a:avLst/>
          </a:prstGeom>
          <a:solidFill>
            <a:srgbClr val="16213E"/>
          </a:solidFill>
          <a:ln w="19050">
            <a:solidFill>
              <a:srgbClr val="E9456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a:solidFill>
                  <a:srgbClr val="FFFFFF"/>
                </a:solidFill>
              </a:defRPr>
            </a:pPr>
            <a:r>
              <a:t>👩‍💻 Dev A</a:t>
            </a:r>
            <a:br/>
            <a:r>
              <a:t>👨‍💻 Dev B</a:t>
            </a:r>
            <a:br/>
            <a:r>
              <a:t>👩‍💻 Dev C</a:t>
            </a:r>
          </a:p>
        </p:txBody>
      </p:sp>
      <p:sp>
        <p:nvSpPr>
          <p:cNvPr id="4" name="TextBox 3"/>
          <p:cNvSpPr txBox="1"/>
          <p:nvPr/>
        </p:nvSpPr>
        <p:spPr>
          <a:xfrm>
            <a:off x="2926080" y="2103120"/>
            <a:ext cx="914400" cy="457200"/>
          </a:xfrm>
          <a:prstGeom prst="rect">
            <a:avLst/>
          </a:prstGeom>
          <a:noFill/>
        </p:spPr>
        <p:txBody>
          <a:bodyPr wrap="square">
            <a:spAutoFit/>
          </a:bodyPr>
          <a:lstStyle/>
          <a:p>
            <a:pPr algn="ctr">
              <a:defRPr sz="3000" b="0">
                <a:solidFill>
                  <a:srgbClr val="A8B2D1"/>
                </a:solidFill>
              </a:defRPr>
            </a:pPr>
            <a:r>
              <a:t>→</a:t>
            </a:r>
          </a:p>
        </p:txBody>
      </p:sp>
      <p:sp>
        <p:nvSpPr>
          <p:cNvPr id="5" name="Rounded Rectangle 4"/>
          <p:cNvSpPr/>
          <p:nvPr/>
        </p:nvSpPr>
        <p:spPr>
          <a:xfrm>
            <a:off x="3657600" y="1371600"/>
            <a:ext cx="3657600" cy="1828800"/>
          </a:xfrm>
          <a:prstGeom prst="roundRect">
            <a:avLst/>
          </a:prstGeom>
          <a:solidFill>
            <a:srgbClr val="16213E"/>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C8D6E5"/>
                </a:solidFill>
              </a:defRPr>
            </a:pPr>
            <a:r>
              <a:t>📁 Git Repository</a:t>
            </a:r>
            <a:br/>
            <a:br/>
            <a:r>
              <a:t>.github/copilot-instructions.md</a:t>
            </a:r>
            <a:br/>
            <a:r>
              <a:t>.github/prompts/*.prompt.md</a:t>
            </a:r>
          </a:p>
        </p:txBody>
      </p:sp>
      <p:sp>
        <p:nvSpPr>
          <p:cNvPr id="6" name="TextBox 5"/>
          <p:cNvSpPr txBox="1"/>
          <p:nvPr/>
        </p:nvSpPr>
        <p:spPr>
          <a:xfrm>
            <a:off x="7498079" y="2103120"/>
            <a:ext cx="1097280" cy="457200"/>
          </a:xfrm>
          <a:prstGeom prst="rect">
            <a:avLst/>
          </a:prstGeom>
          <a:noFill/>
        </p:spPr>
        <p:txBody>
          <a:bodyPr wrap="square">
            <a:spAutoFit/>
          </a:bodyPr>
          <a:lstStyle/>
          <a:p>
            <a:pPr algn="ctr">
              <a:defRPr sz="1600" b="0">
                <a:solidFill>
                  <a:srgbClr val="2ED573"/>
                </a:solidFill>
              </a:defRPr>
            </a:pPr>
            <a:r>
              <a:t>auto →</a:t>
            </a:r>
          </a:p>
        </p:txBody>
      </p:sp>
      <p:sp>
        <p:nvSpPr>
          <p:cNvPr id="7" name="Rounded Rectangle 6"/>
          <p:cNvSpPr/>
          <p:nvPr/>
        </p:nvSpPr>
        <p:spPr>
          <a:xfrm>
            <a:off x="8412480" y="1645920"/>
            <a:ext cx="3200400" cy="1371600"/>
          </a:xfrm>
          <a:prstGeom prst="roundRect">
            <a:avLst/>
          </a:prstGeom>
          <a:solidFill>
            <a:srgbClr val="16213E"/>
          </a:solidFill>
          <a:ln w="19050">
            <a:solidFill>
              <a:srgbClr val="2ED57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a:solidFill>
                  <a:srgbClr val="2ED573"/>
                </a:solidFill>
              </a:defRPr>
            </a:pPr>
            <a:r>
              <a:t>🤖 Copilot</a:t>
            </a:r>
            <a:br/>
            <a:r>
              <a:t>Full project context</a:t>
            </a:r>
            <a:br/>
            <a:r>
              <a:t>loaded automatically</a:t>
            </a:r>
          </a:p>
        </p:txBody>
      </p:sp>
      <p:sp>
        <p:nvSpPr>
          <p:cNvPr id="8" name="Rounded Rectangle 7"/>
          <p:cNvSpPr/>
          <p:nvPr/>
        </p:nvSpPr>
        <p:spPr>
          <a:xfrm>
            <a:off x="457200" y="4114800"/>
            <a:ext cx="10972800" cy="1097280"/>
          </a:xfrm>
          <a:prstGeom prst="roundRect">
            <a:avLst/>
          </a:prstGeom>
          <a:solidFill>
            <a:srgbClr val="12251A"/>
          </a:solidFill>
          <a:ln w="19050">
            <a:solidFill>
              <a:srgbClr val="2ED57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a:solidFill>
                  <a:srgbClr val="FFFFFF"/>
                </a:solidFill>
              </a:defRPr>
            </a:pPr>
            <a:r>
              <a:t>📌 Tomorrow: your colleague clones this repo → Copilot has the full context instantly.</a:t>
            </a:r>
            <a:br/>
            <a:r>
              <a:t>Instructions &amp; prompts are versioned, shared, improved as a team.</a:t>
            </a:r>
            <a:br/>
            <a:r>
              <a:t>This is COLLECTIVE TOOLING, not individual shortcuts.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square">
            <a:spAutoFit/>
          </a:bodyPr>
          <a:lstStyle/>
          <a:p>
            <a:pPr algn="l">
              <a:defRPr sz="3600" b="1">
                <a:solidFill>
                  <a:srgbClr val="E94560"/>
                </a:solidFill>
              </a:defRPr>
            </a:pPr>
            <a:r>
              <a:t>✅ Demo Recap — 20 minutes</a:t>
            </a:r>
          </a:p>
        </p:txBody>
      </p:sp>
      <p:sp>
        <p:nvSpPr>
          <p:cNvPr id="3" name="Rounded Rectangle 2"/>
          <p:cNvSpPr/>
          <p:nvPr/>
        </p:nvSpPr>
        <p:spPr>
          <a:xfrm>
            <a:off x="914400" y="1371600"/>
            <a:ext cx="1188720" cy="1188720"/>
          </a:xfrm>
          <a:prstGeom prst="roundRect">
            <a:avLst/>
          </a:prstGeom>
          <a:solidFill>
            <a:srgbClr val="16213E"/>
          </a:solidFill>
          <a:ln w="19050">
            <a:solidFill>
              <a:srgbClr val="E9456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200">
                <a:solidFill>
                  <a:srgbClr val="E94560"/>
                </a:solidFill>
              </a:defRPr>
            </a:pPr>
            <a:r>
              <a:t>①</a:t>
            </a:r>
          </a:p>
        </p:txBody>
      </p:sp>
      <p:sp>
        <p:nvSpPr>
          <p:cNvPr id="4" name="TextBox 3"/>
          <p:cNvSpPr txBox="1"/>
          <p:nvPr/>
        </p:nvSpPr>
        <p:spPr>
          <a:xfrm>
            <a:off x="731520" y="2651760"/>
            <a:ext cx="1554480" cy="731520"/>
          </a:xfrm>
          <a:prstGeom prst="rect">
            <a:avLst/>
          </a:prstGeom>
          <a:noFill/>
        </p:spPr>
        <p:txBody>
          <a:bodyPr wrap="square">
            <a:spAutoFit/>
          </a:bodyPr>
          <a:lstStyle/>
          <a:p>
            <a:pPr algn="ctr">
              <a:defRPr sz="1100" b="0">
                <a:solidFill>
                  <a:srgbClr val="A8B2D1"/>
                </a:solidFill>
              </a:defRPr>
            </a:pPr>
            <a:r>
              <a:t>Bootstrap</a:t>
            </a:r>
            <a:br/>
            <a:r>
              <a:t>5 min</a:t>
            </a:r>
          </a:p>
        </p:txBody>
      </p:sp>
      <p:sp>
        <p:nvSpPr>
          <p:cNvPr id="5" name="Rounded Rectangle 4"/>
          <p:cNvSpPr/>
          <p:nvPr/>
        </p:nvSpPr>
        <p:spPr>
          <a:xfrm>
            <a:off x="3200400" y="1371600"/>
            <a:ext cx="1188720" cy="1188720"/>
          </a:xfrm>
          <a:prstGeom prst="roundRect">
            <a:avLst/>
          </a:prstGeom>
          <a:solidFill>
            <a:srgbClr val="16213E"/>
          </a:solidFill>
          <a:ln w="19050">
            <a:solidFill>
              <a:srgbClr val="E9456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200">
                <a:solidFill>
                  <a:srgbClr val="E94560"/>
                </a:solidFill>
              </a:defRPr>
            </a:pPr>
            <a:r>
              <a:t>②</a:t>
            </a:r>
          </a:p>
        </p:txBody>
      </p:sp>
      <p:sp>
        <p:nvSpPr>
          <p:cNvPr id="6" name="TextBox 5"/>
          <p:cNvSpPr txBox="1"/>
          <p:nvPr/>
        </p:nvSpPr>
        <p:spPr>
          <a:xfrm>
            <a:off x="3017520" y="2651760"/>
            <a:ext cx="1554480" cy="731520"/>
          </a:xfrm>
          <a:prstGeom prst="rect">
            <a:avLst/>
          </a:prstGeom>
          <a:noFill/>
        </p:spPr>
        <p:txBody>
          <a:bodyPr wrap="square">
            <a:spAutoFit/>
          </a:bodyPr>
          <a:lstStyle/>
          <a:p>
            <a:pPr algn="ctr">
              <a:defRPr sz="1100" b="0">
                <a:solidFill>
                  <a:srgbClr val="A8B2D1"/>
                </a:solidFill>
              </a:defRPr>
            </a:pPr>
            <a:r>
              <a:t>Retry/DLQ</a:t>
            </a:r>
            <a:br/>
            <a:r>
              <a:t>5 min</a:t>
            </a:r>
          </a:p>
        </p:txBody>
      </p:sp>
      <p:sp>
        <p:nvSpPr>
          <p:cNvPr id="7" name="Rounded Rectangle 6"/>
          <p:cNvSpPr/>
          <p:nvPr/>
        </p:nvSpPr>
        <p:spPr>
          <a:xfrm>
            <a:off x="5486400" y="1371600"/>
            <a:ext cx="1188720" cy="1188720"/>
          </a:xfrm>
          <a:prstGeom prst="roundRect">
            <a:avLst/>
          </a:prstGeom>
          <a:solidFill>
            <a:srgbClr val="16213E"/>
          </a:solidFill>
          <a:ln w="19050">
            <a:solidFill>
              <a:srgbClr val="E9456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200">
                <a:solidFill>
                  <a:srgbClr val="E94560"/>
                </a:solidFill>
              </a:defRPr>
            </a:pPr>
            <a:r>
              <a:t>③</a:t>
            </a:r>
          </a:p>
        </p:txBody>
      </p:sp>
      <p:sp>
        <p:nvSpPr>
          <p:cNvPr id="8" name="TextBox 7"/>
          <p:cNvSpPr txBox="1"/>
          <p:nvPr/>
        </p:nvSpPr>
        <p:spPr>
          <a:xfrm>
            <a:off x="5303520" y="2651760"/>
            <a:ext cx="1554480" cy="731520"/>
          </a:xfrm>
          <a:prstGeom prst="rect">
            <a:avLst/>
          </a:prstGeom>
          <a:noFill/>
        </p:spPr>
        <p:txBody>
          <a:bodyPr wrap="square">
            <a:spAutoFit/>
          </a:bodyPr>
          <a:lstStyle/>
          <a:p>
            <a:pPr algn="ctr">
              <a:defRPr sz="1100" b="0">
                <a:solidFill>
                  <a:srgbClr val="A8B2D1"/>
                </a:solidFill>
              </a:defRPr>
            </a:pPr>
            <a:r>
              <a:t>Tests</a:t>
            </a:r>
            <a:br/>
            <a:r>
              <a:t>5 min</a:t>
            </a:r>
          </a:p>
        </p:txBody>
      </p:sp>
      <p:sp>
        <p:nvSpPr>
          <p:cNvPr id="9" name="Rounded Rectangle 8"/>
          <p:cNvSpPr/>
          <p:nvPr/>
        </p:nvSpPr>
        <p:spPr>
          <a:xfrm>
            <a:off x="7772400" y="1371600"/>
            <a:ext cx="1188720" cy="1188720"/>
          </a:xfrm>
          <a:prstGeom prst="roundRect">
            <a:avLst/>
          </a:prstGeom>
          <a:solidFill>
            <a:srgbClr val="16213E"/>
          </a:solidFill>
          <a:ln w="19050">
            <a:solidFill>
              <a:srgbClr val="E9456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200">
                <a:solidFill>
                  <a:srgbClr val="E94560"/>
                </a:solidFill>
              </a:defRPr>
            </a:pPr>
            <a:r>
              <a:t>④</a:t>
            </a:r>
          </a:p>
        </p:txBody>
      </p:sp>
      <p:sp>
        <p:nvSpPr>
          <p:cNvPr id="10" name="TextBox 9"/>
          <p:cNvSpPr txBox="1"/>
          <p:nvPr/>
        </p:nvSpPr>
        <p:spPr>
          <a:xfrm>
            <a:off x="7589520" y="2651760"/>
            <a:ext cx="1554480" cy="731520"/>
          </a:xfrm>
          <a:prstGeom prst="rect">
            <a:avLst/>
          </a:prstGeom>
          <a:noFill/>
        </p:spPr>
        <p:txBody>
          <a:bodyPr wrap="square">
            <a:spAutoFit/>
          </a:bodyPr>
          <a:lstStyle/>
          <a:p>
            <a:pPr algn="ctr">
              <a:defRPr sz="1100" b="0">
                <a:solidFill>
                  <a:srgbClr val="A8B2D1"/>
                </a:solidFill>
              </a:defRPr>
            </a:pPr>
            <a:r>
              <a:t>Run</a:t>
            </a:r>
            <a:br/>
            <a:r>
              <a:t>3 min</a:t>
            </a:r>
          </a:p>
        </p:txBody>
      </p:sp>
      <p:sp>
        <p:nvSpPr>
          <p:cNvPr id="11" name="Rounded Rectangle 10"/>
          <p:cNvSpPr/>
          <p:nvPr/>
        </p:nvSpPr>
        <p:spPr>
          <a:xfrm>
            <a:off x="10058400" y="1371600"/>
            <a:ext cx="1188720" cy="1188720"/>
          </a:xfrm>
          <a:prstGeom prst="roundRect">
            <a:avLst/>
          </a:prstGeom>
          <a:solidFill>
            <a:srgbClr val="16213E"/>
          </a:solidFill>
          <a:ln w="19050">
            <a:solidFill>
              <a:srgbClr val="E9456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200">
                <a:solidFill>
                  <a:srgbClr val="E94560"/>
                </a:solidFill>
              </a:defRPr>
            </a:pPr>
            <a:r>
              <a:t>⑤</a:t>
            </a:r>
          </a:p>
        </p:txBody>
      </p:sp>
      <p:sp>
        <p:nvSpPr>
          <p:cNvPr id="12" name="TextBox 11"/>
          <p:cNvSpPr txBox="1"/>
          <p:nvPr/>
        </p:nvSpPr>
        <p:spPr>
          <a:xfrm>
            <a:off x="9875520" y="2651760"/>
            <a:ext cx="1554480" cy="731520"/>
          </a:xfrm>
          <a:prstGeom prst="rect">
            <a:avLst/>
          </a:prstGeom>
          <a:noFill/>
        </p:spPr>
        <p:txBody>
          <a:bodyPr wrap="square">
            <a:spAutoFit/>
          </a:bodyPr>
          <a:lstStyle/>
          <a:p>
            <a:pPr algn="ctr">
              <a:defRPr sz="1100" b="0">
                <a:solidFill>
                  <a:srgbClr val="A8B2D1"/>
                </a:solidFill>
              </a:defRPr>
            </a:pPr>
            <a:r>
              <a:t>.github/</a:t>
            </a:r>
            <a:br/>
            <a:r>
              <a:t>2 min</a:t>
            </a:r>
          </a:p>
        </p:txBody>
      </p:sp>
      <p:sp>
        <p:nvSpPr>
          <p:cNvPr id="13" name="TextBox 12"/>
          <p:cNvSpPr txBox="1"/>
          <p:nvPr/>
        </p:nvSpPr>
        <p:spPr>
          <a:xfrm>
            <a:off x="457200" y="3840480"/>
            <a:ext cx="10972800" cy="2743200"/>
          </a:xfrm>
          <a:prstGeom prst="rect">
            <a:avLst/>
          </a:prstGeom>
          <a:noFill/>
        </p:spPr>
        <p:txBody>
          <a:bodyPr wrap="square">
            <a:spAutoFit/>
          </a:bodyPr>
          <a:lstStyle/>
          <a:p>
            <a:pPr algn="l">
              <a:defRPr sz="1800" b="1">
                <a:solidFill>
                  <a:srgbClr val="FFFFFF"/>
                </a:solidFill>
              </a:defRPr>
            </a:pPr>
            <a:r>
              <a:t>Key takeaways:</a:t>
            </a:r>
          </a:p>
          <a:p>
            <a:pPr algn="l">
              <a:spcBef>
                <a:spcPts val="600"/>
              </a:spcBef>
              <a:defRPr sz="1500" b="0">
                <a:solidFill>
                  <a:srgbClr val="C8D6E5"/>
                </a:solidFill>
              </a:defRPr>
            </a:pPr>
            <a:r>
              <a:t>1️⃣  Describe architecture, not code → Copilot understands patterns</a:t>
            </a:r>
          </a:p>
          <a:p>
            <a:pPr algn="l">
              <a:spcBef>
                <a:spcPts val="600"/>
              </a:spcBef>
              <a:defRPr sz="1500" b="0">
                <a:solidFill>
                  <a:srgbClr val="C8D6E5"/>
                </a:solidFill>
              </a:defRPr>
            </a:pPr>
            <a:r>
              <a:t>2️⃣  Copilot modifies with context → true collaborator, not just generator</a:t>
            </a:r>
          </a:p>
          <a:p>
            <a:pPr algn="l">
              <a:spcBef>
                <a:spcPts val="600"/>
              </a:spcBef>
              <a:defRPr sz="1500" b="0">
                <a:solidFill>
                  <a:srgbClr val="C8D6E5"/>
                </a:solidFill>
              </a:defRPr>
            </a:pPr>
            <a:r>
              <a:t>3️⃣  .github/ = team assets → versioned, reviewed, shared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914400" y="1645920"/>
            <a:ext cx="10058400" cy="1097280"/>
          </a:xfrm>
          <a:prstGeom prst="rect">
            <a:avLst/>
          </a:prstGeom>
          <a:noFill/>
        </p:spPr>
        <p:txBody>
          <a:bodyPr wrap="square">
            <a:spAutoFit/>
          </a:bodyPr>
          <a:lstStyle/>
          <a:p>
            <a:pPr algn="ctr">
              <a:defRPr sz="4400" b="1">
                <a:solidFill>
                  <a:srgbClr val="FFFFFF"/>
                </a:solidFill>
              </a:defRPr>
            </a:pPr>
            <a:r>
              <a:t>🤖 Multi-Agents</a:t>
            </a:r>
          </a:p>
        </p:txBody>
      </p:sp>
      <p:sp>
        <p:nvSpPr>
          <p:cNvPr id="3" name="TextBox 2"/>
          <p:cNvSpPr txBox="1"/>
          <p:nvPr/>
        </p:nvSpPr>
        <p:spPr>
          <a:xfrm>
            <a:off x="914400" y="2926080"/>
            <a:ext cx="10058400" cy="731520"/>
          </a:xfrm>
          <a:prstGeom prst="rect">
            <a:avLst/>
          </a:prstGeom>
          <a:noFill/>
        </p:spPr>
        <p:txBody>
          <a:bodyPr wrap="square">
            <a:spAutoFit/>
          </a:bodyPr>
          <a:lstStyle/>
          <a:p>
            <a:pPr algn="ctr">
              <a:defRPr sz="2200" b="0">
                <a:solidFill>
                  <a:srgbClr val="A8B2D1"/>
                </a:solidFill>
              </a:defRPr>
            </a:pPr>
            <a:r>
              <a:t>Industrialization &amp; Optimization</a:t>
            </a:r>
          </a:p>
        </p:txBody>
      </p:sp>
      <p:sp>
        <p:nvSpPr>
          <p:cNvPr id="4" name="Rounded Rectangle 3"/>
          <p:cNvSpPr/>
          <p:nvPr/>
        </p:nvSpPr>
        <p:spPr>
          <a:xfrm>
            <a:off x="1371600" y="4114800"/>
            <a:ext cx="2560320" cy="1645920"/>
          </a:xfrm>
          <a:prstGeom prst="roundRect">
            <a:avLst/>
          </a:prstGeom>
          <a:solidFill>
            <a:srgbClr val="1F1535"/>
          </a:solidFill>
          <a:ln w="19050">
            <a:solidFill>
              <a:srgbClr val="4FACF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a:solidFill>
                  <a:srgbClr val="FFFFFF"/>
                </a:solidFill>
              </a:defRPr>
            </a:pPr>
            <a:r>
              <a:t>🔀</a:t>
            </a:r>
            <a:br/>
            <a:r>
              <a:t>Orchestration</a:t>
            </a:r>
          </a:p>
        </p:txBody>
      </p:sp>
      <p:sp>
        <p:nvSpPr>
          <p:cNvPr id="5" name="Rounded Rectangle 4"/>
          <p:cNvSpPr/>
          <p:nvPr/>
        </p:nvSpPr>
        <p:spPr>
          <a:xfrm>
            <a:off x="5029200" y="4114800"/>
            <a:ext cx="2560320" cy="1645920"/>
          </a:xfrm>
          <a:prstGeom prst="roundRect">
            <a:avLst/>
          </a:prstGeom>
          <a:solidFill>
            <a:srgbClr val="1F1535"/>
          </a:solidFill>
          <a:ln w="19050">
            <a:solidFill>
              <a:srgbClr val="4FACF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a:solidFill>
                  <a:srgbClr val="FFFFFF"/>
                </a:solidFill>
              </a:defRPr>
            </a:pPr>
            <a:r>
              <a:t>📉</a:t>
            </a:r>
            <a:br/>
            <a:r>
              <a:t>Token</a:t>
            </a:r>
            <a:br/>
            <a:r>
              <a:t>Reduction</a:t>
            </a:r>
          </a:p>
        </p:txBody>
      </p:sp>
      <p:sp>
        <p:nvSpPr>
          <p:cNvPr id="6" name="Rounded Rectangle 5"/>
          <p:cNvSpPr/>
          <p:nvPr/>
        </p:nvSpPr>
        <p:spPr>
          <a:xfrm>
            <a:off x="8686800" y="4114800"/>
            <a:ext cx="2560320" cy="1645920"/>
          </a:xfrm>
          <a:prstGeom prst="roundRect">
            <a:avLst/>
          </a:prstGeom>
          <a:solidFill>
            <a:srgbClr val="1F1535"/>
          </a:solidFill>
          <a:ln w="19050">
            <a:solidFill>
              <a:srgbClr val="4FACF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a:solidFill>
                  <a:srgbClr val="FFFFFF"/>
                </a:solidFill>
              </a:defRPr>
            </a:pPr>
            <a:r>
              <a:t>👥</a:t>
            </a:r>
            <a:br/>
            <a:r>
              <a:t>Shared</a:t>
            </a:r>
            <a:br/>
            <a:r>
              <a:t>Skills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square">
            <a:spAutoFit/>
          </a:bodyPr>
          <a:lstStyle/>
          <a:p>
            <a:pPr>
              <a:defRPr sz="3200" b="1">
                <a:solidFill>
                  <a:srgbClr val="FFFFFF"/>
                </a:solidFill>
              </a:defRPr>
            </a:pPr>
            <a:r>
              <a:t>🔀 Multi-Agent Orchestration (VS Code 1.109+)</a:t>
            </a:r>
          </a:p>
        </p:txBody>
      </p:sp>
      <p:sp>
        <p:nvSpPr>
          <p:cNvPr id="3" name="TextBox 2"/>
          <p:cNvSpPr txBox="1"/>
          <p:nvPr/>
        </p:nvSpPr>
        <p:spPr>
          <a:xfrm>
            <a:off x="457200" y="1097280"/>
            <a:ext cx="10972800" cy="3657600"/>
          </a:xfrm>
          <a:prstGeom prst="rect">
            <a:avLst/>
          </a:prstGeom>
          <a:noFill/>
        </p:spPr>
        <p:txBody>
          <a:bodyPr wrap="square">
            <a:spAutoFit/>
          </a:bodyPr>
          <a:lstStyle/>
          <a:p>
            <a:pPr>
              <a:spcAft>
                <a:spcPts val="400"/>
              </a:spcAft>
              <a:defRPr sz="1800" b="1">
                <a:solidFill>
                  <a:srgbClr val="FFFFFF"/>
                </a:solidFill>
              </a:defRPr>
            </a:pPr>
            <a:r>
              <a:t>Agent Sessions View — One place to manage all your agents</a:t>
            </a:r>
          </a:p>
        </p:txBody>
      </p:sp>
      <p:sp>
        <p:nvSpPr>
          <p:cNvPr id="4" name="TextBox 3"/>
          <p:cNvSpPr txBox="1"/>
          <p:nvPr/>
        </p:nvSpPr>
        <p:spPr>
          <a:xfrm>
            <a:off x="457200" y="1737360"/>
            <a:ext cx="10972800" cy="3657600"/>
          </a:xfrm>
          <a:prstGeom prst="rect">
            <a:avLst/>
          </a:prstGeom>
          <a:noFill/>
        </p:spPr>
        <p:txBody>
          <a:bodyPr wrap="square">
            <a:spAutoFit/>
          </a:bodyPr>
          <a:lstStyle/>
          <a:p>
            <a:pPr>
              <a:spcAft>
                <a:spcPts val="400"/>
              </a:spcAft>
              <a:defRPr sz="1300" b="0">
                <a:solidFill>
                  <a:srgbClr val="80FF80"/>
                </a:solidFill>
              </a:defRPr>
            </a:pPr>
            <a:r>
              <a:t>┌───────────────────────────────────────────────────────┐</a:t>
            </a:r>
          </a:p>
          <a:p>
            <a:pPr>
              <a:spcAft>
                <a:spcPts val="400"/>
              </a:spcAft>
              <a:defRPr sz="1300" b="0">
                <a:solidFill>
                  <a:srgbClr val="80FF80"/>
                </a:solidFill>
              </a:defRPr>
            </a:pPr>
            <a:r>
              <a:t>│  🟢 Local — Copilot / Claude (Sonnet)                 │  Interactive, your machine</a:t>
            </a:r>
          </a:p>
          <a:p>
            <a:pPr>
              <a:spcAft>
                <a:spcPts val="400"/>
              </a:spcAft>
              <a:defRPr sz="1300" b="0">
                <a:solidFill>
                  <a:srgbClr val="80FF80"/>
                </a:solidFill>
              </a:defRPr>
            </a:pPr>
            <a:r>
              <a:t>│  🟡 Background — Claude (Opus)                        │  Async, isolated worktree</a:t>
            </a:r>
          </a:p>
          <a:p>
            <a:pPr>
              <a:spcAft>
                <a:spcPts val="400"/>
              </a:spcAft>
              <a:defRPr sz="1300" b="0">
                <a:solidFill>
                  <a:srgbClr val="80FF80"/>
                </a:solidFill>
              </a:defRPr>
            </a:pPr>
            <a:r>
              <a:t>│  🔵 Cloud — Codex / Claude                            │  Remote, creates PRs</a:t>
            </a:r>
          </a:p>
          <a:p>
            <a:pPr>
              <a:spcAft>
                <a:spcPts val="400"/>
              </a:spcAft>
              <a:defRPr sz="1300" b="0">
                <a:solidFill>
                  <a:srgbClr val="80FF80"/>
                </a:solidFill>
              </a:defRPr>
            </a:pPr>
            <a:r>
              <a:t>│     └── Subagent: Research (parallel)                │</a:t>
            </a:r>
          </a:p>
          <a:p>
            <a:pPr>
              <a:spcAft>
                <a:spcPts val="400"/>
              </a:spcAft>
              <a:defRPr sz="1300" b="0">
                <a:solidFill>
                  <a:srgbClr val="80FF80"/>
                </a:solidFill>
              </a:defRPr>
            </a:pPr>
            <a:r>
              <a:t>│     └── Subagent: Security (parallel)                │</a:t>
            </a:r>
          </a:p>
          <a:p>
            <a:pPr>
              <a:spcAft>
                <a:spcPts val="400"/>
              </a:spcAft>
              <a:defRPr sz="1300" b="0">
                <a:solidFill>
                  <a:srgbClr val="80FF80"/>
                </a:solidFill>
              </a:defRPr>
            </a:pPr>
            <a:r>
              <a:t>└───────────────────────────────────────────────────────┘</a:t>
            </a:r>
          </a:p>
        </p:txBody>
      </p:sp>
      <p:sp>
        <p:nvSpPr>
          <p:cNvPr id="5" name="TextBox 4"/>
          <p:cNvSpPr txBox="1"/>
          <p:nvPr/>
        </p:nvSpPr>
        <p:spPr>
          <a:xfrm>
            <a:off x="457200" y="3657600"/>
            <a:ext cx="10972800" cy="3657600"/>
          </a:xfrm>
          <a:prstGeom prst="rect">
            <a:avLst/>
          </a:prstGeom>
          <a:noFill/>
        </p:spPr>
        <p:txBody>
          <a:bodyPr wrap="square">
            <a:spAutoFit/>
          </a:bodyPr>
          <a:lstStyle/>
          <a:p>
            <a:pPr>
              <a:spcAft>
                <a:spcPts val="400"/>
              </a:spcAft>
              <a:defRPr sz="1500" b="0">
                <a:solidFill>
                  <a:srgbClr val="E0E0E0"/>
                </a:solidFill>
              </a:defRPr>
            </a:pPr>
            <a:r>
              <a:t>🟢 Local → You steer, fast iterations, immediate feedback</a:t>
            </a:r>
          </a:p>
          <a:p>
            <a:pPr>
              <a:spcAft>
                <a:spcPts val="400"/>
              </a:spcAft>
              <a:defRPr sz="1500" b="0">
                <a:solidFill>
                  <a:srgbClr val="E0E0E0"/>
                </a:solidFill>
              </a:defRPr>
            </a:pPr>
            <a:r>
              <a:t>🟡 Background → Well-defined task, you keep coding in parallel (isolated worktree)</a:t>
            </a:r>
          </a:p>
          <a:p>
            <a:pPr>
              <a:spcAft>
                <a:spcPts val="400"/>
              </a:spcAft>
              <a:defRPr sz="1500" b="0">
                <a:solidFill>
                  <a:srgbClr val="E0E0E0"/>
                </a:solidFill>
              </a:defRPr>
            </a:pPr>
            <a:r>
              <a:t>🔵 Cloud → Full feature, result delivered as PR, visible to the team</a:t>
            </a:r>
          </a:p>
          <a:p>
            <a:pPr>
              <a:spcAft>
                <a:spcPts val="400"/>
              </a:spcAft>
              <a:defRPr sz="1500" b="0">
                <a:solidFill>
                  <a:srgbClr val="E0E0E0"/>
                </a:solidFill>
              </a:defRPr>
            </a:pPr>
          </a:p>
          <a:p>
            <a:pPr>
              <a:spcAft>
                <a:spcPts val="400"/>
              </a:spcAft>
              <a:defRPr sz="1500" b="0">
                <a:solidFill>
                  <a:srgbClr val="E0E0E0"/>
                </a:solidFill>
              </a:defRPr>
            </a:pPr>
            <a:r>
              <a:t>⚡ Parallel subagents — isolated context, only the result flows back</a:t>
            </a:r>
          </a:p>
          <a:p>
            <a:pPr>
              <a:spcAft>
                <a:spcPts val="400"/>
              </a:spcAft>
              <a:defRPr sz="1500" b="0">
                <a:solidFill>
                  <a:srgbClr val="E0E0E0"/>
                </a:solidFill>
              </a:defRPr>
            </a:pPr>
            <a:r>
              <a:t>🔗 Custom Agents + Handoffs — automated workflows (Code → Review → Fix)</a:t>
            </a:r>
          </a:p>
          <a:p>
            <a:pPr>
              <a:spcAft>
                <a:spcPts val="400"/>
              </a:spcAft>
              <a:defRPr sz="1500" b="0">
                <a:solidFill>
                  <a:srgbClr val="E0E0E0"/>
                </a:solidFill>
              </a:defRPr>
            </a:pPr>
            <a:r>
              <a:t>🤖 Claude &amp; Codex available natively under your Copilot subscription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square">
            <a:spAutoFit/>
          </a:bodyPr>
          <a:lstStyle/>
          <a:p>
            <a:pPr algn="l">
              <a:defRPr sz="3600" b="1">
                <a:solidFill>
                  <a:srgbClr val="E94560"/>
                </a:solidFill>
              </a:defRPr>
            </a:pPr>
            <a:r>
              <a:t>🧠 Choosing the Right LLM</a:t>
            </a:r>
          </a:p>
        </p:txBody>
      </p:sp>
      <p:sp>
        <p:nvSpPr>
          <p:cNvPr id="3" name="Rounded Rectangle 2"/>
          <p:cNvSpPr/>
          <p:nvPr/>
        </p:nvSpPr>
        <p:spPr>
          <a:xfrm>
            <a:off x="457200" y="1371600"/>
            <a:ext cx="10972800" cy="1097280"/>
          </a:xfrm>
          <a:prstGeom prst="roundRect">
            <a:avLst/>
          </a:prstGeom>
          <a:solidFill>
            <a:srgbClr val="16213E"/>
          </a:solidFill>
          <a:ln w="19050">
            <a:solidFill>
              <a:srgbClr val="E945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508760"/>
            <a:ext cx="4572000" cy="365760"/>
          </a:xfrm>
          <a:prstGeom prst="rect">
            <a:avLst/>
          </a:prstGeom>
          <a:noFill/>
        </p:spPr>
        <p:txBody>
          <a:bodyPr wrap="square">
            <a:spAutoFit/>
          </a:bodyPr>
          <a:lstStyle/>
          <a:p>
            <a:pPr algn="l">
              <a:defRPr sz="1600" b="1">
                <a:solidFill>
                  <a:srgbClr val="E94560"/>
                </a:solidFill>
              </a:defRPr>
            </a:pPr>
            <a:r>
              <a:t>Claude Opus / GPT-4.1</a:t>
            </a:r>
          </a:p>
        </p:txBody>
      </p:sp>
      <p:sp>
        <p:nvSpPr>
          <p:cNvPr id="5" name="TextBox 4"/>
          <p:cNvSpPr txBox="1"/>
          <p:nvPr/>
        </p:nvSpPr>
        <p:spPr>
          <a:xfrm>
            <a:off x="731520" y="1874520"/>
            <a:ext cx="7315200" cy="365760"/>
          </a:xfrm>
          <a:prstGeom prst="rect">
            <a:avLst/>
          </a:prstGeom>
          <a:noFill/>
        </p:spPr>
        <p:txBody>
          <a:bodyPr wrap="square">
            <a:spAutoFit/>
          </a:bodyPr>
          <a:lstStyle/>
          <a:p>
            <a:pPr algn="l">
              <a:defRPr sz="1200" b="0">
                <a:solidFill>
                  <a:srgbClr val="A8B2D1"/>
                </a:solidFill>
              </a:defRPr>
            </a:pPr>
            <a:r>
              <a:t>Complex architecture • Heavy refactoring • Multi-file reasoning</a:t>
            </a:r>
          </a:p>
        </p:txBody>
      </p:sp>
      <p:sp>
        <p:nvSpPr>
          <p:cNvPr id="6" name="TextBox 5"/>
          <p:cNvSpPr txBox="1"/>
          <p:nvPr/>
        </p:nvSpPr>
        <p:spPr>
          <a:xfrm>
            <a:off x="9601200" y="1645920"/>
            <a:ext cx="1828800" cy="365760"/>
          </a:xfrm>
          <a:prstGeom prst="rect">
            <a:avLst/>
          </a:prstGeom>
          <a:noFill/>
        </p:spPr>
        <p:txBody>
          <a:bodyPr wrap="square">
            <a:spAutoFit/>
          </a:bodyPr>
          <a:lstStyle/>
          <a:p>
            <a:pPr algn="r">
              <a:defRPr sz="1100" b="1">
                <a:solidFill>
                  <a:srgbClr val="E94560"/>
                </a:solidFill>
              </a:defRPr>
            </a:pPr>
            <a:r>
              <a:t>POWER</a:t>
            </a:r>
          </a:p>
        </p:txBody>
      </p:sp>
      <p:sp>
        <p:nvSpPr>
          <p:cNvPr id="7" name="Rounded Rectangle 6"/>
          <p:cNvSpPr/>
          <p:nvPr/>
        </p:nvSpPr>
        <p:spPr>
          <a:xfrm>
            <a:off x="457200" y="2743200"/>
            <a:ext cx="10972800" cy="1097280"/>
          </a:xfrm>
          <a:prstGeom prst="roundRect">
            <a:avLst/>
          </a:prstGeom>
          <a:solidFill>
            <a:srgbClr val="16213E"/>
          </a:solidFill>
          <a:ln w="19050">
            <a:solidFill>
              <a:srgbClr val="4FAC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880360"/>
            <a:ext cx="4572000" cy="365760"/>
          </a:xfrm>
          <a:prstGeom prst="rect">
            <a:avLst/>
          </a:prstGeom>
          <a:noFill/>
        </p:spPr>
        <p:txBody>
          <a:bodyPr wrap="square">
            <a:spAutoFit/>
          </a:bodyPr>
          <a:lstStyle/>
          <a:p>
            <a:pPr algn="l">
              <a:defRPr sz="1600" b="1">
                <a:solidFill>
                  <a:srgbClr val="4FACFE"/>
                </a:solidFill>
              </a:defRPr>
            </a:pPr>
            <a:r>
              <a:t>Claude Sonnet / GPT-4.1</a:t>
            </a:r>
          </a:p>
        </p:txBody>
      </p:sp>
      <p:sp>
        <p:nvSpPr>
          <p:cNvPr id="9" name="TextBox 8"/>
          <p:cNvSpPr txBox="1"/>
          <p:nvPr/>
        </p:nvSpPr>
        <p:spPr>
          <a:xfrm>
            <a:off x="731520" y="3246120"/>
            <a:ext cx="7315200" cy="365760"/>
          </a:xfrm>
          <a:prstGeom prst="rect">
            <a:avLst/>
          </a:prstGeom>
          <a:noFill/>
        </p:spPr>
        <p:txBody>
          <a:bodyPr wrap="square">
            <a:spAutoFit/>
          </a:bodyPr>
          <a:lstStyle/>
          <a:p>
            <a:pPr algn="l">
              <a:defRPr sz="1200" b="0">
                <a:solidFill>
                  <a:srgbClr val="A8B2D1"/>
                </a:solidFill>
              </a:defRPr>
            </a:pPr>
            <a:r>
              <a:t>Daily tasks • Agent mode • Feature implementation • Code review</a:t>
            </a:r>
          </a:p>
        </p:txBody>
      </p:sp>
      <p:sp>
        <p:nvSpPr>
          <p:cNvPr id="10" name="TextBox 9"/>
          <p:cNvSpPr txBox="1"/>
          <p:nvPr/>
        </p:nvSpPr>
        <p:spPr>
          <a:xfrm>
            <a:off x="9601200" y="3017520"/>
            <a:ext cx="1828800" cy="365760"/>
          </a:xfrm>
          <a:prstGeom prst="rect">
            <a:avLst/>
          </a:prstGeom>
          <a:noFill/>
        </p:spPr>
        <p:txBody>
          <a:bodyPr wrap="square">
            <a:spAutoFit/>
          </a:bodyPr>
          <a:lstStyle/>
          <a:p>
            <a:pPr algn="r">
              <a:defRPr sz="1100" b="1">
                <a:solidFill>
                  <a:srgbClr val="4FACFE"/>
                </a:solidFill>
              </a:defRPr>
            </a:pPr>
            <a:r>
              <a:t>BALANCED</a:t>
            </a:r>
          </a:p>
        </p:txBody>
      </p:sp>
      <p:sp>
        <p:nvSpPr>
          <p:cNvPr id="11" name="Rounded Rectangle 10"/>
          <p:cNvSpPr/>
          <p:nvPr/>
        </p:nvSpPr>
        <p:spPr>
          <a:xfrm>
            <a:off x="457200" y="4114800"/>
            <a:ext cx="10972800" cy="1097280"/>
          </a:xfrm>
          <a:prstGeom prst="roundRect">
            <a:avLst/>
          </a:prstGeom>
          <a:solidFill>
            <a:srgbClr val="16213E"/>
          </a:solidFill>
          <a:ln w="19050">
            <a:solidFill>
              <a:srgbClr val="2ED5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4251960"/>
            <a:ext cx="4572000" cy="365760"/>
          </a:xfrm>
          <a:prstGeom prst="rect">
            <a:avLst/>
          </a:prstGeom>
          <a:noFill/>
        </p:spPr>
        <p:txBody>
          <a:bodyPr wrap="square">
            <a:spAutoFit/>
          </a:bodyPr>
          <a:lstStyle/>
          <a:p>
            <a:pPr algn="l">
              <a:defRPr sz="1600" b="1">
                <a:solidFill>
                  <a:srgbClr val="2ED573"/>
                </a:solidFill>
              </a:defRPr>
            </a:pPr>
            <a:r>
              <a:t>Claude Haiku / GPT-4.1-mini</a:t>
            </a:r>
          </a:p>
        </p:txBody>
      </p:sp>
      <p:sp>
        <p:nvSpPr>
          <p:cNvPr id="13" name="TextBox 12"/>
          <p:cNvSpPr txBox="1"/>
          <p:nvPr/>
        </p:nvSpPr>
        <p:spPr>
          <a:xfrm>
            <a:off x="731520" y="4617720"/>
            <a:ext cx="7315200" cy="365760"/>
          </a:xfrm>
          <a:prstGeom prst="rect">
            <a:avLst/>
          </a:prstGeom>
          <a:noFill/>
        </p:spPr>
        <p:txBody>
          <a:bodyPr wrap="square">
            <a:spAutoFit/>
          </a:bodyPr>
          <a:lstStyle/>
          <a:p>
            <a:pPr algn="l">
              <a:defRPr sz="1200" b="0">
                <a:solidFill>
                  <a:srgbClr val="A8B2D1"/>
                </a:solidFill>
              </a:defRPr>
            </a:pPr>
            <a:r>
              <a:t>Completions • Small edits • Boilerplate • Sub-agent tasks</a:t>
            </a:r>
          </a:p>
        </p:txBody>
      </p:sp>
      <p:sp>
        <p:nvSpPr>
          <p:cNvPr id="14" name="TextBox 13"/>
          <p:cNvSpPr txBox="1"/>
          <p:nvPr/>
        </p:nvSpPr>
        <p:spPr>
          <a:xfrm>
            <a:off x="9601200" y="4389120"/>
            <a:ext cx="1828800" cy="365760"/>
          </a:xfrm>
          <a:prstGeom prst="rect">
            <a:avLst/>
          </a:prstGeom>
          <a:noFill/>
        </p:spPr>
        <p:txBody>
          <a:bodyPr wrap="square">
            <a:spAutoFit/>
          </a:bodyPr>
          <a:lstStyle/>
          <a:p>
            <a:pPr algn="r">
              <a:defRPr sz="1100" b="1">
                <a:solidFill>
                  <a:srgbClr val="2ED573"/>
                </a:solidFill>
              </a:defRPr>
            </a:pPr>
            <a:r>
              <a:t>FAST &amp; CHEAP</a:t>
            </a:r>
          </a:p>
        </p:txBody>
      </p:sp>
      <p:sp>
        <p:nvSpPr>
          <p:cNvPr id="15" name="TextBox 14"/>
          <p:cNvSpPr txBox="1"/>
          <p:nvPr/>
        </p:nvSpPr>
        <p:spPr>
          <a:xfrm>
            <a:off x="457200" y="1005840"/>
            <a:ext cx="1828800" cy="274320"/>
          </a:xfrm>
          <a:prstGeom prst="rect">
            <a:avLst/>
          </a:prstGeom>
          <a:noFill/>
        </p:spPr>
        <p:txBody>
          <a:bodyPr wrap="square">
            <a:spAutoFit/>
          </a:bodyPr>
          <a:lstStyle/>
          <a:p>
            <a:pPr algn="l">
              <a:defRPr sz="1200" b="0">
                <a:solidFill>
                  <a:srgbClr val="E94560"/>
                </a:solidFill>
              </a:defRPr>
            </a:pPr>
            <a:r>
              <a:t>💰 $$$</a:t>
            </a:r>
          </a:p>
        </p:txBody>
      </p:sp>
      <p:sp>
        <p:nvSpPr>
          <p:cNvPr id="16" name="TextBox 15"/>
          <p:cNvSpPr txBox="1"/>
          <p:nvPr/>
        </p:nvSpPr>
        <p:spPr>
          <a:xfrm>
            <a:off x="457200" y="5212080"/>
            <a:ext cx="1828800" cy="274320"/>
          </a:xfrm>
          <a:prstGeom prst="rect">
            <a:avLst/>
          </a:prstGeom>
          <a:noFill/>
        </p:spPr>
        <p:txBody>
          <a:bodyPr wrap="square">
            <a:spAutoFit/>
          </a:bodyPr>
          <a:lstStyle/>
          <a:p>
            <a:pPr algn="l">
              <a:defRPr sz="1200" b="0">
                <a:solidFill>
                  <a:srgbClr val="2ED573"/>
                </a:solidFill>
              </a:defRPr>
            </a:pPr>
            <a:r>
              <a:t>💰 $</a:t>
            </a:r>
          </a:p>
        </p:txBody>
      </p:sp>
      <p:sp>
        <p:nvSpPr>
          <p:cNvPr id="17" name="Rounded Rectangle 16"/>
          <p:cNvSpPr/>
          <p:nvPr/>
        </p:nvSpPr>
        <p:spPr>
          <a:xfrm>
            <a:off x="457200" y="5669280"/>
            <a:ext cx="10972800" cy="731520"/>
          </a:xfrm>
          <a:prstGeom prst="roundRect">
            <a:avLst/>
          </a:prstGeom>
          <a:solidFill>
            <a:srgbClr val="0F1F3A"/>
          </a:solidFill>
          <a:ln w="19050">
            <a:solidFill>
              <a:srgbClr val="4FACF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a:solidFill>
                  <a:srgbClr val="4FACFE"/>
                </a:solidFill>
              </a:defRPr>
            </a:pPr>
            <a:r>
              <a:t>💡 Rule of thumb: Start light → escalate only if quality is insufficient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square">
            <a:spAutoFit/>
          </a:bodyPr>
          <a:lstStyle/>
          <a:p>
            <a:pPr>
              <a:defRPr sz="3200" b="1">
                <a:solidFill>
                  <a:srgbClr val="FFFFFF"/>
                </a:solidFill>
              </a:defRPr>
            </a:pPr>
            <a:r>
              <a:t>📉 6 Strategies to Reduce Tokens</a:t>
            </a:r>
          </a:p>
        </p:txBody>
      </p:sp>
      <p:sp>
        <p:nvSpPr>
          <p:cNvPr id="3" name="TextBox 2"/>
          <p:cNvSpPr txBox="1"/>
          <p:nvPr/>
        </p:nvSpPr>
        <p:spPr>
          <a:xfrm>
            <a:off x="457200" y="1188720"/>
            <a:ext cx="10972800" cy="4754880"/>
          </a:xfrm>
          <a:prstGeom prst="rect">
            <a:avLst/>
          </a:prstGeom>
          <a:noFill/>
        </p:spPr>
        <p:txBody>
          <a:bodyPr wrap="square">
            <a:spAutoFit/>
          </a:bodyPr>
          <a:lstStyle/>
          <a:p>
            <a:pPr>
              <a:spcAft>
                <a:spcPts val="400"/>
              </a:spcAft>
              <a:defRPr sz="1400" b="0">
                <a:solidFill>
                  <a:srgbClr val="E0E0E0"/>
                </a:solidFill>
              </a:defRPr>
            </a:pPr>
            <a:r>
              <a:t>🎯  Precise prompts from the start</a:t>
            </a:r>
          </a:p>
          <a:p>
            <a:pPr>
              <a:spcAft>
                <a:spcPts val="400"/>
              </a:spcAft>
              <a:defRPr sz="1400" b="0">
                <a:solidFill>
                  <a:srgbClr val="E0E0E0"/>
                </a:solidFill>
              </a:defRPr>
            </a:pPr>
            <a:r>
              <a:t>     Fewer round-trips = fewer tokens consumed</a:t>
            </a:r>
          </a:p>
          <a:p>
            <a:pPr>
              <a:spcAft>
                <a:spcPts val="400"/>
              </a:spcAft>
              <a:defRPr sz="1400" b="0">
                <a:solidFill>
                  <a:srgbClr val="E0E0E0"/>
                </a:solidFill>
              </a:defRPr>
            </a:pPr>
          </a:p>
          <a:p>
            <a:pPr>
              <a:spcAft>
                <a:spcPts val="400"/>
              </a:spcAft>
              <a:defRPr sz="1400" b="0">
                <a:solidFill>
                  <a:srgbClr val="E0E0E0"/>
                </a:solidFill>
              </a:defRPr>
            </a:pPr>
            <a:r>
              <a:t>📁  copilot-instructions.md</a:t>
            </a:r>
          </a:p>
          <a:p>
            <a:pPr>
              <a:spcAft>
                <a:spcPts val="400"/>
              </a:spcAft>
              <a:defRPr sz="1400" b="0">
                <a:solidFill>
                  <a:srgbClr val="E0E0E0"/>
                </a:solidFill>
              </a:defRPr>
            </a:pPr>
            <a:r>
              <a:t>     Context loaded once, never repeated every message</a:t>
            </a:r>
          </a:p>
          <a:p>
            <a:pPr>
              <a:spcAft>
                <a:spcPts val="400"/>
              </a:spcAft>
              <a:defRPr sz="1400" b="0">
                <a:solidFill>
                  <a:srgbClr val="E0E0E0"/>
                </a:solidFill>
              </a:defRPr>
            </a:pPr>
          </a:p>
          <a:p>
            <a:pPr>
              <a:spcAft>
                <a:spcPts val="400"/>
              </a:spcAft>
              <a:defRPr sz="1400" b="0">
                <a:solidFill>
                  <a:srgbClr val="E0E0E0"/>
                </a:solidFill>
              </a:defRPr>
            </a:pPr>
            <a:r>
              <a:t>🔀  Reusable Skills &amp; Prompt Templates</a:t>
            </a:r>
          </a:p>
          <a:p>
            <a:pPr>
              <a:spcAft>
                <a:spcPts val="400"/>
              </a:spcAft>
              <a:defRPr sz="1400" b="0">
                <a:solidFill>
                  <a:srgbClr val="E0E0E0"/>
                </a:solidFill>
              </a:defRPr>
            </a:pPr>
            <a:r>
              <a:t>     Stop reformulating the same requests</a:t>
            </a:r>
          </a:p>
          <a:p>
            <a:pPr>
              <a:spcAft>
                <a:spcPts val="400"/>
              </a:spcAft>
              <a:defRPr sz="1400" b="0">
                <a:solidFill>
                  <a:srgbClr val="E0E0E0"/>
                </a:solidFill>
              </a:defRPr>
            </a:pPr>
          </a:p>
          <a:p>
            <a:pPr>
              <a:spcAft>
                <a:spcPts val="400"/>
              </a:spcAft>
              <a:defRPr sz="1400" b="0">
                <a:solidFill>
                  <a:srgbClr val="E0E0E0"/>
                </a:solidFill>
              </a:defRPr>
            </a:pPr>
            <a:r>
              <a:t>🧹  Fresh conversations</a:t>
            </a:r>
          </a:p>
          <a:p>
            <a:pPr>
              <a:spcAft>
                <a:spcPts val="400"/>
              </a:spcAft>
              <a:defRPr sz="1400" b="0">
                <a:solidFill>
                  <a:srgbClr val="E0E0E0"/>
                </a:solidFill>
              </a:defRPr>
            </a:pPr>
            <a:r>
              <a:t>     New chat when context is polluted or too long</a:t>
            </a:r>
          </a:p>
          <a:p>
            <a:pPr>
              <a:spcAft>
                <a:spcPts val="400"/>
              </a:spcAft>
              <a:defRPr sz="1400" b="0">
                <a:solidFill>
                  <a:srgbClr val="E0E0E0"/>
                </a:solidFill>
              </a:defRPr>
            </a:pPr>
          </a:p>
          <a:p>
            <a:pPr>
              <a:spcAft>
                <a:spcPts val="400"/>
              </a:spcAft>
              <a:defRPr sz="1400" b="0">
                <a:solidFill>
                  <a:srgbClr val="E0E0E0"/>
                </a:solidFill>
              </a:defRPr>
            </a:pPr>
            <a:r>
              <a:t>📏  Right model = right cost</a:t>
            </a:r>
          </a:p>
          <a:p>
            <a:pPr>
              <a:spcAft>
                <a:spcPts val="400"/>
              </a:spcAft>
              <a:defRPr sz="1400" b="0">
                <a:solidFill>
                  <a:srgbClr val="E0E0E0"/>
                </a:solidFill>
              </a:defRPr>
            </a:pPr>
            <a:r>
              <a:t>     Haiku for simple tasks, Sonnet for the rest, Opus only when needed</a:t>
            </a:r>
          </a:p>
          <a:p>
            <a:pPr>
              <a:spcAft>
                <a:spcPts val="400"/>
              </a:spcAft>
              <a:defRPr sz="1400" b="0">
                <a:solidFill>
                  <a:srgbClr val="E0E0E0"/>
                </a:solidFill>
              </a:defRPr>
            </a:pPr>
          </a:p>
          <a:p>
            <a:pPr>
              <a:spcAft>
                <a:spcPts val="400"/>
              </a:spcAft>
              <a:defRPr sz="1400" b="0">
                <a:solidFill>
                  <a:srgbClr val="E0E0E0"/>
                </a:solidFill>
              </a:defRPr>
            </a:pPr>
            <a:r>
              <a:t>🦴  Caveman Mode</a:t>
            </a:r>
          </a:p>
          <a:p>
            <a:pPr>
              <a:spcAft>
                <a:spcPts val="400"/>
              </a:spcAft>
              <a:defRPr sz="1400" b="0">
                <a:solidFill>
                  <a:srgbClr val="E0E0E0"/>
                </a:solidFill>
              </a:defRPr>
            </a:pPr>
            <a:r>
              <a:t>     50-70% fewer output tokens, same code quality</a:t>
            </a:r>
          </a:p>
        </p:txBody>
      </p:sp>
      <p:sp>
        <p:nvSpPr>
          <p:cNvPr id="4" name="TextBox 3"/>
          <p:cNvSpPr txBox="1"/>
          <p:nvPr/>
        </p:nvSpPr>
        <p:spPr>
          <a:xfrm>
            <a:off x="457200" y="5943600"/>
            <a:ext cx="10972800" cy="3657600"/>
          </a:xfrm>
          <a:prstGeom prst="rect">
            <a:avLst/>
          </a:prstGeom>
          <a:noFill/>
        </p:spPr>
        <p:txBody>
          <a:bodyPr wrap="square">
            <a:spAutoFit/>
          </a:bodyPr>
          <a:lstStyle/>
          <a:p>
            <a:pPr>
              <a:spcAft>
                <a:spcPts val="400"/>
              </a:spcAft>
              <a:defRPr sz="1400" b="1">
                <a:solidFill>
                  <a:srgbClr val="FFD700"/>
                </a:solidFill>
              </a:defRPr>
            </a:pPr>
            <a:r>
              <a:t>💰 Output tokens cost 3-4x more than input → Caveman = biggest ROI</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square">
            <a:spAutoFit/>
          </a:bodyPr>
          <a:lstStyle/>
          <a:p>
            <a:pPr>
              <a:defRPr sz="3200" b="1">
                <a:solidFill>
                  <a:srgbClr val="FFFFFF"/>
                </a:solidFill>
              </a:defRPr>
            </a:pPr>
            <a:r>
              <a:t>🦴 Caveman Mode — Live Exercise</a:t>
            </a:r>
          </a:p>
        </p:txBody>
      </p:sp>
      <p:sp>
        <p:nvSpPr>
          <p:cNvPr id="3" name="TextBox 2"/>
          <p:cNvSpPr txBox="1"/>
          <p:nvPr/>
        </p:nvSpPr>
        <p:spPr>
          <a:xfrm>
            <a:off x="457200" y="1097280"/>
            <a:ext cx="10972800" cy="3657600"/>
          </a:xfrm>
          <a:prstGeom prst="rect">
            <a:avLst/>
          </a:prstGeom>
          <a:noFill/>
        </p:spPr>
        <p:txBody>
          <a:bodyPr wrap="square">
            <a:spAutoFit/>
          </a:bodyPr>
          <a:lstStyle/>
          <a:p>
            <a:pPr>
              <a:spcAft>
                <a:spcPts val="400"/>
              </a:spcAft>
              <a:defRPr sz="1600" b="1">
                <a:solidFill>
                  <a:srgbClr val="FFFFFF"/>
                </a:solidFill>
              </a:defRPr>
            </a:pPr>
            <a:r>
              <a:t>Concept: force Copilot to respond in ultra-concise mode</a:t>
            </a:r>
          </a:p>
          <a:p>
            <a:pPr>
              <a:spcAft>
                <a:spcPts val="400"/>
              </a:spcAft>
              <a:defRPr sz="1600" b="1">
                <a:solidFill>
                  <a:srgbClr val="FFFFFF"/>
                </a:solidFill>
              </a:defRPr>
            </a:pPr>
            <a:r>
              <a:t>Generated code stays identical — only the chatter is reduced</a:t>
            </a:r>
          </a:p>
        </p:txBody>
      </p:sp>
      <p:sp>
        <p:nvSpPr>
          <p:cNvPr id="4" name="TextBox 3"/>
          <p:cNvSpPr txBox="1"/>
          <p:nvPr/>
        </p:nvSpPr>
        <p:spPr>
          <a:xfrm>
            <a:off x="457200" y="2011680"/>
            <a:ext cx="10972800" cy="3200400"/>
          </a:xfrm>
          <a:prstGeom prst="rect">
            <a:avLst/>
          </a:prstGeom>
          <a:noFill/>
        </p:spPr>
        <p:txBody>
          <a:bodyPr wrap="square">
            <a:spAutoFit/>
          </a:bodyPr>
          <a:lstStyle/>
          <a:p>
            <a:pPr>
              <a:spcAft>
                <a:spcPts val="400"/>
              </a:spcAft>
              <a:defRPr sz="1400" b="0">
                <a:solidFill>
                  <a:srgbClr val="E0E0E0"/>
                </a:solidFill>
              </a:defRPr>
            </a:pPr>
            <a:r>
              <a:t>📦 Install:  .github/skills/caveman-mode/SKILL.md</a:t>
            </a:r>
          </a:p>
          <a:p>
            <a:pPr>
              <a:spcAft>
                <a:spcPts val="400"/>
              </a:spcAft>
              <a:defRPr sz="1400" b="0">
                <a:solidFill>
                  <a:srgbClr val="E0E0E0"/>
                </a:solidFill>
              </a:defRPr>
            </a:pPr>
          </a:p>
          <a:p>
            <a:pPr>
              <a:spcAft>
                <a:spcPts val="400"/>
              </a:spcAft>
              <a:defRPr sz="1400" b="0">
                <a:solidFill>
                  <a:srgbClr val="E0E0E0"/>
                </a:solidFill>
              </a:defRPr>
            </a:pPr>
            <a:r>
              <a:t>🧪 A/B Exercise:</a:t>
            </a:r>
          </a:p>
          <a:p>
            <a:pPr>
              <a:spcAft>
                <a:spcPts val="400"/>
              </a:spcAft>
              <a:defRPr sz="1400" b="0">
                <a:solidFill>
                  <a:srgbClr val="E0E0E0"/>
                </a:solidFill>
              </a:defRPr>
            </a:pPr>
          </a:p>
          <a:p>
            <a:pPr>
              <a:spcAft>
                <a:spcPts val="400"/>
              </a:spcAft>
              <a:defRPr sz="1400" b="0">
                <a:solidFill>
                  <a:srgbClr val="E0E0E0"/>
                </a:solidFill>
              </a:defRPr>
            </a:pPr>
            <a:r>
              <a:t>   ❶ WITHOUT Caveman</a:t>
            </a:r>
          </a:p>
          <a:p>
            <a:pPr>
              <a:spcAft>
                <a:spcPts val="400"/>
              </a:spcAft>
              <a:defRPr sz="1400" b="0">
                <a:solidFill>
                  <a:srgbClr val="E0E0E0"/>
                </a:solidFill>
              </a:defRPr>
            </a:pPr>
            <a:r>
              <a:t>      → "Explain the retry with exponential backoff"  →  ~800 tokens</a:t>
            </a:r>
          </a:p>
          <a:p>
            <a:pPr>
              <a:spcAft>
                <a:spcPts val="400"/>
              </a:spcAft>
              <a:defRPr sz="1400" b="0">
                <a:solidFill>
                  <a:srgbClr val="E0E0E0"/>
                </a:solidFill>
              </a:defRPr>
            </a:pPr>
          </a:p>
          <a:p>
            <a:pPr>
              <a:spcAft>
                <a:spcPts val="400"/>
              </a:spcAft>
              <a:defRPr sz="1400" b="0">
                <a:solidFill>
                  <a:srgbClr val="E0E0E0"/>
                </a:solidFill>
              </a:defRPr>
            </a:pPr>
            <a:r>
              <a:t>   ❷ WITH  /caveman-mode  (same prompt)</a:t>
            </a:r>
          </a:p>
          <a:p>
            <a:pPr>
              <a:spcAft>
                <a:spcPts val="400"/>
              </a:spcAft>
              <a:defRPr sz="1400" b="0">
                <a:solidFill>
                  <a:srgbClr val="E0E0E0"/>
                </a:solidFill>
              </a:defRPr>
            </a:pPr>
            <a:r>
              <a:t>      → Response in 3-6 word sentences                →  ~250 tokens</a:t>
            </a:r>
          </a:p>
          <a:p>
            <a:pPr>
              <a:spcAft>
                <a:spcPts val="400"/>
              </a:spcAft>
              <a:defRPr sz="1400" b="0">
                <a:solidFill>
                  <a:srgbClr val="E0E0E0"/>
                </a:solidFill>
              </a:defRPr>
            </a:pPr>
          </a:p>
          <a:p>
            <a:pPr>
              <a:spcAft>
                <a:spcPts val="400"/>
              </a:spcAft>
              <a:defRPr sz="1400" b="0">
                <a:solidFill>
                  <a:srgbClr val="E0E0E0"/>
                </a:solidFill>
              </a:defRPr>
            </a:pPr>
            <a:r>
              <a:t>   ❸ Code generation with Caveman active</a:t>
            </a:r>
          </a:p>
          <a:p>
            <a:pPr>
              <a:spcAft>
                <a:spcPts val="400"/>
              </a:spcAft>
              <a:defRPr sz="1400" b="0">
                <a:solidFill>
                  <a:srgbClr val="E0E0E0"/>
                </a:solidFill>
              </a:defRPr>
            </a:pPr>
            <a:r>
              <a:t>      → Identical code quality, -65% chatter around it</a:t>
            </a:r>
          </a:p>
        </p:txBody>
      </p:sp>
      <p:sp>
        <p:nvSpPr>
          <p:cNvPr id="5" name="TextBox 4"/>
          <p:cNvSpPr txBox="1"/>
          <p:nvPr/>
        </p:nvSpPr>
        <p:spPr>
          <a:xfrm>
            <a:off x="457200" y="5029200"/>
            <a:ext cx="10972800" cy="3657600"/>
          </a:xfrm>
          <a:prstGeom prst="rect">
            <a:avLst/>
          </a:prstGeom>
          <a:noFill/>
        </p:spPr>
        <p:txBody>
          <a:bodyPr wrap="square">
            <a:spAutoFit/>
          </a:bodyPr>
          <a:lstStyle/>
          <a:p>
            <a:pPr>
              <a:spcAft>
                <a:spcPts val="400"/>
              </a:spcAft>
              <a:defRPr sz="1500" b="1">
                <a:solidFill>
                  <a:srgbClr val="80FF80"/>
                </a:solidFill>
              </a:defRPr>
            </a:pPr>
            <a:r>
              <a:t>📊 Typical results:   Explanations -69%  •  Code gen -62%  •  Debug -67%</a:t>
            </a:r>
          </a:p>
        </p:txBody>
      </p:sp>
      <p:sp>
        <p:nvSpPr>
          <p:cNvPr id="6" name="TextBox 5"/>
          <p:cNvSpPr txBox="1"/>
          <p:nvPr/>
        </p:nvSpPr>
        <p:spPr>
          <a:xfrm>
            <a:off x="457200" y="5669280"/>
            <a:ext cx="10972800" cy="3657600"/>
          </a:xfrm>
          <a:prstGeom prst="rect">
            <a:avLst/>
          </a:prstGeom>
          <a:noFill/>
        </p:spPr>
        <p:txBody>
          <a:bodyPr wrap="square">
            <a:spAutoFit/>
          </a:bodyPr>
          <a:lstStyle/>
          <a:p>
            <a:pPr>
              <a:spcAft>
                <a:spcPts val="400"/>
              </a:spcAft>
              <a:defRPr sz="1300" b="0">
                <a:solidFill>
                  <a:srgbClr val="FFD700"/>
                </a:solidFill>
              </a:defRPr>
            </a:pPr>
            <a:r>
              <a:t>✅ Enable for: code generation, fast debug, CI/CD</a:t>
            </a:r>
          </a:p>
          <a:p>
            <a:pPr>
              <a:spcAft>
                <a:spcPts val="400"/>
              </a:spcAft>
              <a:defRPr sz="1300" b="0">
                <a:solidFill>
                  <a:srgbClr val="FFD700"/>
                </a:solidFill>
              </a:defRPr>
            </a:pPr>
            <a:r>
              <a:t>❌ Don't enable for: learning, exploration, onboarding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square">
            <a:spAutoFit/>
          </a:bodyPr>
          <a:lstStyle/>
          <a:p>
            <a:pPr algn="l">
              <a:defRPr sz="3600" b="1">
                <a:solidFill>
                  <a:srgbClr val="E94560"/>
                </a:solidFill>
              </a:defRPr>
            </a:pPr>
            <a:r>
              <a:t>👥 Sharing Skills Across Teams</a:t>
            </a:r>
          </a:p>
        </p:txBody>
      </p:sp>
      <p:sp>
        <p:nvSpPr>
          <p:cNvPr id="3" name="Rounded Rectangle 2"/>
          <p:cNvSpPr/>
          <p:nvPr/>
        </p:nvSpPr>
        <p:spPr>
          <a:xfrm>
            <a:off x="274320" y="1371600"/>
            <a:ext cx="2560320" cy="914400"/>
          </a:xfrm>
          <a:prstGeom prst="roundRect">
            <a:avLst/>
          </a:prstGeom>
          <a:solidFill>
            <a:srgbClr val="16213E"/>
          </a:solidFill>
          <a:ln w="19050">
            <a:solidFill>
              <a:srgbClr val="E9456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a:solidFill>
                  <a:srgbClr val="C8D6E5"/>
                </a:solidFill>
              </a:defRPr>
            </a:pPr>
            <a:r>
              <a:t>Team Alpha</a:t>
            </a:r>
            <a:br/>
            <a:r>
              <a:t>API skills • Testing</a:t>
            </a:r>
          </a:p>
        </p:txBody>
      </p:sp>
      <p:sp>
        <p:nvSpPr>
          <p:cNvPr id="4" name="Rounded Rectangle 3"/>
          <p:cNvSpPr/>
          <p:nvPr/>
        </p:nvSpPr>
        <p:spPr>
          <a:xfrm>
            <a:off x="274320" y="2560320"/>
            <a:ext cx="2560320" cy="914400"/>
          </a:xfrm>
          <a:prstGeom prst="roundRect">
            <a:avLst/>
          </a:prstGeom>
          <a:solidFill>
            <a:srgbClr val="16213E"/>
          </a:solidFill>
          <a:ln w="19050">
            <a:solidFill>
              <a:srgbClr val="4FACF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a:solidFill>
                  <a:srgbClr val="C8D6E5"/>
                </a:solidFill>
              </a:defRPr>
            </a:pPr>
            <a:r>
              <a:t>Team Beta</a:t>
            </a:r>
            <a:br/>
            <a:r>
              <a:t>DevOps • CI/CD</a:t>
            </a:r>
          </a:p>
        </p:txBody>
      </p:sp>
      <p:sp>
        <p:nvSpPr>
          <p:cNvPr id="5" name="TextBox 4"/>
          <p:cNvSpPr txBox="1"/>
          <p:nvPr/>
        </p:nvSpPr>
        <p:spPr>
          <a:xfrm>
            <a:off x="3017520" y="1828800"/>
            <a:ext cx="731520" cy="457200"/>
          </a:xfrm>
          <a:prstGeom prst="rect">
            <a:avLst/>
          </a:prstGeom>
          <a:noFill/>
        </p:spPr>
        <p:txBody>
          <a:bodyPr wrap="square">
            <a:spAutoFit/>
          </a:bodyPr>
          <a:lstStyle/>
          <a:p>
            <a:pPr algn="ctr">
              <a:defRPr sz="2400" b="0">
                <a:solidFill>
                  <a:srgbClr val="A8B2D1"/>
                </a:solidFill>
              </a:defRPr>
            </a:pPr>
            <a:r>
              <a:t>→</a:t>
            </a:r>
          </a:p>
        </p:txBody>
      </p:sp>
      <p:sp>
        <p:nvSpPr>
          <p:cNvPr id="6" name="Rounded Rectangle 5"/>
          <p:cNvSpPr/>
          <p:nvPr/>
        </p:nvSpPr>
        <p:spPr>
          <a:xfrm>
            <a:off x="3657600" y="1371600"/>
            <a:ext cx="3657600" cy="2286000"/>
          </a:xfrm>
          <a:prstGeom prst="roundRect">
            <a:avLst/>
          </a:prstGeom>
          <a:solidFill>
            <a:srgbClr val="16213E"/>
          </a:solidFill>
          <a:ln w="19050">
            <a:solidFill>
              <a:srgbClr val="FFC10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a:solidFill>
                  <a:srgbClr val="FFFFFF"/>
                </a:solidFill>
              </a:defRPr>
            </a:pPr>
            <a:r>
              <a:t>🏢 Org-level .github/</a:t>
            </a:r>
            <a:br/>
            <a:br/>
            <a:r>
              <a:t>Centralized skills &amp; plugins</a:t>
            </a:r>
            <a:br/>
            <a:r>
              <a:t>Shared prompt library</a:t>
            </a:r>
            <a:br/>
            <a:r>
              <a:t>Community-driven</a:t>
            </a:r>
          </a:p>
        </p:txBody>
      </p:sp>
      <p:sp>
        <p:nvSpPr>
          <p:cNvPr id="7" name="TextBox 6"/>
          <p:cNvSpPr txBox="1"/>
          <p:nvPr/>
        </p:nvSpPr>
        <p:spPr>
          <a:xfrm>
            <a:off x="7498079" y="1828800"/>
            <a:ext cx="731520" cy="457200"/>
          </a:xfrm>
          <a:prstGeom prst="rect">
            <a:avLst/>
          </a:prstGeom>
          <a:noFill/>
        </p:spPr>
        <p:txBody>
          <a:bodyPr wrap="square">
            <a:spAutoFit/>
          </a:bodyPr>
          <a:lstStyle/>
          <a:p>
            <a:pPr algn="ctr">
              <a:defRPr sz="2400" b="0">
                <a:solidFill>
                  <a:srgbClr val="A8B2D1"/>
                </a:solidFill>
              </a:defRPr>
            </a:pPr>
            <a:r>
              <a:t>→</a:t>
            </a:r>
          </a:p>
        </p:txBody>
      </p:sp>
      <p:sp>
        <p:nvSpPr>
          <p:cNvPr id="8" name="Rounded Rectangle 7"/>
          <p:cNvSpPr/>
          <p:nvPr/>
        </p:nvSpPr>
        <p:spPr>
          <a:xfrm>
            <a:off x="8229600" y="1371600"/>
            <a:ext cx="3474720" cy="640080"/>
          </a:xfrm>
          <a:prstGeom prst="roundRect">
            <a:avLst/>
          </a:prstGeom>
          <a:solidFill>
            <a:srgbClr val="12251A"/>
          </a:solidFill>
          <a:ln w="19050">
            <a:solidFill>
              <a:srgbClr val="2ED57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a:solidFill>
                  <a:srgbClr val="2ED573"/>
                </a:solidFill>
              </a:defRPr>
            </a:pPr>
            <a:r>
              <a:t>All new projects — Auto-inherit context</a:t>
            </a:r>
          </a:p>
        </p:txBody>
      </p:sp>
      <p:sp>
        <p:nvSpPr>
          <p:cNvPr id="9" name="Rounded Rectangle 8"/>
          <p:cNvSpPr/>
          <p:nvPr/>
        </p:nvSpPr>
        <p:spPr>
          <a:xfrm>
            <a:off x="8229600" y="2148840"/>
            <a:ext cx="3474720" cy="640080"/>
          </a:xfrm>
          <a:prstGeom prst="roundRect">
            <a:avLst/>
          </a:prstGeom>
          <a:solidFill>
            <a:srgbClr val="12251A"/>
          </a:solidFill>
          <a:ln w="19050">
            <a:solidFill>
              <a:srgbClr val="2ED57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a:solidFill>
                  <a:srgbClr val="2ED573"/>
                </a:solidFill>
              </a:defRPr>
            </a:pPr>
            <a:r>
              <a:t>Onboarding — Zero friction start</a:t>
            </a:r>
          </a:p>
        </p:txBody>
      </p:sp>
      <p:sp>
        <p:nvSpPr>
          <p:cNvPr id="10" name="Rounded Rectangle 9"/>
          <p:cNvSpPr/>
          <p:nvPr/>
        </p:nvSpPr>
        <p:spPr>
          <a:xfrm>
            <a:off x="8229600" y="2926080"/>
            <a:ext cx="3474720" cy="640080"/>
          </a:xfrm>
          <a:prstGeom prst="roundRect">
            <a:avLst/>
          </a:prstGeom>
          <a:solidFill>
            <a:srgbClr val="12251A"/>
          </a:solidFill>
          <a:ln w="19050">
            <a:solidFill>
              <a:srgbClr val="2ED57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a:solidFill>
                  <a:srgbClr val="2ED573"/>
                </a:solidFill>
              </a:defRPr>
            </a:pPr>
            <a:r>
              <a:t>Consistency — Same patterns everywhere</a:t>
            </a:r>
          </a:p>
        </p:txBody>
      </p:sp>
      <p:sp>
        <p:nvSpPr>
          <p:cNvPr id="11" name="Rounded Rectangle 10"/>
          <p:cNvSpPr/>
          <p:nvPr/>
        </p:nvSpPr>
        <p:spPr>
          <a:xfrm>
            <a:off x="914400" y="4389120"/>
            <a:ext cx="10058400" cy="640080"/>
          </a:xfrm>
          <a:prstGeom prst="roundRect">
            <a:avLst/>
          </a:prstGeom>
          <a:solidFill>
            <a:srgbClr val="251515"/>
          </a:solidFill>
          <a:ln w="19050">
            <a:solidFill>
              <a:srgbClr val="FF6B6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a:solidFill>
                  <a:srgbClr val="FF6B6B"/>
                </a:solidFill>
              </a:defRPr>
            </a:pPr>
            <a:r>
              <a:t>🚫 Avoid: duplicated skills across teams = wasted effort + inconsistency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square">
            <a:spAutoFit/>
          </a:bodyPr>
          <a:lstStyle/>
          <a:p>
            <a:pPr>
              <a:defRPr sz="3200" b="1">
                <a:solidFill>
                  <a:srgbClr val="FFFFFF"/>
                </a:solidFill>
              </a:defRPr>
            </a:pPr>
            <a:r>
              <a:t>🗺️ Copilot Agentic Roadmap</a:t>
            </a:r>
          </a:p>
        </p:txBody>
      </p:sp>
      <p:sp>
        <p:nvSpPr>
          <p:cNvPr id="3" name="TextBox 2"/>
          <p:cNvSpPr txBox="1"/>
          <p:nvPr/>
        </p:nvSpPr>
        <p:spPr>
          <a:xfrm>
            <a:off x="457200" y="1280160"/>
            <a:ext cx="10972800" cy="3657600"/>
          </a:xfrm>
          <a:prstGeom prst="rect">
            <a:avLst/>
          </a:prstGeom>
          <a:noFill/>
        </p:spPr>
        <p:txBody>
          <a:bodyPr wrap="square">
            <a:spAutoFit/>
          </a:bodyPr>
          <a:lstStyle/>
          <a:p>
            <a:pPr>
              <a:spcAft>
                <a:spcPts val="400"/>
              </a:spcAft>
              <a:defRPr sz="1500" b="0">
                <a:solidFill>
                  <a:srgbClr val="FFFFFF"/>
                </a:solidFill>
              </a:defRPr>
            </a:pPr>
            <a:r>
              <a:t>  ✓ Completion            ✓ Chat &amp; Agent            ✓ Multi-Agent               → Autonomous</a:t>
            </a:r>
          </a:p>
          <a:p>
            <a:pPr>
              <a:spcAft>
                <a:spcPts val="400"/>
              </a:spcAft>
              <a:defRPr sz="1500" b="0">
                <a:solidFill>
                  <a:srgbClr val="FFFFFF"/>
                </a:solidFill>
              </a:defRPr>
            </a:pPr>
            <a:r>
              <a:t>     Code suggestions        Conversational AI         Orchestration                Full workflow agents</a:t>
            </a:r>
          </a:p>
        </p:txBody>
      </p:sp>
      <p:sp>
        <p:nvSpPr>
          <p:cNvPr id="4" name="TextBox 3"/>
          <p:cNvSpPr txBox="1"/>
          <p:nvPr/>
        </p:nvSpPr>
        <p:spPr>
          <a:xfrm>
            <a:off x="457200" y="2286000"/>
            <a:ext cx="10972800" cy="3657600"/>
          </a:xfrm>
          <a:prstGeom prst="rect">
            <a:avLst/>
          </a:prstGeom>
          <a:noFill/>
        </p:spPr>
        <p:txBody>
          <a:bodyPr wrap="square">
            <a:spAutoFit/>
          </a:bodyPr>
          <a:lstStyle/>
          <a:p>
            <a:pPr>
              <a:spcAft>
                <a:spcPts val="400"/>
              </a:spcAft>
              <a:defRPr sz="1600" b="1">
                <a:solidFill>
                  <a:srgbClr val="FFA000"/>
                </a:solidFill>
              </a:defRPr>
            </a:pPr>
            <a:r>
              <a:t>                                                                       ▲ WE ARE HERE (native since VS Code 1.109)</a:t>
            </a:r>
          </a:p>
        </p:txBody>
      </p:sp>
      <p:sp>
        <p:nvSpPr>
          <p:cNvPr id="5" name="TextBox 4"/>
          <p:cNvSpPr txBox="1"/>
          <p:nvPr/>
        </p:nvSpPr>
        <p:spPr>
          <a:xfrm>
            <a:off x="457200" y="3200400"/>
            <a:ext cx="10972800" cy="3200400"/>
          </a:xfrm>
          <a:prstGeom prst="rect">
            <a:avLst/>
          </a:prstGeom>
          <a:noFill/>
        </p:spPr>
        <p:txBody>
          <a:bodyPr wrap="square">
            <a:spAutoFit/>
          </a:bodyPr>
          <a:lstStyle/>
          <a:p>
            <a:pPr>
              <a:spcAft>
                <a:spcPts val="400"/>
              </a:spcAft>
              <a:defRPr sz="1500" b="0">
                <a:solidFill>
                  <a:srgbClr val="E0E0E0"/>
                </a:solidFill>
              </a:defRPr>
            </a:pPr>
            <a:r>
              <a:t>What's ALREADY available today:</a:t>
            </a:r>
          </a:p>
          <a:p>
            <a:pPr>
              <a:spcAft>
                <a:spcPts val="400"/>
              </a:spcAft>
              <a:defRPr sz="1500" b="0">
                <a:solidFill>
                  <a:srgbClr val="E0E0E0"/>
                </a:solidFill>
              </a:defRPr>
            </a:pPr>
          </a:p>
          <a:p>
            <a:pPr>
              <a:spcAft>
                <a:spcPts val="400"/>
              </a:spcAft>
              <a:defRPr sz="1500" b="0">
                <a:solidFill>
                  <a:srgbClr val="E0E0E0"/>
                </a:solidFill>
              </a:defRPr>
            </a:pPr>
            <a:r>
              <a:t>  ✓  Agent Sessions View (local / background / cloud)</a:t>
            </a:r>
          </a:p>
          <a:p>
            <a:pPr>
              <a:spcAft>
                <a:spcPts val="400"/>
              </a:spcAft>
              <a:defRPr sz="1500" b="0">
                <a:solidFill>
                  <a:srgbClr val="E0E0E0"/>
                </a:solidFill>
              </a:defRPr>
            </a:pPr>
            <a:r>
              <a:t>  ✓  Parallel subagents with isolated context</a:t>
            </a:r>
          </a:p>
          <a:p>
            <a:pPr>
              <a:spcAft>
                <a:spcPts val="400"/>
              </a:spcAft>
              <a:defRPr sz="1500" b="0">
                <a:solidFill>
                  <a:srgbClr val="E0E0E0"/>
                </a:solidFill>
              </a:defRPr>
            </a:pPr>
            <a:r>
              <a:t>  ✓  Claude &amp; Codex as native agents</a:t>
            </a:r>
          </a:p>
          <a:p>
            <a:pPr>
              <a:spcAft>
                <a:spcPts val="400"/>
              </a:spcAft>
              <a:defRPr sz="1500" b="0">
                <a:solidFill>
                  <a:srgbClr val="E0E0E0"/>
                </a:solidFill>
              </a:defRPr>
            </a:pPr>
            <a:r>
              <a:t>  ✓  Custom Agents with automated handoffs</a:t>
            </a:r>
          </a:p>
          <a:p>
            <a:pPr>
              <a:spcAft>
                <a:spcPts val="400"/>
              </a:spcAft>
              <a:defRPr sz="1500" b="0">
                <a:solidFill>
                  <a:srgbClr val="E0E0E0"/>
                </a:solidFill>
              </a:defRPr>
            </a:pPr>
            <a:r>
              <a:t>  ✓  Agent Skills — open standard (agentskills.io)</a:t>
            </a:r>
          </a:p>
          <a:p>
            <a:pPr>
              <a:spcAft>
                <a:spcPts val="400"/>
              </a:spcAft>
              <a:defRPr sz="1500" b="0">
                <a:solidFill>
                  <a:srgbClr val="E0E0E0"/>
                </a:solidFill>
              </a:defRPr>
            </a:pPr>
            <a:r>
              <a:t>  ✓  Caveman Mode for token optimization</a:t>
            </a:r>
          </a:p>
          <a:p>
            <a:pPr>
              <a:spcAft>
                <a:spcPts val="400"/>
              </a:spcAft>
              <a:defRPr sz="1500" b="0">
                <a:solidFill>
                  <a:srgbClr val="E0E0E0"/>
                </a:solidFill>
              </a:defRPr>
            </a:pPr>
          </a:p>
          <a:p>
            <a:pPr>
              <a:spcAft>
                <a:spcPts val="400"/>
              </a:spcAft>
              <a:defRPr sz="1500" b="0">
                <a:solidFill>
                  <a:srgbClr val="E0E0E0"/>
                </a:solidFill>
              </a:defRPr>
            </a:pPr>
            <a:r>
              <a:t>🎯 Orange: industrializing NOW positions us</a:t>
            </a:r>
          </a:p>
          <a:p>
            <a:pPr>
              <a:spcAft>
                <a:spcPts val="400"/>
              </a:spcAft>
              <a:defRPr sz="1500" b="0">
                <a:solidFill>
                  <a:srgbClr val="E0E0E0"/>
                </a:solidFill>
              </a:defRPr>
            </a:pPr>
            <a:r>
              <a:t>    for autonomous workflows TOMORROW.</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square">
            <a:spAutoFit/>
          </a:bodyPr>
          <a:lstStyle/>
          <a:p>
            <a:pPr algn="l">
              <a:defRPr sz="3600" b="1">
                <a:solidFill>
                  <a:srgbClr val="E94560"/>
                </a:solidFill>
              </a:defRPr>
            </a:pPr>
            <a:r>
              <a:t>⚠️ Common Pitfalls</a:t>
            </a:r>
          </a:p>
        </p:txBody>
      </p:sp>
      <p:sp>
        <p:nvSpPr>
          <p:cNvPr id="3" name="TextBox 2"/>
          <p:cNvSpPr txBox="1"/>
          <p:nvPr/>
        </p:nvSpPr>
        <p:spPr>
          <a:xfrm>
            <a:off x="457200" y="1280160"/>
            <a:ext cx="548640" cy="457200"/>
          </a:xfrm>
          <a:prstGeom prst="rect">
            <a:avLst/>
          </a:prstGeom>
          <a:noFill/>
        </p:spPr>
        <p:txBody>
          <a:bodyPr wrap="square">
            <a:spAutoFit/>
          </a:bodyPr>
          <a:lstStyle/>
          <a:p>
            <a:pPr algn="ctr">
              <a:defRPr sz="2200" b="0">
                <a:solidFill>
                  <a:srgbClr val="FFFFFF"/>
                </a:solidFill>
              </a:defRPr>
            </a:pPr>
            <a:r>
              <a:t>🚫</a:t>
            </a:r>
          </a:p>
        </p:txBody>
      </p:sp>
      <p:sp>
        <p:nvSpPr>
          <p:cNvPr id="4" name="TextBox 3"/>
          <p:cNvSpPr txBox="1"/>
          <p:nvPr/>
        </p:nvSpPr>
        <p:spPr>
          <a:xfrm>
            <a:off x="1188720" y="1280160"/>
            <a:ext cx="2743200" cy="457200"/>
          </a:xfrm>
          <a:prstGeom prst="rect">
            <a:avLst/>
          </a:prstGeom>
          <a:noFill/>
        </p:spPr>
        <p:txBody>
          <a:bodyPr wrap="square">
            <a:spAutoFit/>
          </a:bodyPr>
          <a:lstStyle/>
          <a:p>
            <a:pPr algn="l">
              <a:defRPr sz="1800" b="1">
                <a:solidFill>
                  <a:srgbClr val="FFFFFF"/>
                </a:solidFill>
              </a:defRPr>
            </a:pPr>
            <a:r>
              <a:t>YOLO mode</a:t>
            </a:r>
          </a:p>
        </p:txBody>
      </p:sp>
      <p:sp>
        <p:nvSpPr>
          <p:cNvPr id="5" name="TextBox 4"/>
          <p:cNvSpPr txBox="1"/>
          <p:nvPr/>
        </p:nvSpPr>
        <p:spPr>
          <a:xfrm>
            <a:off x="4114800" y="1325880"/>
            <a:ext cx="7315200" cy="365760"/>
          </a:xfrm>
          <a:prstGeom prst="rect">
            <a:avLst/>
          </a:prstGeom>
          <a:noFill/>
        </p:spPr>
        <p:txBody>
          <a:bodyPr wrap="square">
            <a:spAutoFit/>
          </a:bodyPr>
          <a:lstStyle/>
          <a:p>
            <a:pPr algn="l">
              <a:defRPr sz="1400" b="0">
                <a:solidFill>
                  <a:srgbClr val="A8B2D1"/>
                </a:solidFill>
              </a:defRPr>
            </a:pPr>
            <a:r>
              <a:t>— Never let the agent push/merge without human review</a:t>
            </a:r>
          </a:p>
        </p:txBody>
      </p:sp>
      <p:sp>
        <p:nvSpPr>
          <p:cNvPr id="6" name="TextBox 5"/>
          <p:cNvSpPr txBox="1"/>
          <p:nvPr/>
        </p:nvSpPr>
        <p:spPr>
          <a:xfrm>
            <a:off x="457200" y="2194560"/>
            <a:ext cx="548640" cy="457200"/>
          </a:xfrm>
          <a:prstGeom prst="rect">
            <a:avLst/>
          </a:prstGeom>
          <a:noFill/>
        </p:spPr>
        <p:txBody>
          <a:bodyPr wrap="square">
            <a:spAutoFit/>
          </a:bodyPr>
          <a:lstStyle/>
          <a:p>
            <a:pPr algn="ctr">
              <a:defRPr sz="2200" b="0">
                <a:solidFill>
                  <a:srgbClr val="FFFFFF"/>
                </a:solidFill>
              </a:defRPr>
            </a:pPr>
            <a:r>
              <a:t>🔒</a:t>
            </a:r>
          </a:p>
        </p:txBody>
      </p:sp>
      <p:sp>
        <p:nvSpPr>
          <p:cNvPr id="7" name="TextBox 6"/>
          <p:cNvSpPr txBox="1"/>
          <p:nvPr/>
        </p:nvSpPr>
        <p:spPr>
          <a:xfrm>
            <a:off x="1188720" y="2194560"/>
            <a:ext cx="2743200" cy="457200"/>
          </a:xfrm>
          <a:prstGeom prst="rect">
            <a:avLst/>
          </a:prstGeom>
          <a:noFill/>
        </p:spPr>
        <p:txBody>
          <a:bodyPr wrap="square">
            <a:spAutoFit/>
          </a:bodyPr>
          <a:lstStyle/>
          <a:p>
            <a:pPr algn="l">
              <a:defRPr sz="1800" b="1">
                <a:solidFill>
                  <a:srgbClr val="FFFFFF"/>
                </a:solidFill>
              </a:defRPr>
            </a:pPr>
            <a:r>
              <a:t>Secrets</a:t>
            </a:r>
          </a:p>
        </p:txBody>
      </p:sp>
      <p:sp>
        <p:nvSpPr>
          <p:cNvPr id="8" name="TextBox 7"/>
          <p:cNvSpPr txBox="1"/>
          <p:nvPr/>
        </p:nvSpPr>
        <p:spPr>
          <a:xfrm>
            <a:off x="4114800" y="2240279"/>
            <a:ext cx="7315200" cy="365760"/>
          </a:xfrm>
          <a:prstGeom prst="rect">
            <a:avLst/>
          </a:prstGeom>
          <a:noFill/>
        </p:spPr>
        <p:txBody>
          <a:bodyPr wrap="square">
            <a:spAutoFit/>
          </a:bodyPr>
          <a:lstStyle/>
          <a:p>
            <a:pPr algn="l">
              <a:defRPr sz="1400" b="0">
                <a:solidFill>
                  <a:srgbClr val="A8B2D1"/>
                </a:solidFill>
              </a:defRPr>
            </a:pPr>
            <a:r>
              <a:t>— NEVER paste credentials into the chat</a:t>
            </a:r>
          </a:p>
        </p:txBody>
      </p:sp>
      <p:sp>
        <p:nvSpPr>
          <p:cNvPr id="9" name="TextBox 8"/>
          <p:cNvSpPr txBox="1"/>
          <p:nvPr/>
        </p:nvSpPr>
        <p:spPr>
          <a:xfrm>
            <a:off x="457200" y="3108960"/>
            <a:ext cx="548640" cy="457200"/>
          </a:xfrm>
          <a:prstGeom prst="rect">
            <a:avLst/>
          </a:prstGeom>
          <a:noFill/>
        </p:spPr>
        <p:txBody>
          <a:bodyPr wrap="square">
            <a:spAutoFit/>
          </a:bodyPr>
          <a:lstStyle/>
          <a:p>
            <a:pPr algn="ctr">
              <a:defRPr sz="2200" b="0">
                <a:solidFill>
                  <a:srgbClr val="FFFFFF"/>
                </a:solidFill>
              </a:defRPr>
            </a:pPr>
            <a:r>
              <a:t>👁️</a:t>
            </a:r>
          </a:p>
        </p:txBody>
      </p:sp>
      <p:sp>
        <p:nvSpPr>
          <p:cNvPr id="10" name="TextBox 9"/>
          <p:cNvSpPr txBox="1"/>
          <p:nvPr/>
        </p:nvSpPr>
        <p:spPr>
          <a:xfrm>
            <a:off x="1188720" y="3108960"/>
            <a:ext cx="2743200" cy="457200"/>
          </a:xfrm>
          <a:prstGeom prst="rect">
            <a:avLst/>
          </a:prstGeom>
          <a:noFill/>
        </p:spPr>
        <p:txBody>
          <a:bodyPr wrap="square">
            <a:spAutoFit/>
          </a:bodyPr>
          <a:lstStyle/>
          <a:p>
            <a:pPr algn="l">
              <a:defRPr sz="1800" b="1">
                <a:solidFill>
                  <a:srgbClr val="FFFFFF"/>
                </a:solidFill>
              </a:defRPr>
            </a:pPr>
            <a:r>
              <a:t>Always review</a:t>
            </a:r>
          </a:p>
        </p:txBody>
      </p:sp>
      <p:sp>
        <p:nvSpPr>
          <p:cNvPr id="11" name="TextBox 10"/>
          <p:cNvSpPr txBox="1"/>
          <p:nvPr/>
        </p:nvSpPr>
        <p:spPr>
          <a:xfrm>
            <a:off x="4114800" y="3154679"/>
            <a:ext cx="7315200" cy="365760"/>
          </a:xfrm>
          <a:prstGeom prst="rect">
            <a:avLst/>
          </a:prstGeom>
          <a:noFill/>
        </p:spPr>
        <p:txBody>
          <a:bodyPr wrap="square">
            <a:spAutoFit/>
          </a:bodyPr>
          <a:lstStyle/>
          <a:p>
            <a:pPr algn="l">
              <a:defRPr sz="1400" b="0">
                <a:solidFill>
                  <a:srgbClr val="A8B2D1"/>
                </a:solidFill>
              </a:defRPr>
            </a:pPr>
            <a:r>
              <a:t>— Generated code can be wrong or suboptimal</a:t>
            </a:r>
          </a:p>
        </p:txBody>
      </p:sp>
      <p:sp>
        <p:nvSpPr>
          <p:cNvPr id="12" name="TextBox 11"/>
          <p:cNvSpPr txBox="1"/>
          <p:nvPr/>
        </p:nvSpPr>
        <p:spPr>
          <a:xfrm>
            <a:off x="457200" y="4023360"/>
            <a:ext cx="548640" cy="457200"/>
          </a:xfrm>
          <a:prstGeom prst="rect">
            <a:avLst/>
          </a:prstGeom>
          <a:noFill/>
        </p:spPr>
        <p:txBody>
          <a:bodyPr wrap="square">
            <a:spAutoFit/>
          </a:bodyPr>
          <a:lstStyle/>
          <a:p>
            <a:pPr algn="ctr">
              <a:defRPr sz="2200" b="0">
                <a:solidFill>
                  <a:srgbClr val="FFFFFF"/>
                </a:solidFill>
              </a:defRPr>
            </a:pPr>
            <a:r>
              <a:t>🎯</a:t>
            </a:r>
          </a:p>
        </p:txBody>
      </p:sp>
      <p:sp>
        <p:nvSpPr>
          <p:cNvPr id="13" name="TextBox 12"/>
          <p:cNvSpPr txBox="1"/>
          <p:nvPr/>
        </p:nvSpPr>
        <p:spPr>
          <a:xfrm>
            <a:off x="1188720" y="4023360"/>
            <a:ext cx="2743200" cy="457200"/>
          </a:xfrm>
          <a:prstGeom prst="rect">
            <a:avLst/>
          </a:prstGeom>
          <a:noFill/>
        </p:spPr>
        <p:txBody>
          <a:bodyPr wrap="square">
            <a:spAutoFit/>
          </a:bodyPr>
          <a:lstStyle/>
          <a:p>
            <a:pPr algn="l">
              <a:defRPr sz="1800" b="1">
                <a:solidFill>
                  <a:srgbClr val="FFFFFF"/>
                </a:solidFill>
              </a:defRPr>
            </a:pPr>
            <a:r>
              <a:t>1 prompt = 1 task</a:t>
            </a:r>
          </a:p>
        </p:txBody>
      </p:sp>
      <p:sp>
        <p:nvSpPr>
          <p:cNvPr id="14" name="TextBox 13"/>
          <p:cNvSpPr txBox="1"/>
          <p:nvPr/>
        </p:nvSpPr>
        <p:spPr>
          <a:xfrm>
            <a:off x="4114800" y="4069080"/>
            <a:ext cx="7315200" cy="365760"/>
          </a:xfrm>
          <a:prstGeom prst="rect">
            <a:avLst/>
          </a:prstGeom>
          <a:noFill/>
        </p:spPr>
        <p:txBody>
          <a:bodyPr wrap="square">
            <a:spAutoFit/>
          </a:bodyPr>
          <a:lstStyle/>
          <a:p>
            <a:pPr algn="l">
              <a:defRPr sz="1400" b="0">
                <a:solidFill>
                  <a:srgbClr val="A8B2D1"/>
                </a:solidFill>
              </a:defRPr>
            </a:pPr>
            <a:r>
              <a:t>— No mega-prompts that do everything</a:t>
            </a:r>
          </a:p>
        </p:txBody>
      </p:sp>
      <p:sp>
        <p:nvSpPr>
          <p:cNvPr id="15" name="TextBox 14"/>
          <p:cNvSpPr txBox="1"/>
          <p:nvPr/>
        </p:nvSpPr>
        <p:spPr>
          <a:xfrm>
            <a:off x="457200" y="4937760"/>
            <a:ext cx="548640" cy="457200"/>
          </a:xfrm>
          <a:prstGeom prst="rect">
            <a:avLst/>
          </a:prstGeom>
          <a:noFill/>
        </p:spPr>
        <p:txBody>
          <a:bodyPr wrap="square">
            <a:spAutoFit/>
          </a:bodyPr>
          <a:lstStyle/>
          <a:p>
            <a:pPr algn="ctr">
              <a:defRPr sz="2200" b="0">
                <a:solidFill>
                  <a:srgbClr val="FFFFFF"/>
                </a:solidFill>
              </a:defRPr>
            </a:pPr>
            <a:r>
              <a:t>🧠</a:t>
            </a:r>
          </a:p>
        </p:txBody>
      </p:sp>
      <p:sp>
        <p:nvSpPr>
          <p:cNvPr id="16" name="TextBox 15"/>
          <p:cNvSpPr txBox="1"/>
          <p:nvPr/>
        </p:nvSpPr>
        <p:spPr>
          <a:xfrm>
            <a:off x="1188720" y="4937760"/>
            <a:ext cx="2743200" cy="457200"/>
          </a:xfrm>
          <a:prstGeom prst="rect">
            <a:avLst/>
          </a:prstGeom>
          <a:noFill/>
        </p:spPr>
        <p:txBody>
          <a:bodyPr wrap="square">
            <a:spAutoFit/>
          </a:bodyPr>
          <a:lstStyle/>
          <a:p>
            <a:pPr algn="l">
              <a:defRPr sz="1800" b="1">
                <a:solidFill>
                  <a:srgbClr val="FFFFFF"/>
                </a:solidFill>
              </a:defRPr>
            </a:pPr>
            <a:r>
              <a:t>You are the pilot</a:t>
            </a:r>
          </a:p>
        </p:txBody>
      </p:sp>
      <p:sp>
        <p:nvSpPr>
          <p:cNvPr id="17" name="TextBox 16"/>
          <p:cNvSpPr txBox="1"/>
          <p:nvPr/>
        </p:nvSpPr>
        <p:spPr>
          <a:xfrm>
            <a:off x="4114800" y="4983480"/>
            <a:ext cx="7315200" cy="365760"/>
          </a:xfrm>
          <a:prstGeom prst="rect">
            <a:avLst/>
          </a:prstGeom>
          <a:noFill/>
        </p:spPr>
        <p:txBody>
          <a:bodyPr wrap="square">
            <a:spAutoFit/>
          </a:bodyPr>
          <a:lstStyle/>
          <a:p>
            <a:pPr algn="l">
              <a:defRPr sz="1400" b="0">
                <a:solidFill>
                  <a:srgbClr val="A8B2D1"/>
                </a:solidFill>
              </a:defRPr>
            </a:pPr>
            <a:r>
              <a:t>— Copilot is the copilot, not the other way around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914400" y="1371600"/>
            <a:ext cx="10058400" cy="1371600"/>
          </a:xfrm>
          <a:prstGeom prst="rect">
            <a:avLst/>
          </a:prstGeom>
          <a:noFill/>
        </p:spPr>
        <p:txBody>
          <a:bodyPr wrap="square">
            <a:spAutoFit/>
          </a:bodyPr>
          <a:lstStyle/>
          <a:p>
            <a:pPr algn="ctr">
              <a:defRPr sz="8000" b="0">
                <a:solidFill>
                  <a:srgbClr val="FFFFFF"/>
                </a:solidFill>
              </a:defRPr>
            </a:pPr>
            <a:r>
              <a:t>💬</a:t>
            </a:r>
          </a:p>
        </p:txBody>
      </p:sp>
      <p:sp>
        <p:nvSpPr>
          <p:cNvPr id="3" name="TextBox 2"/>
          <p:cNvSpPr txBox="1"/>
          <p:nvPr/>
        </p:nvSpPr>
        <p:spPr>
          <a:xfrm>
            <a:off x="914400" y="2926080"/>
            <a:ext cx="10058400" cy="914400"/>
          </a:xfrm>
          <a:prstGeom prst="rect">
            <a:avLst/>
          </a:prstGeom>
          <a:noFill/>
        </p:spPr>
        <p:txBody>
          <a:bodyPr wrap="square">
            <a:spAutoFit/>
          </a:bodyPr>
          <a:lstStyle/>
          <a:p>
            <a:pPr algn="ctr">
              <a:defRPr sz="3600" b="1">
                <a:solidFill>
                  <a:srgbClr val="FFFFFF"/>
                </a:solidFill>
              </a:defRPr>
            </a:pPr>
            <a:r>
              <a:t>Q&amp;A — Open Discussion</a:t>
            </a:r>
          </a:p>
        </p:txBody>
      </p:sp>
      <p:sp>
        <p:nvSpPr>
          <p:cNvPr id="4" name="Rounded Rectangle 3"/>
          <p:cNvSpPr/>
          <p:nvPr/>
        </p:nvSpPr>
        <p:spPr>
          <a:xfrm>
            <a:off x="1371600" y="4114800"/>
            <a:ext cx="4114800" cy="1371600"/>
          </a:xfrm>
          <a:prstGeom prst="roundRect">
            <a:avLst/>
          </a:prstGeom>
          <a:solidFill>
            <a:srgbClr val="16213E"/>
          </a:solidFill>
          <a:ln w="19050">
            <a:solidFill>
              <a:srgbClr val="30363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a:solidFill>
                  <a:srgbClr val="C8D6E5"/>
                </a:solidFill>
              </a:defRPr>
            </a:pPr>
            <a:r>
              <a:t>🙋 Questions</a:t>
            </a:r>
            <a:br/>
            <a:r>
              <a:t>Technical or organizational</a:t>
            </a:r>
          </a:p>
        </p:txBody>
      </p:sp>
      <p:sp>
        <p:nvSpPr>
          <p:cNvPr id="5" name="Rounded Rectangle 4"/>
          <p:cNvSpPr/>
          <p:nvPr/>
        </p:nvSpPr>
        <p:spPr>
          <a:xfrm>
            <a:off x="6400800" y="4114800"/>
            <a:ext cx="4114800" cy="1371600"/>
          </a:xfrm>
          <a:prstGeom prst="roundRect">
            <a:avLst/>
          </a:prstGeom>
          <a:solidFill>
            <a:srgbClr val="16213E"/>
          </a:solidFill>
          <a:ln w="19050">
            <a:solidFill>
              <a:srgbClr val="30363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a:solidFill>
                  <a:srgbClr val="C8D6E5"/>
                </a:solidFill>
              </a:defRPr>
            </a:pPr>
            <a:r>
              <a:t>💡 Experience Sharing</a:t>
            </a:r>
            <a:br/>
            <a:r>
              <a:t>What worked? What surprised you?</a:t>
            </a:r>
          </a:p>
        </p:txBody>
      </p:sp>
      <p:sp>
        <p:nvSpPr>
          <p:cNvPr id="6" name="TextBox 5"/>
          <p:cNvSpPr txBox="1"/>
          <p:nvPr/>
        </p:nvSpPr>
        <p:spPr>
          <a:xfrm>
            <a:off x="914400" y="5943600"/>
            <a:ext cx="10058400" cy="457200"/>
          </a:xfrm>
          <a:prstGeom prst="rect">
            <a:avLst/>
          </a:prstGeom>
          <a:noFill/>
        </p:spPr>
        <p:txBody>
          <a:bodyPr wrap="square">
            <a:spAutoFit/>
          </a:bodyPr>
          <a:lstStyle/>
          <a:p>
            <a:pPr algn="ctr">
              <a:defRPr sz="1300" b="0">
                <a:solidFill>
                  <a:srgbClr val="64748B"/>
                </a:solidFill>
              </a:defRPr>
            </a:pPr>
            <a:r>
              <a:t>📝 Your feedback shapes the next forum and hands-on workshop content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square">
            <a:spAutoFit/>
          </a:bodyPr>
          <a:lstStyle/>
          <a:p>
            <a:pPr algn="l">
              <a:defRPr sz="3600" b="1">
                <a:solidFill>
                  <a:srgbClr val="E94560"/>
                </a:solidFill>
              </a:defRPr>
            </a:pPr>
            <a:r>
              <a:t>📌 Key Takeaways</a:t>
            </a:r>
          </a:p>
        </p:txBody>
      </p:sp>
      <p:sp>
        <p:nvSpPr>
          <p:cNvPr id="3" name="Rounded Rectangle 2"/>
          <p:cNvSpPr/>
          <p:nvPr/>
        </p:nvSpPr>
        <p:spPr>
          <a:xfrm>
            <a:off x="457200" y="1188720"/>
            <a:ext cx="3474720" cy="2560320"/>
          </a:xfrm>
          <a:prstGeom prst="roundRect">
            <a:avLst/>
          </a:prstGeom>
          <a:solidFill>
            <a:srgbClr val="16213E"/>
          </a:solidFill>
          <a:ln w="19050">
            <a:solidFill>
              <a:srgbClr val="E945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3017520" cy="457200"/>
          </a:xfrm>
          <a:prstGeom prst="rect">
            <a:avLst/>
          </a:prstGeom>
          <a:noFill/>
        </p:spPr>
        <p:txBody>
          <a:bodyPr wrap="square">
            <a:spAutoFit/>
          </a:bodyPr>
          <a:lstStyle/>
          <a:p>
            <a:pPr algn="ctr">
              <a:defRPr sz="1800" b="1">
                <a:solidFill>
                  <a:srgbClr val="E94560"/>
                </a:solidFill>
              </a:defRPr>
            </a:pPr>
            <a:r>
              <a:t>🛠️ Demo</a:t>
            </a:r>
          </a:p>
        </p:txBody>
      </p:sp>
      <p:sp>
        <p:nvSpPr>
          <p:cNvPr id="5" name="TextBox 4"/>
          <p:cNvSpPr txBox="1"/>
          <p:nvPr/>
        </p:nvSpPr>
        <p:spPr>
          <a:xfrm>
            <a:off x="731520" y="1920240"/>
            <a:ext cx="3017520" cy="1645920"/>
          </a:xfrm>
          <a:prstGeom prst="rect">
            <a:avLst/>
          </a:prstGeom>
          <a:noFill/>
        </p:spPr>
        <p:txBody>
          <a:bodyPr wrap="square">
            <a:spAutoFit/>
          </a:bodyPr>
          <a:lstStyle/>
          <a:p>
            <a:pPr algn="ctr">
              <a:defRPr sz="1300" b="0">
                <a:solidFill>
                  <a:srgbClr val="A8B2D1"/>
                </a:solidFill>
              </a:defRPr>
            </a:pPr>
            <a:r>
              <a:t>Describe architecture →</a:t>
            </a:r>
            <a:br/>
            <a:r>
              <a:t>get implementation.</a:t>
            </a:r>
            <a:br/>
            <a:r>
              <a:t>Copilot understands</a:t>
            </a:r>
            <a:br/>
            <a:r>
              <a:t>patterns.</a:t>
            </a:r>
          </a:p>
        </p:txBody>
      </p:sp>
      <p:sp>
        <p:nvSpPr>
          <p:cNvPr id="6" name="Rounded Rectangle 5"/>
          <p:cNvSpPr/>
          <p:nvPr/>
        </p:nvSpPr>
        <p:spPr>
          <a:xfrm>
            <a:off x="4114800" y="1188720"/>
            <a:ext cx="3474720" cy="2560320"/>
          </a:xfrm>
          <a:prstGeom prst="roundRect">
            <a:avLst/>
          </a:prstGeom>
          <a:solidFill>
            <a:srgbClr val="16213E"/>
          </a:solidFill>
          <a:ln w="19050">
            <a:solidFill>
              <a:srgbClr val="4FAC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389120" y="1371600"/>
            <a:ext cx="3017520" cy="457200"/>
          </a:xfrm>
          <a:prstGeom prst="rect">
            <a:avLst/>
          </a:prstGeom>
          <a:noFill/>
        </p:spPr>
        <p:txBody>
          <a:bodyPr wrap="square">
            <a:spAutoFit/>
          </a:bodyPr>
          <a:lstStyle/>
          <a:p>
            <a:pPr algn="ctr">
              <a:defRPr sz="1800" b="1">
                <a:solidFill>
                  <a:srgbClr val="4FACFE"/>
                </a:solidFill>
              </a:defRPr>
            </a:pPr>
            <a:r>
              <a:t>🤖 Multi-Agents</a:t>
            </a:r>
          </a:p>
        </p:txBody>
      </p:sp>
      <p:sp>
        <p:nvSpPr>
          <p:cNvPr id="8" name="TextBox 7"/>
          <p:cNvSpPr txBox="1"/>
          <p:nvPr/>
        </p:nvSpPr>
        <p:spPr>
          <a:xfrm>
            <a:off x="4389120" y="1920240"/>
            <a:ext cx="3017520" cy="1645920"/>
          </a:xfrm>
          <a:prstGeom prst="rect">
            <a:avLst/>
          </a:prstGeom>
          <a:noFill/>
        </p:spPr>
        <p:txBody>
          <a:bodyPr wrap="square">
            <a:spAutoFit/>
          </a:bodyPr>
          <a:lstStyle/>
          <a:p>
            <a:pPr algn="ctr">
              <a:defRPr sz="1300" b="0">
                <a:solidFill>
                  <a:srgbClr val="A8B2D1"/>
                </a:solidFill>
              </a:defRPr>
            </a:pPr>
            <a:r>
              <a:t>Orchestrate, optimize</a:t>
            </a:r>
            <a:br/>
            <a:r>
              <a:t>tokens, share skills.</a:t>
            </a:r>
            <a:br/>
            <a:r>
              <a:t>Industrialize your</a:t>
            </a:r>
            <a:br/>
            <a:r>
              <a:t>AI usage.</a:t>
            </a:r>
          </a:p>
        </p:txBody>
      </p:sp>
      <p:sp>
        <p:nvSpPr>
          <p:cNvPr id="9" name="Rounded Rectangle 8"/>
          <p:cNvSpPr/>
          <p:nvPr/>
        </p:nvSpPr>
        <p:spPr>
          <a:xfrm>
            <a:off x="7772400" y="1188720"/>
            <a:ext cx="3474720" cy="2560320"/>
          </a:xfrm>
          <a:prstGeom prst="roundRect">
            <a:avLst/>
          </a:prstGeom>
          <a:solidFill>
            <a:srgbClr val="16213E"/>
          </a:solidFill>
          <a:ln w="19050">
            <a:solidFill>
              <a:srgbClr val="2ED5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0" y="1371600"/>
            <a:ext cx="3017520" cy="457200"/>
          </a:xfrm>
          <a:prstGeom prst="rect">
            <a:avLst/>
          </a:prstGeom>
          <a:noFill/>
        </p:spPr>
        <p:txBody>
          <a:bodyPr wrap="square">
            <a:spAutoFit/>
          </a:bodyPr>
          <a:lstStyle/>
          <a:p>
            <a:pPr algn="ctr">
              <a:defRPr sz="1800" b="1">
                <a:solidFill>
                  <a:srgbClr val="2ED573"/>
                </a:solidFill>
              </a:defRPr>
            </a:pPr>
            <a:r>
              <a:t>👥 Team Scale</a:t>
            </a:r>
          </a:p>
        </p:txBody>
      </p:sp>
      <p:sp>
        <p:nvSpPr>
          <p:cNvPr id="11" name="TextBox 10"/>
          <p:cNvSpPr txBox="1"/>
          <p:nvPr/>
        </p:nvSpPr>
        <p:spPr>
          <a:xfrm>
            <a:off x="8046720" y="1920240"/>
            <a:ext cx="3017520" cy="1645920"/>
          </a:xfrm>
          <a:prstGeom prst="rect">
            <a:avLst/>
          </a:prstGeom>
          <a:noFill/>
        </p:spPr>
        <p:txBody>
          <a:bodyPr wrap="square">
            <a:spAutoFit/>
          </a:bodyPr>
          <a:lstStyle/>
          <a:p>
            <a:pPr algn="ctr">
              <a:defRPr sz="1300" b="0">
                <a:solidFill>
                  <a:srgbClr val="A8B2D1"/>
                </a:solidFill>
              </a:defRPr>
            </a:pPr>
            <a:r>
              <a:t>.github/ as collective</a:t>
            </a:r>
            <a:br/>
            <a:r>
              <a:t>tooling. Versioned,</a:t>
            </a:r>
            <a:br/>
            <a:r>
              <a:t>reviewed, shared.</a:t>
            </a:r>
          </a:p>
        </p:txBody>
      </p:sp>
      <p:sp>
        <p:nvSpPr>
          <p:cNvPr id="12" name="Rounded Rectangle 11"/>
          <p:cNvSpPr/>
          <p:nvPr/>
        </p:nvSpPr>
        <p:spPr>
          <a:xfrm>
            <a:off x="457200" y="4389120"/>
            <a:ext cx="10972800" cy="1097280"/>
          </a:xfrm>
          <a:prstGeom prst="roundRect">
            <a:avLst/>
          </a:prstGeom>
          <a:solidFill>
            <a:srgbClr val="2A1A2E"/>
          </a:solidFill>
          <a:ln w="19050">
            <a:solidFill>
              <a:srgbClr val="E9456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a:solidFill>
                  <a:srgbClr val="FFFFFF"/>
                </a:solidFill>
              </a:defRPr>
            </a:pPr>
            <a:r>
              <a:t>📅 Next: Hands-on workshop — Build YOUR project with Copilot, with guidance</a:t>
            </a:r>
            <a:br/>
            <a:r>
              <a:t>Date to be announced — limited spots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square">
            <a:spAutoFit/>
          </a:bodyPr>
          <a:lstStyle/>
          <a:p>
            <a:pPr algn="l">
              <a:defRPr sz="3600" b="1">
                <a:solidFill>
                  <a:srgbClr val="E94560"/>
                </a:solidFill>
              </a:defRPr>
            </a:pPr>
            <a:r>
              <a:t>📚 Resources</a:t>
            </a:r>
          </a:p>
        </p:txBody>
      </p:sp>
      <p:sp>
        <p:nvSpPr>
          <p:cNvPr id="3" name="TextBox 2"/>
          <p:cNvSpPr txBox="1"/>
          <p:nvPr/>
        </p:nvSpPr>
        <p:spPr>
          <a:xfrm>
            <a:off x="914400" y="1645920"/>
            <a:ext cx="10058400" cy="3657600"/>
          </a:xfrm>
          <a:prstGeom prst="rect">
            <a:avLst/>
          </a:prstGeom>
          <a:noFill/>
        </p:spPr>
        <p:txBody>
          <a:bodyPr wrap="square">
            <a:spAutoFit/>
          </a:bodyPr>
          <a:lstStyle/>
          <a:p>
            <a:pPr algn="l">
              <a:defRPr sz="1800" b="0">
                <a:solidFill>
                  <a:srgbClr val="C8D6E5"/>
                </a:solidFill>
              </a:defRPr>
            </a:pPr>
            <a:r>
              <a:t>📖  docs.github.com/copilot — Official documentation</a:t>
            </a:r>
          </a:p>
          <a:p>
            <a:pPr algn="l">
              <a:spcBef>
                <a:spcPts val="1600"/>
              </a:spcBef>
              <a:defRPr sz="1800" b="0">
                <a:solidFill>
                  <a:srgbClr val="C8D6E5"/>
                </a:solidFill>
              </a:defRPr>
            </a:pPr>
            <a:r>
              <a:t>🛠️  github.com/features/copilot — Feature overview</a:t>
            </a:r>
          </a:p>
          <a:p>
            <a:pPr algn="l">
              <a:spcBef>
                <a:spcPts val="1600"/>
              </a:spcBef>
              <a:defRPr sz="1800" b="0">
                <a:solidFill>
                  <a:srgbClr val="C8D6E5"/>
                </a:solidFill>
              </a:defRPr>
            </a:pPr>
            <a:r>
              <a:t>📁  Shared .github/ template (internal link)</a:t>
            </a:r>
          </a:p>
          <a:p>
            <a:pPr algn="l">
              <a:spcBef>
                <a:spcPts val="1600"/>
              </a:spcBef>
              <a:defRPr sz="1800" b="0">
                <a:solidFill>
                  <a:srgbClr val="C8D6E5"/>
                </a:solidFill>
              </a:defRPr>
            </a:pPr>
            <a:r>
              <a:t>💬  Teams Community Channel</a:t>
            </a:r>
          </a:p>
          <a:p>
            <a:pPr algn="l">
              <a:spcBef>
                <a:spcPts val="1600"/>
              </a:spcBef>
              <a:defRPr sz="1800" b="0">
                <a:solidFill>
                  <a:srgbClr val="C8D6E5"/>
                </a:solidFill>
              </a:defRPr>
            </a:pPr>
            <a:r>
              <a:t>🎥  Today's session recording (will be shared)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914400" y="1828800"/>
            <a:ext cx="10058400" cy="1371600"/>
          </a:xfrm>
          <a:prstGeom prst="rect">
            <a:avLst/>
          </a:prstGeom>
          <a:noFill/>
        </p:spPr>
        <p:txBody>
          <a:bodyPr wrap="square">
            <a:spAutoFit/>
          </a:bodyPr>
          <a:lstStyle/>
          <a:p>
            <a:pPr algn="ctr">
              <a:defRPr sz="4800" b="1">
                <a:solidFill>
                  <a:srgbClr val="FFFFFF"/>
                </a:solidFill>
              </a:defRPr>
            </a:pPr>
            <a:r>
              <a:t>🙏 Thank You!</a:t>
            </a:r>
          </a:p>
        </p:txBody>
      </p:sp>
      <p:sp>
        <p:nvSpPr>
          <p:cNvPr id="3" name="TextBox 2"/>
          <p:cNvSpPr txBox="1"/>
          <p:nvPr/>
        </p:nvSpPr>
        <p:spPr>
          <a:xfrm>
            <a:off x="914400" y="3474720"/>
            <a:ext cx="10058400" cy="914400"/>
          </a:xfrm>
          <a:prstGeom prst="rect">
            <a:avLst/>
          </a:prstGeom>
          <a:noFill/>
        </p:spPr>
        <p:txBody>
          <a:bodyPr wrap="square">
            <a:spAutoFit/>
          </a:bodyPr>
          <a:lstStyle/>
          <a:p>
            <a:pPr algn="ctr">
              <a:defRPr sz="2400" b="0">
                <a:solidFill>
                  <a:srgbClr val="A8B2D1"/>
                </a:solidFill>
              </a:defRPr>
            </a:pPr>
            <a:r>
              <a:t>🚀 Go build something awesome</a:t>
            </a:r>
          </a:p>
        </p:txBody>
      </p:sp>
      <p:sp>
        <p:nvSpPr>
          <p:cNvPr id="4" name="TextBox 3"/>
          <p:cNvSpPr txBox="1"/>
          <p:nvPr/>
        </p:nvSpPr>
        <p:spPr>
          <a:xfrm>
            <a:off x="914400" y="5029200"/>
            <a:ext cx="10058400" cy="457200"/>
          </a:xfrm>
          <a:prstGeom prst="rect">
            <a:avLst/>
          </a:prstGeom>
          <a:noFill/>
        </p:spPr>
        <p:txBody>
          <a:bodyPr wrap="square">
            <a:spAutoFit/>
          </a:bodyPr>
          <a:lstStyle/>
          <a:p>
            <a:pPr algn="ctr">
              <a:defRPr sz="1400" b="0">
                <a:solidFill>
                  <a:srgbClr val="64748B"/>
                </a:solidFill>
              </a:defRPr>
            </a:pPr>
            <a:r>
              <a:t>Share your experiments in the community channel!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5855</Words>
  <Application>Microsoft Office PowerPoint</Application>
  <PresentationFormat>Grand écran</PresentationFormat>
  <Paragraphs>535</Paragraphs>
  <Slides>31</Slides>
  <Notes>31</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31</vt:i4>
      </vt:variant>
    </vt:vector>
  </HeadingPairs>
  <TitlesOfParts>
    <vt:vector size="34"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Emmanuelle Hemmer</cp:lastModifiedBy>
  <cp:revision>2</cp:revision>
  <dcterms:created xsi:type="dcterms:W3CDTF">2013-01-27T09:14:16Z</dcterms:created>
  <dcterms:modified xsi:type="dcterms:W3CDTF">2026-05-26T07:55:04Z</dcterms:modified>
  <cp:category/>
</cp:coreProperties>
</file>