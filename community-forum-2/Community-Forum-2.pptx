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86" r:id="rId38"/>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our second Community Forum on GitHub Copilot.</a:t>
            </a:r>
          </a:p>
          <a:p>
            <a:r>
              <a:t>Today we're going beyond the basics — we'll build a real microservice from scratch, explore multi-agent orchestration, and discuss how to industrialize our Copilot usage.</a:t>
            </a:r>
          </a:p>
          <a:p>
            <a:r>
              <a:t>This session is about demonstrating real business value and driving adoption across teams.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our agenda for today. Two main pillars:</a:t>
            </a:r>
          </a:p>
          <a:p>
            <a:r>
              <a:t>First, the live demo — the heart of the session. We'll create a project from scratch using Copilot, covering not just the technical aspects but specifically demonstrating business value, real Orange use cases, and how agent mode accelerates development.</a:t>
            </a:r>
          </a:p>
          <a:p>
            <a:r>
              <a:t>Second, the multi-agents focus — this is where we introduce the industrialization dimension: how to orchestrate agents, choose the right LLM, reduce token consumption, and share skills across teams to avoid duplication.</a:t>
            </a:r>
          </a:p>
          <a:p>
            <a:r>
              <a:t>We're clearly moving from individual productivity to team-level scaling.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Forum 1: we introduced Copilot Chat and Agent mode, covered the basics of custom instructions, and explored the different interaction modes.</a:t>
            </a:r>
          </a:p>
          <a:p>
            <a:r>
              <a:t>Today we're leveling up — building a real microservice from scratch to demonstrate that Copilot understands architecture, not just code completion.</a:t>
            </a:r>
          </a:p>
          <a:p>
            <a:r>
              <a:t>We'll also announce the date for our upcoming hands-on workshop.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today's session. We're going to build a notification microservice from scratch using Copilot in agent mode. This isn't a toy todo app — it's a real pattern you encounter daily: queue processing, retry with exponential backoff, dead letter queues, and observability.</a:t>
            </a:r>
          </a:p>
          <a:p>
            <a:r>
              <a:t>The goal is to show that Copilot understands architecture patterns, not just syntax. And more importantly — to demonstrate the business value: faster time-to-market, consistent code quality, and team-scalable practices.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 isn't purely technical — it explicitly serves to demonstrate business value and drive adoption. Three angles:</a:t>
            </a:r>
          </a:p>
          <a:p>
            <a:r>
              <a:t>First, we're using a real Orange use case — notification services are everywhere in our stack.</a:t>
            </a:r>
          </a:p>
          <a:p>
            <a:r>
              <a:t>Second, the speed factor — going from a structured prompt to a fully working, tested service in under 20 minutes.</a:t>
            </a:r>
          </a:p>
          <a:p>
            <a:r>
              <a:t>Third, the business angle — faster delivery cycles, consistent code quality across teams, and knowledge that's captured in version-controlled instructions.</a:t>
            </a:r>
          </a:p>
          <a:p>
            <a:r>
              <a:t>The community forums require us to integrate concrete Orange use cases and illustrate both best practices AND advanced Copilot capabilities like agent mode and workflow automation.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full architecture we'll generate. The key layers are:</a:t>
            </a:r>
          </a:p>
          <a:p>
            <a:r>
              <a:t>At the top, the .github folder — this is our Copilot context layer. It provides permanent project context so Copilot always knows our stack, conventions, and architecture patterns.</a:t>
            </a:r>
          </a:p>
          <a:p>
            <a:r>
              <a:t>The application layer follows clean separation: routes for API endpoints, queue for async processing with retry and dead letter, channels for the notification senders, and middleware for cross-cutting concerns like structured logging.</a:t>
            </a:r>
          </a:p>
          <a:p>
            <a:r>
              <a:t>And at the bottom, our test suite covering both happy paths and failure scenarios.</a:t>
            </a:r>
          </a:p>
          <a:p>
            <a:r>
              <a:t>All of this will be generated from a few well-structured prompts.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we send a single, well-structured prompt that describes the architecture.</a:t>
            </a:r>
          </a:p>
          <a:p>
            <a:r>
              <a:t>Notice we're NOT writing pseudocode or describing implementation details.</a:t>
            </a:r>
          </a:p>
          <a:p>
            <a:r>
              <a:t>We're telling Copilot WHAT we want — the structure, the patterns, the contracts — and it generates the full implementation.</a:t>
            </a:r>
          </a:p>
          <a:p>
            <a:r>
              <a:t>A well-structured prompt equals a complete microservice in about 30 seconds.</a:t>
            </a:r>
          </a:p>
          <a:p>
            <a:r>
              <a:t>This is the key message for adoption: describe architecture, get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We add resilience patterns — retry with exponential backoff and a dead letter queue.</a:t>
            </a:r>
          </a:p>
          <a:p>
            <a:r>
              <a:t>The key point here is that we're NOT rewriting anything. We're describing new behavior and Copilot modifies the existing codebase, maintaining context from step 1.</a:t>
            </a:r>
          </a:p>
          <a:p>
            <a:r>
              <a:t>This demonstrates that Copilot isn't just a generator — it's a collaborator that understands your project's current state and evolves it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Tests. Copilot generates the full test suite covering four scenarios: happy path, validation errors, retry behavior with mocked channels, and dead letter.</a:t>
            </a:r>
          </a:p>
          <a:p>
            <a:r>
              <a:t>The important message here: Copilot writes the tests, but YOU are responsible for validating that the coverage makes sense and the test scenarios are relevant.</a:t>
            </a:r>
          </a:p>
          <a:p>
            <a:r>
              <a:t>The agent iterates on failures automatically, but you're the 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We run everything and show it works. Tests pass, server starts, we can send notifications via curl, see structured logs, check the health endpoint with real stats.</a:t>
            </a:r>
          </a:p>
          <a:p>
            <a:r>
              <a:t>In less than 20 minutes, we have a microservice with retry, dead letter, observability, and tests. This isn't throwaway code — it's a solid, production-ready foundation.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Capitalization. This is where the real team-level value comes in.</a:t>
            </a:r>
          </a:p>
          <a:p>
            <a:r>
              <a:t>The .github folder contains copilot-instructions.md for permanent project context, and reusable prompt templates for common tasks.</a:t>
            </a:r>
          </a:p>
          <a:p>
            <a:r>
              <a:t>When a new team member clones the repo, Copilot automatically loads all this context. No onboarding friction, no repeated explanations.</a:t>
            </a:r>
          </a:p>
          <a:p>
            <a:r>
              <a:t>The key message: treat your Copilot instructions like code — version them, review them via PRs, and improve them as a team. This is collective tooling, not individual shortcuts.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what we built in 20 minutes: a complete notification microservice with retry, dead letter, observability, tests, and team-shareable Copilot instructions.</a:t>
            </a:r>
          </a:p>
          <a:p>
            <a:r>
              <a:t>Three key messages:</a:t>
            </a:r>
          </a:p>
          <a:p>
            <a:r>
              <a:t>1. Describe architecture, get implementation — Copilot understands patterns.</a:t>
            </a:r>
          </a:p>
          <a:p>
            <a:r>
              <a:t>2. Copilot modifies existing code with full context — it's a true collaborator.</a:t>
            </a:r>
          </a:p>
          <a:p>
            <a:r>
              <a:t>3. Capitalize via .github/ — your instructions are team assets, not personal tricks.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we're moving to the advanced section — multi-agent orchestration.</a:t>
            </a:r>
          </a:p>
          <a:p>
            <a:r>
              <a:t>This is where Forum 2 clearly introduces the industrialization dimension.</a:t>
            </a:r>
          </a:p>
          <a:p>
            <a:r>
              <a:t>We're going beyond individual developer productivity and into team-scale, cost-aware, reusable AI workflows.</a:t>
            </a:r>
          </a:p>
          <a:p>
            <a:r>
              <a:t>Three pillars: orchestration of specialized agents, token cost optimization, and sharing skills across teams to avoid duplication.</a:t>
            </a:r>
          </a:p>
          <a:p>
            <a:r>
              <a:t>This aligns with the Copilot roadmap moving toward full agentic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multi-agent orchestration works in practice.</a:t>
            </a:r>
          </a:p>
          <a:p>
            <a:r>
              <a:t>You give a complex task to the main agent — like 'analyze this service, find bugs, fix them, write tests, and create a PR.'</a:t>
            </a:r>
          </a:p>
          <a:p>
            <a:r>
              <a:t>The main agent decomposes this into specialized sub-tasks and delegates to purpose-built sub-agents: explore for analysis, task for implementation, test for verification, review for quality.</a:t>
            </a:r>
          </a:p>
          <a:p>
            <a:r>
              <a:t>When tasks are independent, they run in parallel — dramatically reducing time.</a:t>
            </a:r>
          </a:p>
          <a:p>
            <a:r>
              <a:t>This aligns directly with the Copilot roadmap toward full agentic capabilities that Orange is tracking.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the right LLM is critical for both quality and cost control.</a:t>
            </a:r>
          </a:p>
          <a:p>
            <a:r>
              <a:t>Think of it as a spectrum: at the top, powerful models like Opus or GPT-4.1 for complex architecture decisions and multi-file refactoring.</a:t>
            </a:r>
          </a:p>
          <a:p>
            <a:r>
              <a:t>In the middle, Sonnet-class models for your daily agent work.</a:t>
            </a:r>
          </a:p>
          <a:p>
            <a:r>
              <a:t>At the bottom, lightweight models like Haiku for completions and sub-agent tasks.</a:t>
            </a:r>
          </a:p>
          <a:p>
            <a:r>
              <a:t>The rule is simple: start light, escalate only when needed.</a:t>
            </a:r>
          </a:p>
          <a:p>
            <a:r>
              <a:t>In the multi-agent context, the main orchestrator might use Sonnet while delegating simple sub-tasks to Haiku — reducing cost dramatically.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concrete strategies your team can adopt immediately:</a:t>
            </a:r>
          </a:p>
          <a:p>
            <a:r>
              <a:t>1. Write precise, structured prompts. One well-crafted prompt beats five vague ones.</a:t>
            </a:r>
          </a:p>
          <a:p>
            <a:r>
              <a:t>2. Use copilot-instructions.md — your project context is loaded automatically.</a:t>
            </a:r>
          </a:p>
          <a:p>
            <a:r>
              <a:t>3. Create reusable prompt templates in .github/prompts/.</a:t>
            </a:r>
          </a:p>
          <a:p>
            <a:r>
              <a:t>4. Don't be afraid to start a fresh conversation. A polluted context hurts quality.</a:t>
            </a:r>
          </a:p>
          <a:p>
            <a:r>
              <a:t>5. Match the model to the task — don't use a cannon to kill a mosquito.</a:t>
            </a:r>
          </a:p>
          <a:p>
            <a:r>
              <a:t>The beautiful thing: these practices save tokens AND improve quality. It's not a tradeoff.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key insight from the community: we need to centralize agents, plugins, and skills at the organization level to avoid duplication between teams.</a:t>
            </a:r>
          </a:p>
          <a:p>
            <a:r>
              <a:t>The pattern: teams contribute their specialized skills to a central org-level .github repository. All new projects automatically inherit this context.</a:t>
            </a:r>
          </a:p>
          <a:p>
            <a:r>
              <a:t>Benefits: zero-friction onboarding, consistent patterns across the org, and a community-driven, mutualized approach to AI tooling.</a:t>
            </a:r>
          </a:p>
          <a:p>
            <a:r>
              <a:t>This directly addresses the feedback about the need to centralize and avoid teams reinventing the same wheels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put this in context with the Copilot roadmap.</a:t>
            </a:r>
          </a:p>
          <a:p>
            <a:r>
              <a:t>We've moved from basic completions, through chat and agent mode, and are now entering the multi-agent orchestration phase.</a:t>
            </a:r>
          </a:p>
          <a:p>
            <a:r>
              <a:t>The next step is fully autonomous workflow agents — but we need to build the foundation now: centralized skills, shared prompt libraries, and team-level orchestration patterns.</a:t>
            </a:r>
          </a:p>
          <a:p>
            <a:r>
              <a:t>For Orange, this means that investing in industrialization today directly positions us to leverage the next generation of autonomous capabilities.</a:t>
            </a:r>
          </a:p>
          <a:p>
            <a:r>
              <a:t>This is not just about today's productivity. It's about building the foundation for tomorrow's autonomous development workflows.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open for questions, a few critical reminders:</a:t>
            </a:r>
          </a:p>
          <a:p>
            <a:r>
              <a:t>Never let the agent push or merge without your review — you own the output.</a:t>
            </a:r>
          </a:p>
          <a:p>
            <a:r>
              <a:t>Never paste secrets or credentials in the chat — treat it like a public space.</a:t>
            </a:r>
          </a:p>
          <a:p>
            <a:r>
              <a:t>Always review generated code — it can be subtly wrong.</a:t>
            </a:r>
          </a:p>
          <a:p>
            <a:r>
              <a:t>One prompt, one task — decompose complex work yourself.</a:t>
            </a:r>
          </a:p>
          <a:p>
            <a:r>
              <a:t>And most importantly: you are the pilot. Copilot assists, you decide.</a:t>
            </a:r>
          </a:p>
          <a:p>
            <a:r>
              <a:t>These are non-negotiable guardrails for responsible AI-assisted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floor for questions and discussion.</a:t>
            </a:r>
          </a:p>
          <a:p>
            <a:r>
              <a:t>Encourage both technical questions about Copilot features and organizational questions about adoption strategy.</a:t>
            </a:r>
          </a:p>
          <a:p>
            <a:r>
              <a:t>Take note of recurring themes — these will inform the hands-on workshop content.</a:t>
            </a:r>
          </a:p>
          <a:p>
            <a:r>
              <a:t>Remind people that their feedback directly shapes what we cover next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key takeaways from today:</a:t>
            </a:r>
          </a:p>
          <a:p>
            <a:r>
              <a:t>1. The demo showed that describing architecture gets you complete implementations.</a:t>
            </a:r>
          </a:p>
          <a:p>
            <a:r>
              <a:t>2. Multi-agents and token optimization represent the industrialization of AI-assisted dev.</a:t>
            </a:r>
          </a:p>
          <a:p>
            <a:r>
              <a:t>3. .github/ is your collective tooling foundation.</a:t>
            </a:r>
          </a:p>
          <a:p>
            <a:r>
              <a:t>Next step: the hands-on workshop. Everyone builds their own project with Copilot.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resources — documentation, feature page, our internal template repo, and the Teams channel for ongoing discussions.</a:t>
            </a:r>
          </a:p>
          <a:p>
            <a:r>
              <a:t>The recording of today's session will be shared for anyone who couldn't attend.</a:t>
            </a:r>
          </a:p>
          <a:p>
            <a:r>
              <a:t>Encourage people to start experimenting with .github/ in their own repos.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everyone for their time and engagement.</a:t>
            </a:r>
          </a:p>
          <a:p>
            <a:r>
              <a:t>Encourage them to try what they've seen today on their own projects.</a:t>
            </a:r>
          </a:p>
          <a:p>
            <a:r>
              <a:t>Remind them about the community channel for questions and sharing.</a:t>
            </a:r>
          </a:p>
          <a:p>
            <a:r>
              <a:t>See you at the hands-on workshop!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instructions work at three levels, from broadest to most specific.</a:t>
            </a:r>
          </a:p>
          <a:p>
            <a:r>
              <a:t>Organization level: the .github repo of your org applies instructions to ALL repositories. Use this for global conventions, security rules, and shared technology stack.</a:t>
            </a:r>
          </a:p>
          <a:p>
            <a:r>
              <a:t>Repository level: copilot-instructions.md in each repo's .github/ folder. This is where project-specific context lives — stack, architecture, conventions.</a:t>
            </a:r>
          </a:p>
          <a:p>
            <a:r>
              <a:t>Personal level: VS Code settings for individual preferences.</a:t>
            </a:r>
          </a:p>
          <a:p>
            <a:r>
              <a:t>Key points: keep them concise (Copilot ignores overly long instructions), focus on conventions not implementation, and always update via PR — treat them as code.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engineering is the skill that makes the difference between mediocre and excellent results.</a:t>
            </a:r>
          </a:p>
          <a:p>
            <a:r>
              <a:t>Show the bad vs good example: a vague prompt gets vague results. A structured prompt with clear requirements gets production-ready code.</a:t>
            </a:r>
          </a:p>
          <a:p>
            <a:r>
              <a:t>Six key techniques:</a:t>
            </a:r>
          </a:p>
          <a:p>
            <a:r>
              <a:t>1. Structure: use bullet points, not walls of text.</a:t>
            </a:r>
          </a:p>
          <a:p>
            <a:r>
              <a:t>2. Context: state your stack and constraints upfront.</a:t>
            </a:r>
          </a:p>
          <a:p>
            <a:r>
              <a:t>3. Scope: one prompt, one clear task. Decompose complex work.</a:t>
            </a:r>
          </a:p>
          <a:p>
            <a:r>
              <a:t>4. Examples: show what you expect the output to look like.</a:t>
            </a:r>
          </a:p>
          <a:p>
            <a:r>
              <a:t>5. Constraints: say what you DON'T want — it narrows the solution space.</a:t>
            </a:r>
          </a:p>
          <a:p>
            <a:r>
              <a:t>6. Iteration: don't throw away 80% good results — refine them.</a:t>
            </a:r>
          </a:p>
          <a:p>
            <a:r>
              <a:t>The rule of thumb: the time you invest in crafting a good prompt is always shorter than the time you'd spend fixing bad output from a vague prompt.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templates are reusable prompt files stored in .github/prompts/.</a:t>
            </a:r>
          </a:p>
          <a:p>
            <a:r>
              <a:t>They serve as your team's prompt library — standardized, versioned, shared.</a:t>
            </a:r>
          </a:p>
          <a:p>
            <a:r>
              <a:t>Each template has YAML frontmatter (name, description) and the prompt body.</a:t>
            </a:r>
          </a:p>
          <a:p>
            <a:r>
              <a:t>Usage: in the Copilot chat, type / and select your template from the list.</a:t>
            </a:r>
          </a:p>
          <a:p>
            <a:r>
              <a:t>You can also use variables like {{filename}} that get filled in at runtime.</a:t>
            </a:r>
          </a:p>
          <a:p>
            <a:r>
              <a:t>Benefits: no reformulation needed (saves time and tokens), versioned in git (whole team benefits), standardized output quality, and combinable with variables.</a:t>
            </a:r>
          </a:p>
          <a:p>
            <a:r>
              <a:t>Think of these as your team's recipe book for AI-assisted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agents are specialized AI assistants you build for your team's specific needs.</a:t>
            </a:r>
          </a:p>
          <a:p>
            <a:r>
              <a:t>Think of them as AI team members with specific expertise.</a:t>
            </a:r>
          </a:p>
          <a:p>
            <a:r>
              <a:t>Anatomy of an agent: instructions (personality and expertise), tools (what it can do), knowledge (documentation it has access to), and trigger (how you invoke it).</a:t>
            </a:r>
          </a:p>
          <a:p>
            <a:r>
              <a:t>Examples for Orange: API reviewer that checks our REST standards, security checker for OWASP vulnerabilities, documentation generator, test creator following our patterns, migration helper for legacy APIs, and onboarding assistant for new joiners.</a:t>
            </a:r>
          </a:p>
          <a:p>
            <a:r>
              <a:t>Key point: agents are built once and shared across the org. Each team benefits.</a:t>
            </a:r>
          </a:p>
          <a:p>
            <a:r>
              <a:t>They're extensible via MCP (Model Context Protocol) to connect to internal tools like Jira, Confluence, internal APIs, etc.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are modular capabilities that agents can use — think of them as plugins.</a:t>
            </a:r>
          </a:p>
          <a:p>
            <a:r>
              <a:t>Each skill does one thing well: code search, test running, package management, security scanning, documentation generation, deployment.</a:t>
            </a:r>
          </a:p>
          <a:p>
            <a:r>
              <a:t>The power comes from composition: a single agent can combine multiple skills. For example, an API reviewer agent might use code search to find endpoints, security scan to check for OWASP vulnerabilities, and doc generator to verify that the API documentation is up to date.</a:t>
            </a:r>
          </a:p>
          <a:p>
            <a:r>
              <a:t>Skills are shared across the organization — build once, use everywhere.</a:t>
            </a:r>
          </a:p>
          <a:p>
            <a:r>
              <a:t>This is the mutualization model: teams contribute skills to a shared pool, and all agents across the org can use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 Model Context Protocol — is the open standard that lets Copilot connect to your internal tools: Jira, Confluence, databases, CI/CD, monitoring, secrets vaults.</a:t>
            </a:r>
          </a:p>
          <a:p>
            <a:r>
              <a:t>Think of it as the USB port for AI: a universal interface that any tool can implement.</a:t>
            </a:r>
          </a:p>
          <a:p>
            <a:r>
              <a:t>This means Copilot can go beyond code: create Jira tickets, check deployment status, query monitoring dashboards, read documentation from Confluence — all from the chat.</a:t>
            </a:r>
          </a:p>
          <a:p>
            <a:r>
              <a:t>For Orange, this means we can connect Copilot to our internal toolchain and create agents that truly understand our workflow end-to-end.</a:t>
            </a:r>
          </a:p>
          <a:p>
            <a:r>
              <a:t>MCP servers are easy to build — it's just a JSON-RPC interface that exposes tools.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advanced techniques that dramatically improve results:</a:t>
            </a:r>
          </a:p>
          <a:p/>
          <a:p>
            <a:r>
              <a:t>1. Prompt Chaining: decompose complex tasks into sequential steps. Each step uses the output of the previous one. This gives Copilot a clear, manageable scope at each step instead of a massive multi-part request.</a:t>
            </a:r>
          </a:p>
          <a:p/>
          <a:p>
            <a:r>
              <a:t>2. Context Window Management: know when to start fresh. If the conversation has too many errors, if you're changing topic, or if the thread is getting long — start a new conversation. Also use #file to include specific files and @workspace for project-wide context.</a:t>
            </a:r>
          </a:p>
          <a:p/>
          <a:p>
            <a:r>
              <a:t>3. Few-Shot Prompting: show Copilot an example of what you want. If you have an existing endpoint that follows your pattern, reference it and ask Copilot to create the new one following the same pattern. This ensures perfect consistency across your codebase.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400" b="1">
                <a:solidFill>
                  <a:srgbClr val="FFFFFF"/>
                </a:solidFill>
              </a:defRPr>
            </a:pPr>
            <a:r>
              <a:t>🚀 Community Forum #2</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400" b="0">
                <a:solidFill>
                  <a:srgbClr val="A8B2D1"/>
                </a:solidFill>
              </a:defRPr>
            </a:pPr>
            <a:r>
              <a:t>GitHub Copilot — Going Further</a:t>
            </a:r>
          </a:p>
        </p:txBody>
      </p:sp>
      <p:sp>
        <p:nvSpPr>
          <p:cNvPr id="4" name="TextBox 3"/>
          <p:cNvSpPr txBox="1"/>
          <p:nvPr/>
        </p:nvSpPr>
        <p:spPr>
          <a:xfrm>
            <a:off x="914400" y="5029200"/>
            <a:ext cx="10058400" cy="457200"/>
          </a:xfrm>
          <a:prstGeom prst="rect">
            <a:avLst/>
          </a:prstGeom>
          <a:noFill/>
        </p:spPr>
        <p:txBody>
          <a:bodyPr wrap="square">
            <a:spAutoFit/>
          </a:bodyPr>
          <a:lstStyle/>
          <a:p>
            <a:pPr algn="ctr">
              <a:defRPr sz="1400" b="0">
                <a:solidFill>
                  <a:srgbClr val="64748B"/>
                </a:solidFill>
              </a:defRPr>
            </a:pPr>
            <a:r>
              <a:t>Community of Practice • 1h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Agenda</a:t>
            </a:r>
          </a:p>
        </p:txBody>
      </p:sp>
      <p:sp>
        <p:nvSpPr>
          <p:cNvPr id="3" name="Rounded Rectangle 2"/>
          <p:cNvSpPr/>
          <p:nvPr/>
        </p:nvSpPr>
        <p:spPr>
          <a:xfrm>
            <a:off x="457200" y="118872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4" name="TextBox 3"/>
          <p:cNvSpPr txBox="1"/>
          <p:nvPr/>
        </p:nvSpPr>
        <p:spPr>
          <a:xfrm>
            <a:off x="1280160" y="1188720"/>
            <a:ext cx="7315200" cy="365760"/>
          </a:xfrm>
          <a:prstGeom prst="rect">
            <a:avLst/>
          </a:prstGeom>
          <a:noFill/>
        </p:spPr>
        <p:txBody>
          <a:bodyPr wrap="square">
            <a:spAutoFit/>
          </a:bodyPr>
          <a:lstStyle/>
          <a:p>
            <a:pPr algn="l">
              <a:defRPr sz="2000" b="1">
                <a:solidFill>
                  <a:srgbClr val="FFFFFF"/>
                </a:solidFill>
              </a:defRPr>
            </a:pPr>
            <a:r>
              <a:t>Intro</a:t>
            </a:r>
          </a:p>
        </p:txBody>
      </p:sp>
      <p:sp>
        <p:nvSpPr>
          <p:cNvPr id="5" name="TextBox 4"/>
          <p:cNvSpPr txBox="1"/>
          <p:nvPr/>
        </p:nvSpPr>
        <p:spPr>
          <a:xfrm>
            <a:off x="1280160" y="1536192"/>
            <a:ext cx="7315200" cy="365760"/>
          </a:xfrm>
          <a:prstGeom prst="rect">
            <a:avLst/>
          </a:prstGeom>
          <a:noFill/>
        </p:spPr>
        <p:txBody>
          <a:bodyPr wrap="square">
            <a:spAutoFit/>
          </a:bodyPr>
          <a:lstStyle/>
          <a:p>
            <a:pPr algn="l">
              <a:defRPr sz="1300" b="0">
                <a:solidFill>
                  <a:srgbClr val="A8B2D1"/>
                </a:solidFill>
              </a:defRPr>
            </a:pPr>
            <a:r>
              <a:t>Forum #1 recap, goals, workshop announcement</a:t>
            </a:r>
          </a:p>
        </p:txBody>
      </p:sp>
      <p:sp>
        <p:nvSpPr>
          <p:cNvPr id="6" name="TextBox 5"/>
          <p:cNvSpPr txBox="1"/>
          <p:nvPr/>
        </p:nvSpPr>
        <p:spPr>
          <a:xfrm>
            <a:off x="10058400" y="1280160"/>
            <a:ext cx="1828800" cy="365760"/>
          </a:xfrm>
          <a:prstGeom prst="rect">
            <a:avLst/>
          </a:prstGeom>
          <a:noFill/>
        </p:spPr>
        <p:txBody>
          <a:bodyPr wrap="square">
            <a:spAutoFit/>
          </a:bodyPr>
          <a:lstStyle/>
          <a:p>
            <a:pPr algn="r">
              <a:defRPr sz="1300" b="0">
                <a:solidFill>
                  <a:srgbClr val="64748B"/>
                </a:solidFill>
              </a:defRPr>
            </a:pPr>
            <a:r>
              <a:t>5 min</a:t>
            </a:r>
          </a:p>
        </p:txBody>
      </p:sp>
      <p:sp>
        <p:nvSpPr>
          <p:cNvPr id="7" name="Rounded Rectangle 6"/>
          <p:cNvSpPr/>
          <p:nvPr/>
        </p:nvSpPr>
        <p:spPr>
          <a:xfrm>
            <a:off x="457200" y="219456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8" name="TextBox 7"/>
          <p:cNvSpPr txBox="1"/>
          <p:nvPr/>
        </p:nvSpPr>
        <p:spPr>
          <a:xfrm>
            <a:off x="1280160" y="2194560"/>
            <a:ext cx="7315200" cy="365760"/>
          </a:xfrm>
          <a:prstGeom prst="rect">
            <a:avLst/>
          </a:prstGeom>
          <a:noFill/>
        </p:spPr>
        <p:txBody>
          <a:bodyPr wrap="square">
            <a:spAutoFit/>
          </a:bodyPr>
          <a:lstStyle/>
          <a:p>
            <a:pPr algn="l">
              <a:defRPr sz="2000" b="1">
                <a:solidFill>
                  <a:srgbClr val="FFFFFF"/>
                </a:solidFill>
              </a:defRPr>
            </a:pPr>
            <a:r>
              <a:t>Live Demo — Core Session</a:t>
            </a:r>
          </a:p>
        </p:txBody>
      </p:sp>
      <p:sp>
        <p:nvSpPr>
          <p:cNvPr id="9" name="TextBox 8"/>
          <p:cNvSpPr txBox="1"/>
          <p:nvPr/>
        </p:nvSpPr>
        <p:spPr>
          <a:xfrm>
            <a:off x="1280160" y="2542032"/>
            <a:ext cx="7315200" cy="365760"/>
          </a:xfrm>
          <a:prstGeom prst="rect">
            <a:avLst/>
          </a:prstGeom>
          <a:noFill/>
        </p:spPr>
        <p:txBody>
          <a:bodyPr wrap="square">
            <a:spAutoFit/>
          </a:bodyPr>
          <a:lstStyle/>
          <a:p>
            <a:pPr algn="l">
              <a:defRPr sz="1300" b="0">
                <a:solidFill>
                  <a:srgbClr val="A8B2D1"/>
                </a:solidFill>
              </a:defRPr>
            </a:pPr>
            <a:r>
              <a:t>API + Tests + .github/ • Orange use cases • Agent mode • Business value + Adoption</a:t>
            </a:r>
          </a:p>
        </p:txBody>
      </p:sp>
      <p:sp>
        <p:nvSpPr>
          <p:cNvPr id="10" name="TextBox 9"/>
          <p:cNvSpPr txBox="1"/>
          <p:nvPr/>
        </p:nvSpPr>
        <p:spPr>
          <a:xfrm>
            <a:off x="10058400" y="2286000"/>
            <a:ext cx="1828800" cy="365760"/>
          </a:xfrm>
          <a:prstGeom prst="rect">
            <a:avLst/>
          </a:prstGeom>
          <a:noFill/>
        </p:spPr>
        <p:txBody>
          <a:bodyPr wrap="square">
            <a:spAutoFit/>
          </a:bodyPr>
          <a:lstStyle/>
          <a:p>
            <a:pPr algn="r">
              <a:defRPr sz="1300" b="0">
                <a:solidFill>
                  <a:srgbClr val="64748B"/>
                </a:solidFill>
              </a:defRPr>
            </a:pPr>
            <a:r>
              <a:t>20 min</a:t>
            </a:r>
          </a:p>
        </p:txBody>
      </p:sp>
      <p:sp>
        <p:nvSpPr>
          <p:cNvPr id="11" name="Rounded Rectangle 10"/>
          <p:cNvSpPr/>
          <p:nvPr/>
        </p:nvSpPr>
        <p:spPr>
          <a:xfrm>
            <a:off x="457200" y="320040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12" name="TextBox 11"/>
          <p:cNvSpPr txBox="1"/>
          <p:nvPr/>
        </p:nvSpPr>
        <p:spPr>
          <a:xfrm>
            <a:off x="1280160" y="3200400"/>
            <a:ext cx="7315200" cy="365760"/>
          </a:xfrm>
          <a:prstGeom prst="rect">
            <a:avLst/>
          </a:prstGeom>
          <a:noFill/>
        </p:spPr>
        <p:txBody>
          <a:bodyPr wrap="square">
            <a:spAutoFit/>
          </a:bodyPr>
          <a:lstStyle/>
          <a:p>
            <a:pPr algn="l">
              <a:defRPr sz="2000" b="1">
                <a:solidFill>
                  <a:srgbClr val="FFFFFF"/>
                </a:solidFill>
              </a:defRPr>
            </a:pPr>
            <a:r>
              <a:t>Multi-Agents — Industrialization</a:t>
            </a:r>
          </a:p>
        </p:txBody>
      </p:sp>
      <p:sp>
        <p:nvSpPr>
          <p:cNvPr id="13" name="TextBox 12"/>
          <p:cNvSpPr txBox="1"/>
          <p:nvPr/>
        </p:nvSpPr>
        <p:spPr>
          <a:xfrm>
            <a:off x="1280160" y="3547872"/>
            <a:ext cx="7315200" cy="365760"/>
          </a:xfrm>
          <a:prstGeom prst="rect">
            <a:avLst/>
          </a:prstGeom>
          <a:noFill/>
        </p:spPr>
        <p:txBody>
          <a:bodyPr wrap="square">
            <a:spAutoFit/>
          </a:bodyPr>
          <a:lstStyle/>
          <a:p>
            <a:pPr algn="l">
              <a:defRPr sz="1300" b="0">
                <a:solidFill>
                  <a:srgbClr val="A8B2D1"/>
                </a:solidFill>
              </a:defRPr>
            </a:pPr>
            <a:r>
              <a:t>Orchestration • LLM choice • Token reduction • Shared skills • Mutualized approach • Agentic roadmap</a:t>
            </a:r>
          </a:p>
        </p:txBody>
      </p:sp>
      <p:sp>
        <p:nvSpPr>
          <p:cNvPr id="14" name="TextBox 13"/>
          <p:cNvSpPr txBox="1"/>
          <p:nvPr/>
        </p:nvSpPr>
        <p:spPr>
          <a:xfrm>
            <a:off x="10058400" y="3291840"/>
            <a:ext cx="1828800" cy="365760"/>
          </a:xfrm>
          <a:prstGeom prst="rect">
            <a:avLst/>
          </a:prstGeom>
          <a:noFill/>
        </p:spPr>
        <p:txBody>
          <a:bodyPr wrap="square">
            <a:spAutoFit/>
          </a:bodyPr>
          <a:lstStyle/>
          <a:p>
            <a:pPr algn="r">
              <a:defRPr sz="1300" b="0">
                <a:solidFill>
                  <a:srgbClr val="64748B"/>
                </a:solidFill>
              </a:defRPr>
            </a:pPr>
            <a:r>
              <a:t>20 min</a:t>
            </a:r>
          </a:p>
        </p:txBody>
      </p:sp>
      <p:sp>
        <p:nvSpPr>
          <p:cNvPr id="15" name="Rounded Rectangle 14"/>
          <p:cNvSpPr/>
          <p:nvPr/>
        </p:nvSpPr>
        <p:spPr>
          <a:xfrm>
            <a:off x="457200" y="420624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16" name="TextBox 15"/>
          <p:cNvSpPr txBox="1"/>
          <p:nvPr/>
        </p:nvSpPr>
        <p:spPr>
          <a:xfrm>
            <a:off x="1280160" y="4206240"/>
            <a:ext cx="7315200" cy="365760"/>
          </a:xfrm>
          <a:prstGeom prst="rect">
            <a:avLst/>
          </a:prstGeom>
          <a:noFill/>
        </p:spPr>
        <p:txBody>
          <a:bodyPr wrap="square">
            <a:spAutoFit/>
          </a:bodyPr>
          <a:lstStyle/>
          <a:p>
            <a:pPr algn="l">
              <a:defRPr sz="2000" b="1">
                <a:solidFill>
                  <a:srgbClr val="FFFFFF"/>
                </a:solidFill>
              </a:defRPr>
            </a:pPr>
            <a:r>
              <a:t>Q&amp;A</a:t>
            </a:r>
          </a:p>
        </p:txBody>
      </p:sp>
      <p:sp>
        <p:nvSpPr>
          <p:cNvPr id="17" name="TextBox 16"/>
          <p:cNvSpPr txBox="1"/>
          <p:nvPr/>
        </p:nvSpPr>
        <p:spPr>
          <a:xfrm>
            <a:off x="1280160" y="4553712"/>
            <a:ext cx="7315200" cy="365760"/>
          </a:xfrm>
          <a:prstGeom prst="rect">
            <a:avLst/>
          </a:prstGeom>
          <a:noFill/>
        </p:spPr>
        <p:txBody>
          <a:bodyPr wrap="square">
            <a:spAutoFit/>
          </a:bodyPr>
          <a:lstStyle/>
          <a:p>
            <a:pPr algn="l">
              <a:defRPr sz="1300" b="0">
                <a:solidFill>
                  <a:srgbClr val="A8B2D1"/>
                </a:solidFill>
              </a:defRPr>
            </a:pPr>
            <a:r>
              <a:t>Open questions • Experience sharing • Ideas for next steps</a:t>
            </a:r>
          </a:p>
        </p:txBody>
      </p:sp>
      <p:sp>
        <p:nvSpPr>
          <p:cNvPr id="18" name="TextBox 17"/>
          <p:cNvSpPr txBox="1"/>
          <p:nvPr/>
        </p:nvSpPr>
        <p:spPr>
          <a:xfrm>
            <a:off x="10058400" y="4297680"/>
            <a:ext cx="1828800" cy="365760"/>
          </a:xfrm>
          <a:prstGeom prst="rect">
            <a:avLst/>
          </a:prstGeom>
          <a:noFill/>
        </p:spPr>
        <p:txBody>
          <a:bodyPr wrap="square">
            <a:spAutoFit/>
          </a:bodyPr>
          <a:lstStyle/>
          <a:p>
            <a:pPr algn="r">
              <a:defRPr sz="1300" b="0">
                <a:solidFill>
                  <a:srgbClr val="64748B"/>
                </a:solidFill>
              </a:defRPr>
            </a:pPr>
            <a:r>
              <a:t>10 min</a:t>
            </a:r>
          </a:p>
        </p:txBody>
      </p:sp>
      <p:sp>
        <p:nvSpPr>
          <p:cNvPr id="19" name="Rounded Rectangle 18"/>
          <p:cNvSpPr/>
          <p:nvPr/>
        </p:nvSpPr>
        <p:spPr>
          <a:xfrm>
            <a:off x="457200" y="521208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20" name="TextBox 19"/>
          <p:cNvSpPr txBox="1"/>
          <p:nvPr/>
        </p:nvSpPr>
        <p:spPr>
          <a:xfrm>
            <a:off x="1280160" y="5212080"/>
            <a:ext cx="7315200" cy="365760"/>
          </a:xfrm>
          <a:prstGeom prst="rect">
            <a:avLst/>
          </a:prstGeom>
          <a:noFill/>
        </p:spPr>
        <p:txBody>
          <a:bodyPr wrap="square">
            <a:spAutoFit/>
          </a:bodyPr>
          <a:lstStyle/>
          <a:p>
            <a:pPr algn="l">
              <a:defRPr sz="2000" b="1">
                <a:solidFill>
                  <a:srgbClr val="FFFFFF"/>
                </a:solidFill>
              </a:defRPr>
            </a:pPr>
            <a:r>
              <a:t>Closing</a:t>
            </a:r>
          </a:p>
        </p:txBody>
      </p:sp>
      <p:sp>
        <p:nvSpPr>
          <p:cNvPr id="21" name="TextBox 20"/>
          <p:cNvSpPr txBox="1"/>
          <p:nvPr/>
        </p:nvSpPr>
        <p:spPr>
          <a:xfrm>
            <a:off x="1280160" y="5559552"/>
            <a:ext cx="7315200" cy="365760"/>
          </a:xfrm>
          <a:prstGeom prst="rect">
            <a:avLst/>
          </a:prstGeom>
          <a:noFill/>
        </p:spPr>
        <p:txBody>
          <a:bodyPr wrap="square">
            <a:spAutoFit/>
          </a:bodyPr>
          <a:lstStyle/>
          <a:p>
            <a:pPr algn="l">
              <a:defRPr sz="1300" b="0">
                <a:solidFill>
                  <a:srgbClr val="A8B2D1"/>
                </a:solidFill>
              </a:defRPr>
            </a:pPr>
            <a:r>
              <a:t>Recap • Shared resources • Hands-on workshop date</a:t>
            </a:r>
          </a:p>
        </p:txBody>
      </p:sp>
      <p:sp>
        <p:nvSpPr>
          <p:cNvPr id="22" name="TextBox 21"/>
          <p:cNvSpPr txBox="1"/>
          <p:nvPr/>
        </p:nvSpPr>
        <p:spPr>
          <a:xfrm>
            <a:off x="10058400" y="5303520"/>
            <a:ext cx="1828800" cy="365760"/>
          </a:xfrm>
          <a:prstGeom prst="rect">
            <a:avLst/>
          </a:prstGeom>
          <a:noFill/>
        </p:spPr>
        <p:txBody>
          <a:bodyPr wrap="square">
            <a:spAutoFit/>
          </a:bodyPr>
          <a:lstStyle/>
          <a:p>
            <a:pPr algn="r">
              <a:defRPr sz="1300" b="0">
                <a:solidFill>
                  <a:srgbClr val="64748B"/>
                </a:solidFill>
              </a:defRPr>
            </a:pPr>
            <a:r>
              <a:t>5 min</a:t>
            </a:r>
          </a:p>
        </p:txBody>
      </p:sp>
      <p:sp>
        <p:nvSpPr>
          <p:cNvPr id="23" name="Rounded Rectangle 22"/>
          <p:cNvSpPr/>
          <p:nvPr/>
        </p:nvSpPr>
        <p:spPr>
          <a:xfrm>
            <a:off x="914400" y="5943600"/>
            <a:ext cx="10058400" cy="54864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E94560"/>
                </a:solidFill>
              </a:defRPr>
            </a:pPr>
            <a:r>
              <a:t>🎯 Two pillars: Practical demo (business value) + Industrialization (multi-agents &amp; tokens)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Forum #1 Recap</a:t>
            </a:r>
          </a:p>
        </p:txBody>
      </p:sp>
      <p:sp>
        <p:nvSpPr>
          <p:cNvPr id="3" name="TextBox 2"/>
          <p:cNvSpPr txBox="1"/>
          <p:nvPr/>
        </p:nvSpPr>
        <p:spPr>
          <a:xfrm>
            <a:off x="457200" y="1371600"/>
            <a:ext cx="4572000" cy="457200"/>
          </a:xfrm>
          <a:prstGeom prst="rect">
            <a:avLst/>
          </a:prstGeom>
          <a:noFill/>
        </p:spPr>
        <p:txBody>
          <a:bodyPr wrap="square">
            <a:spAutoFit/>
          </a:bodyPr>
          <a:lstStyle/>
          <a:p>
            <a:pPr algn="l">
              <a:defRPr sz="2000" b="1">
                <a:solidFill>
                  <a:srgbClr val="A8B2D1"/>
                </a:solidFill>
              </a:defRPr>
            </a:pPr>
            <a:r>
              <a:t>✅ What we covered</a:t>
            </a:r>
          </a:p>
        </p:txBody>
      </p:sp>
      <p:sp>
        <p:nvSpPr>
          <p:cNvPr id="4" name="TextBox 3"/>
          <p:cNvSpPr txBox="1"/>
          <p:nvPr/>
        </p:nvSpPr>
        <p:spPr>
          <a:xfrm>
            <a:off x="457200" y="1920240"/>
            <a:ext cx="5029200" cy="2286000"/>
          </a:xfrm>
          <a:prstGeom prst="rect">
            <a:avLst/>
          </a:prstGeom>
          <a:noFill/>
        </p:spPr>
        <p:txBody>
          <a:bodyPr wrap="square">
            <a:spAutoFit/>
          </a:bodyPr>
          <a:lstStyle/>
          <a:p>
            <a:pPr algn="l">
              <a:defRPr sz="1600" b="0">
                <a:solidFill>
                  <a:srgbClr val="C8D6E5"/>
                </a:solidFill>
              </a:defRPr>
            </a:pPr>
            <a:r>
              <a:t>💬  Copilot Chat &amp; Agent introduction</a:t>
            </a:r>
          </a:p>
          <a:p>
            <a:pPr algn="l">
              <a:spcBef>
                <a:spcPts val="600"/>
              </a:spcBef>
              <a:defRPr sz="1600" b="0">
                <a:solidFill>
                  <a:srgbClr val="C8D6E5"/>
                </a:solidFill>
              </a:defRPr>
            </a:pPr>
            <a:r>
              <a:t>📝  First steps with custom instructions</a:t>
            </a:r>
          </a:p>
          <a:p>
            <a:pPr algn="l">
              <a:spcBef>
                <a:spcPts val="600"/>
              </a:spcBef>
              <a:defRPr sz="1600" b="0">
                <a:solidFill>
                  <a:srgbClr val="C8D6E5"/>
                </a:solidFill>
              </a:defRPr>
            </a:pPr>
            <a:r>
              <a:t>🔀  Modes: Ask, Edit, Agent</a:t>
            </a:r>
          </a:p>
          <a:p>
            <a:pPr algn="l">
              <a:spcBef>
                <a:spcPts val="600"/>
              </a:spcBef>
              <a:defRPr sz="1600" b="0">
                <a:solidFill>
                  <a:srgbClr val="C8D6E5"/>
                </a:solidFill>
              </a:defRPr>
            </a:pPr>
            <a:r>
              <a:t>🧪  Initial demos &amp; quick wins</a:t>
            </a:r>
          </a:p>
        </p:txBody>
      </p:sp>
      <p:sp>
        <p:nvSpPr>
          <p:cNvPr id="5" name="TextBox 4"/>
          <p:cNvSpPr txBox="1"/>
          <p:nvPr/>
        </p:nvSpPr>
        <p:spPr>
          <a:xfrm>
            <a:off x="6400800" y="1371600"/>
            <a:ext cx="4572000" cy="457200"/>
          </a:xfrm>
          <a:prstGeom prst="rect">
            <a:avLst/>
          </a:prstGeom>
          <a:noFill/>
        </p:spPr>
        <p:txBody>
          <a:bodyPr wrap="square">
            <a:spAutoFit/>
          </a:bodyPr>
          <a:lstStyle/>
          <a:p>
            <a:pPr algn="l">
              <a:defRPr sz="2000" b="1">
                <a:solidFill>
                  <a:srgbClr val="A8B2D1"/>
                </a:solidFill>
              </a:defRPr>
            </a:pPr>
            <a:r>
              <a:t>🎯 Today's goals</a:t>
            </a:r>
          </a:p>
        </p:txBody>
      </p:sp>
      <p:sp>
        <p:nvSpPr>
          <p:cNvPr id="6" name="TextBox 5"/>
          <p:cNvSpPr txBox="1"/>
          <p:nvPr/>
        </p:nvSpPr>
        <p:spPr>
          <a:xfrm>
            <a:off x="6400800" y="1920240"/>
            <a:ext cx="5029200" cy="2286000"/>
          </a:xfrm>
          <a:prstGeom prst="rect">
            <a:avLst/>
          </a:prstGeom>
          <a:noFill/>
        </p:spPr>
        <p:txBody>
          <a:bodyPr wrap="square">
            <a:spAutoFit/>
          </a:bodyPr>
          <a:lstStyle/>
          <a:p>
            <a:pPr algn="l">
              <a:defRPr sz="1600" b="0">
                <a:solidFill>
                  <a:srgbClr val="C8D6E5"/>
                </a:solidFill>
              </a:defRPr>
            </a:pPr>
            <a:r>
              <a:t>🏗️  Build a real project live</a:t>
            </a:r>
          </a:p>
          <a:p>
            <a:pPr algn="l">
              <a:spcBef>
                <a:spcPts val="600"/>
              </a:spcBef>
              <a:defRPr sz="1600" b="0">
                <a:solidFill>
                  <a:srgbClr val="C8D6E5"/>
                </a:solidFill>
              </a:defRPr>
            </a:pPr>
            <a:r>
              <a:t>🤖  Multi-agent deep dive</a:t>
            </a:r>
          </a:p>
          <a:p>
            <a:pPr algn="l">
              <a:spcBef>
                <a:spcPts val="600"/>
              </a:spcBef>
              <a:defRPr sz="1600" b="0">
                <a:solidFill>
                  <a:srgbClr val="C8D6E5"/>
                </a:solidFill>
              </a:defRPr>
            </a:pPr>
            <a:r>
              <a:t>📊  Token optimization strategies</a:t>
            </a:r>
          </a:p>
          <a:p>
            <a:pPr algn="l">
              <a:spcBef>
                <a:spcPts val="600"/>
              </a:spcBef>
              <a:defRPr sz="1600" b="0">
                <a:solidFill>
                  <a:srgbClr val="C8D6E5"/>
                </a:solidFill>
              </a:defRPr>
            </a:pPr>
            <a:r>
              <a:t>📅  Announce hands-on workshop</a:t>
            </a:r>
          </a:p>
        </p:txBody>
      </p:sp>
      <p:sp>
        <p:nvSpPr>
          <p:cNvPr id="7" name="Rounded Rectangle 6"/>
          <p:cNvSpPr/>
          <p:nvPr/>
        </p:nvSpPr>
        <p:spPr>
          <a:xfrm>
            <a:off x="914400" y="5029200"/>
            <a:ext cx="10058400" cy="73152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From individual exploration → Team-scale adoption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097280"/>
          </a:xfrm>
          <a:prstGeom prst="rect">
            <a:avLst/>
          </a:prstGeom>
          <a:noFill/>
        </p:spPr>
        <p:txBody>
          <a:bodyPr wrap="square">
            <a:spAutoFit/>
          </a:bodyPr>
          <a:lstStyle/>
          <a:p>
            <a:pPr algn="ctr">
              <a:defRPr sz="4400" b="1">
                <a:solidFill>
                  <a:srgbClr val="FFFFFF"/>
                </a:solidFill>
              </a:defRPr>
            </a:pPr>
            <a:r>
              <a:t>🛠️ Live Demo</a:t>
            </a:r>
          </a:p>
        </p:txBody>
      </p:sp>
      <p:sp>
        <p:nvSpPr>
          <p:cNvPr id="3" name="TextBox 2"/>
          <p:cNvSpPr txBox="1"/>
          <p:nvPr/>
        </p:nvSpPr>
        <p:spPr>
          <a:xfrm>
            <a:off x="914400" y="3017520"/>
            <a:ext cx="10058400" cy="731520"/>
          </a:xfrm>
          <a:prstGeom prst="rect">
            <a:avLst/>
          </a:prstGeom>
          <a:noFill/>
        </p:spPr>
        <p:txBody>
          <a:bodyPr wrap="square">
            <a:spAutoFit/>
          </a:bodyPr>
          <a:lstStyle/>
          <a:p>
            <a:pPr algn="ctr">
              <a:defRPr sz="2200" b="0">
                <a:solidFill>
                  <a:srgbClr val="A8B2D1"/>
                </a:solidFill>
              </a:defRPr>
            </a:pPr>
            <a:r>
              <a:t>Notification Microservice — From Scratch</a:t>
            </a:r>
          </a:p>
        </p:txBody>
      </p:sp>
      <p:sp>
        <p:nvSpPr>
          <p:cNvPr id="4" name="TextBox 3"/>
          <p:cNvSpPr txBox="1"/>
          <p:nvPr/>
        </p:nvSpPr>
        <p:spPr>
          <a:xfrm>
            <a:off x="914400" y="4114800"/>
            <a:ext cx="10058400" cy="548640"/>
          </a:xfrm>
          <a:prstGeom prst="rect">
            <a:avLst/>
          </a:prstGeom>
          <a:noFill/>
        </p:spPr>
        <p:txBody>
          <a:bodyPr wrap="square">
            <a:spAutoFit/>
          </a:bodyPr>
          <a:lstStyle/>
          <a:p>
            <a:pPr algn="ctr">
              <a:defRPr sz="1600" b="0">
                <a:solidFill>
                  <a:srgbClr val="64748B"/>
                </a:solidFill>
              </a:defRPr>
            </a:pPr>
            <a:r>
              <a:t>Retry • Dead Letter Queue • Structured Logging • Tests</a:t>
            </a:r>
          </a:p>
        </p:txBody>
      </p:sp>
      <p:sp>
        <p:nvSpPr>
          <p:cNvPr id="5" name="Rounded Rectangle 4"/>
          <p:cNvSpPr/>
          <p:nvPr/>
        </p:nvSpPr>
        <p:spPr>
          <a:xfrm>
            <a:off x="1371600" y="5029200"/>
            <a:ext cx="2011680" cy="10972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E94560"/>
                </a:solidFill>
              </a:defRPr>
            </a:pPr>
            <a:r>
              <a:t>API</a:t>
            </a:r>
            <a:br/>
            <a:r>
              <a:t>POST /notify</a:t>
            </a:r>
          </a:p>
        </p:txBody>
      </p:sp>
      <p:sp>
        <p:nvSpPr>
          <p:cNvPr id="6" name="Rounded Rectangle 5"/>
          <p:cNvSpPr/>
          <p:nvPr/>
        </p:nvSpPr>
        <p:spPr>
          <a:xfrm>
            <a:off x="3657600" y="5029200"/>
            <a:ext cx="2011680" cy="10972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4FACFE"/>
                </a:solidFill>
              </a:defRPr>
            </a:pPr>
            <a:r>
              <a:t>Queue</a:t>
            </a:r>
            <a:br/>
            <a:r>
              <a:t>Async processing</a:t>
            </a:r>
          </a:p>
        </p:txBody>
      </p:sp>
      <p:sp>
        <p:nvSpPr>
          <p:cNvPr id="7" name="Rounded Rectangle 6"/>
          <p:cNvSpPr/>
          <p:nvPr/>
        </p:nvSpPr>
        <p:spPr>
          <a:xfrm>
            <a:off x="5943600" y="5029200"/>
            <a:ext cx="2011680" cy="10972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ED573"/>
                </a:solidFill>
              </a:defRPr>
            </a:pPr>
            <a:r>
              <a:t>Channels</a:t>
            </a:r>
            <a:br/>
            <a:r>
              <a:t>📧 Email  💬 Slack</a:t>
            </a:r>
          </a:p>
        </p:txBody>
      </p:sp>
      <p:sp>
        <p:nvSpPr>
          <p:cNvPr id="8" name="Rounded Rectangle 7"/>
          <p:cNvSpPr/>
          <p:nvPr/>
        </p:nvSpPr>
        <p:spPr>
          <a:xfrm>
            <a:off x="8686800" y="5029200"/>
            <a:ext cx="2011680" cy="1097280"/>
          </a:xfrm>
          <a:prstGeom prst="roundRect">
            <a:avLst/>
          </a:prstGeom>
          <a:solidFill>
            <a:srgbClr val="16213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6B6B"/>
                </a:solidFill>
              </a:defRPr>
            </a:pPr>
            <a:r>
              <a:t>Retry x3</a:t>
            </a:r>
            <a:br/>
            <a:r>
              <a:t>+ Dead Letter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Why This Demo Matters</a:t>
            </a:r>
          </a:p>
        </p:txBody>
      </p:sp>
      <p:sp>
        <p:nvSpPr>
          <p:cNvPr id="3" name="Rounded Rectangle 2"/>
          <p:cNvSpPr/>
          <p:nvPr/>
        </p:nvSpPr>
        <p:spPr>
          <a:xfrm>
            <a:off x="4572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54480"/>
            <a:ext cx="3108960" cy="457200"/>
          </a:xfrm>
          <a:prstGeom prst="rect">
            <a:avLst/>
          </a:prstGeom>
          <a:noFill/>
        </p:spPr>
        <p:txBody>
          <a:bodyPr wrap="square">
            <a:spAutoFit/>
          </a:bodyPr>
          <a:lstStyle/>
          <a:p>
            <a:pPr algn="ctr">
              <a:defRPr sz="1800" b="1">
                <a:solidFill>
                  <a:srgbClr val="E94560"/>
                </a:solidFill>
              </a:defRPr>
            </a:pPr>
            <a:r>
              <a:t>🏢 Orange Use Cases</a:t>
            </a:r>
          </a:p>
        </p:txBody>
      </p:sp>
      <p:sp>
        <p:nvSpPr>
          <p:cNvPr id="5" name="TextBox 4"/>
          <p:cNvSpPr txBox="1"/>
          <p:nvPr/>
        </p:nvSpPr>
        <p:spPr>
          <a:xfrm>
            <a:off x="640080" y="2194560"/>
            <a:ext cx="3108960" cy="1371600"/>
          </a:xfrm>
          <a:prstGeom prst="rect">
            <a:avLst/>
          </a:prstGeom>
          <a:noFill/>
        </p:spPr>
        <p:txBody>
          <a:bodyPr wrap="square">
            <a:spAutoFit/>
          </a:bodyPr>
          <a:lstStyle/>
          <a:p>
            <a:pPr algn="ctr">
              <a:defRPr sz="1400" b="0">
                <a:solidFill>
                  <a:srgbClr val="A8B2D1"/>
                </a:solidFill>
              </a:defRPr>
            </a:pPr>
            <a:r>
              <a:t>Real microservice patterns</a:t>
            </a:r>
            <a:br/>
            <a:r>
              <a:t>we use daily — not a</a:t>
            </a:r>
            <a:br/>
            <a:r>
              <a:t>contrived example</a:t>
            </a:r>
          </a:p>
        </p:txBody>
      </p:sp>
      <p:sp>
        <p:nvSpPr>
          <p:cNvPr id="6" name="Rounded Rectangle 5"/>
          <p:cNvSpPr/>
          <p:nvPr/>
        </p:nvSpPr>
        <p:spPr>
          <a:xfrm>
            <a:off x="41148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7680" y="1554480"/>
            <a:ext cx="3108960" cy="457200"/>
          </a:xfrm>
          <a:prstGeom prst="rect">
            <a:avLst/>
          </a:prstGeom>
          <a:noFill/>
        </p:spPr>
        <p:txBody>
          <a:bodyPr wrap="square">
            <a:spAutoFit/>
          </a:bodyPr>
          <a:lstStyle/>
          <a:p>
            <a:pPr algn="ctr">
              <a:defRPr sz="1800" b="1">
                <a:solidFill>
                  <a:srgbClr val="E94560"/>
                </a:solidFill>
              </a:defRPr>
            </a:pPr>
            <a:r>
              <a:t>⚡ Dev Acceleration</a:t>
            </a:r>
          </a:p>
        </p:txBody>
      </p:sp>
      <p:sp>
        <p:nvSpPr>
          <p:cNvPr id="8" name="TextBox 7"/>
          <p:cNvSpPr txBox="1"/>
          <p:nvPr/>
        </p:nvSpPr>
        <p:spPr>
          <a:xfrm>
            <a:off x="4297680" y="2194560"/>
            <a:ext cx="3108960" cy="1371600"/>
          </a:xfrm>
          <a:prstGeom prst="rect">
            <a:avLst/>
          </a:prstGeom>
          <a:noFill/>
        </p:spPr>
        <p:txBody>
          <a:bodyPr wrap="square">
            <a:spAutoFit/>
          </a:bodyPr>
          <a:lstStyle/>
          <a:p>
            <a:pPr algn="ctr">
              <a:defRPr sz="1400" b="0">
                <a:solidFill>
                  <a:srgbClr val="A8B2D1"/>
                </a:solidFill>
              </a:defRPr>
            </a:pPr>
            <a:r>
              <a:t>From prompt to working</a:t>
            </a:r>
            <a:br/>
            <a:r>
              <a:t>service in &lt;20 min with</a:t>
            </a:r>
            <a:br/>
            <a:r>
              <a:t>tests &amp; observability</a:t>
            </a:r>
          </a:p>
        </p:txBody>
      </p:sp>
      <p:sp>
        <p:nvSpPr>
          <p:cNvPr id="9" name="Rounded Rectangle 8"/>
          <p:cNvSpPr/>
          <p:nvPr/>
        </p:nvSpPr>
        <p:spPr>
          <a:xfrm>
            <a:off x="77724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0" y="1554480"/>
            <a:ext cx="3108960" cy="457200"/>
          </a:xfrm>
          <a:prstGeom prst="rect">
            <a:avLst/>
          </a:prstGeom>
          <a:noFill/>
        </p:spPr>
        <p:txBody>
          <a:bodyPr wrap="square">
            <a:spAutoFit/>
          </a:bodyPr>
          <a:lstStyle/>
          <a:p>
            <a:pPr algn="ctr">
              <a:defRPr sz="1800" b="1">
                <a:solidFill>
                  <a:srgbClr val="E94560"/>
                </a:solidFill>
              </a:defRPr>
            </a:pPr>
            <a:r>
              <a:t>📈 Business Value</a:t>
            </a:r>
          </a:p>
        </p:txBody>
      </p:sp>
      <p:sp>
        <p:nvSpPr>
          <p:cNvPr id="11" name="TextBox 10"/>
          <p:cNvSpPr txBox="1"/>
          <p:nvPr/>
        </p:nvSpPr>
        <p:spPr>
          <a:xfrm>
            <a:off x="7955280" y="2194560"/>
            <a:ext cx="3108960" cy="1371600"/>
          </a:xfrm>
          <a:prstGeom prst="rect">
            <a:avLst/>
          </a:prstGeom>
          <a:noFill/>
        </p:spPr>
        <p:txBody>
          <a:bodyPr wrap="square">
            <a:spAutoFit/>
          </a:bodyPr>
          <a:lstStyle/>
          <a:p>
            <a:pPr algn="ctr">
              <a:defRPr sz="1400" b="0">
                <a:solidFill>
                  <a:srgbClr val="A8B2D1"/>
                </a:solidFill>
              </a:defRPr>
            </a:pPr>
            <a:r>
              <a:t>Faster delivery, consistent</a:t>
            </a:r>
            <a:br/>
            <a:r>
              <a:t>quality, knowledge</a:t>
            </a:r>
            <a:br/>
            <a:r>
              <a:t>capitalization</a:t>
            </a:r>
          </a:p>
        </p:txBody>
      </p:sp>
      <p:sp>
        <p:nvSpPr>
          <p:cNvPr id="12" name="Rounded Rectangle 11"/>
          <p:cNvSpPr/>
          <p:nvPr/>
        </p:nvSpPr>
        <p:spPr>
          <a:xfrm>
            <a:off x="457200" y="4114800"/>
            <a:ext cx="10972800" cy="109728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Key insight: We describe the WHAT (architecture), Copilot handles the HOW (implementation).</a:t>
            </a:r>
            <a:br/>
            <a:r>
              <a:t>This is not just code generation — it's workflow automation.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Architecture Overview</a:t>
            </a:r>
          </a:p>
        </p:txBody>
      </p:sp>
      <p:sp>
        <p:nvSpPr>
          <p:cNvPr id="3" name="Rounded Rectangle 2"/>
          <p:cNvSpPr/>
          <p:nvPr/>
        </p:nvSpPr>
        <p:spPr>
          <a:xfrm>
            <a:off x="457200" y="1188720"/>
            <a:ext cx="10972800" cy="1097280"/>
          </a:xfrm>
          <a:prstGeom prst="roundRect">
            <a:avLst/>
          </a:prstGeom>
          <a:solidFill>
            <a:srgbClr val="1F1525"/>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5486400" cy="365760"/>
          </a:xfrm>
          <a:prstGeom prst="rect">
            <a:avLst/>
          </a:prstGeom>
          <a:noFill/>
        </p:spPr>
        <p:txBody>
          <a:bodyPr wrap="square">
            <a:spAutoFit/>
          </a:bodyPr>
          <a:lstStyle/>
          <a:p>
            <a:pPr algn="l">
              <a:defRPr sz="1400" b="1">
                <a:solidFill>
                  <a:srgbClr val="E94560"/>
                </a:solidFill>
              </a:defRPr>
            </a:pPr>
            <a:r>
              <a:t>📁 .github/ — Copilot Context Layer</a:t>
            </a:r>
          </a:p>
        </p:txBody>
      </p:sp>
      <p:sp>
        <p:nvSpPr>
          <p:cNvPr id="5" name="TextBox 4"/>
          <p:cNvSpPr txBox="1"/>
          <p:nvPr/>
        </p:nvSpPr>
        <p:spPr>
          <a:xfrm>
            <a:off x="731520" y="1645920"/>
            <a:ext cx="9144000" cy="457200"/>
          </a:xfrm>
          <a:prstGeom prst="rect">
            <a:avLst/>
          </a:prstGeom>
          <a:noFill/>
        </p:spPr>
        <p:txBody>
          <a:bodyPr wrap="square">
            <a:spAutoFit/>
          </a:bodyPr>
          <a:lstStyle/>
          <a:p>
            <a:pPr algn="l">
              <a:defRPr sz="1200" b="0">
                <a:solidFill>
                  <a:srgbClr val="A8B2D1"/>
                </a:solidFill>
              </a:defRPr>
            </a:pPr>
            <a:r>
              <a:t>copilot-instructions.md  •  prompts/create-api.prompt.md</a:t>
            </a:r>
          </a:p>
        </p:txBody>
      </p:sp>
      <p:sp>
        <p:nvSpPr>
          <p:cNvPr id="6" name="TextBox 5"/>
          <p:cNvSpPr txBox="1"/>
          <p:nvPr/>
        </p:nvSpPr>
        <p:spPr>
          <a:xfrm>
            <a:off x="731520" y="2560320"/>
            <a:ext cx="5486400" cy="365760"/>
          </a:xfrm>
          <a:prstGeom prst="rect">
            <a:avLst/>
          </a:prstGeom>
          <a:noFill/>
        </p:spPr>
        <p:txBody>
          <a:bodyPr wrap="square">
            <a:spAutoFit/>
          </a:bodyPr>
          <a:lstStyle/>
          <a:p>
            <a:pPr algn="l">
              <a:defRPr sz="1400" b="1">
                <a:solidFill>
                  <a:srgbClr val="4FACFE"/>
                </a:solidFill>
              </a:defRPr>
            </a:pPr>
            <a:r>
              <a:t>📦 src/ — Application Layer</a:t>
            </a:r>
          </a:p>
        </p:txBody>
      </p:sp>
      <p:sp>
        <p:nvSpPr>
          <p:cNvPr id="7" name="Rounded Rectangle 6"/>
          <p:cNvSpPr/>
          <p:nvPr/>
        </p:nvSpPr>
        <p:spPr>
          <a:xfrm>
            <a:off x="457200" y="3108960"/>
            <a:ext cx="2560320" cy="16459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00400"/>
            <a:ext cx="2194560" cy="365760"/>
          </a:xfrm>
          <a:prstGeom prst="rect">
            <a:avLst/>
          </a:prstGeom>
          <a:noFill/>
        </p:spPr>
        <p:txBody>
          <a:bodyPr wrap="square">
            <a:spAutoFit/>
          </a:bodyPr>
          <a:lstStyle/>
          <a:p>
            <a:pPr algn="ctr">
              <a:defRPr sz="1400" b="1">
                <a:solidFill>
                  <a:srgbClr val="E94560"/>
                </a:solidFill>
              </a:defRPr>
            </a:pPr>
            <a:r>
              <a:t>routes/</a:t>
            </a:r>
          </a:p>
        </p:txBody>
      </p:sp>
      <p:sp>
        <p:nvSpPr>
          <p:cNvPr id="9" name="TextBox 8"/>
          <p:cNvSpPr txBox="1"/>
          <p:nvPr/>
        </p:nvSpPr>
        <p:spPr>
          <a:xfrm>
            <a:off x="640080" y="3611880"/>
            <a:ext cx="2194560" cy="914400"/>
          </a:xfrm>
          <a:prstGeom prst="rect">
            <a:avLst/>
          </a:prstGeom>
          <a:noFill/>
        </p:spPr>
        <p:txBody>
          <a:bodyPr wrap="square">
            <a:spAutoFit/>
          </a:bodyPr>
          <a:lstStyle/>
          <a:p>
            <a:pPr algn="ctr">
              <a:defRPr sz="1100" b="0">
                <a:solidFill>
                  <a:srgbClr val="A8B2D1"/>
                </a:solidFill>
              </a:defRPr>
            </a:pPr>
            <a:r>
              <a:t>POST /notifications</a:t>
            </a:r>
            <a:br/>
            <a:r>
              <a:t>GET /health • GET /:id</a:t>
            </a:r>
          </a:p>
        </p:txBody>
      </p:sp>
      <p:sp>
        <p:nvSpPr>
          <p:cNvPr id="10" name="Rounded Rectangle 9"/>
          <p:cNvSpPr/>
          <p:nvPr/>
        </p:nvSpPr>
        <p:spPr>
          <a:xfrm>
            <a:off x="3200400" y="3108960"/>
            <a:ext cx="2560320" cy="16459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3200400"/>
            <a:ext cx="2194560" cy="365760"/>
          </a:xfrm>
          <a:prstGeom prst="rect">
            <a:avLst/>
          </a:prstGeom>
          <a:noFill/>
        </p:spPr>
        <p:txBody>
          <a:bodyPr wrap="square">
            <a:spAutoFit/>
          </a:bodyPr>
          <a:lstStyle/>
          <a:p>
            <a:pPr algn="ctr">
              <a:defRPr sz="1400" b="1">
                <a:solidFill>
                  <a:srgbClr val="4FACFE"/>
                </a:solidFill>
              </a:defRPr>
            </a:pPr>
            <a:r>
              <a:t>queue/</a:t>
            </a:r>
          </a:p>
        </p:txBody>
      </p:sp>
      <p:sp>
        <p:nvSpPr>
          <p:cNvPr id="12" name="TextBox 11"/>
          <p:cNvSpPr txBox="1"/>
          <p:nvPr/>
        </p:nvSpPr>
        <p:spPr>
          <a:xfrm>
            <a:off x="3383280" y="3611880"/>
            <a:ext cx="2194560" cy="914400"/>
          </a:xfrm>
          <a:prstGeom prst="rect">
            <a:avLst/>
          </a:prstGeom>
          <a:noFill/>
        </p:spPr>
        <p:txBody>
          <a:bodyPr wrap="square">
            <a:spAutoFit/>
          </a:bodyPr>
          <a:lstStyle/>
          <a:p>
            <a:pPr algn="ctr">
              <a:defRPr sz="1100" b="0">
                <a:solidFill>
                  <a:srgbClr val="A8B2D1"/>
                </a:solidFill>
              </a:defRPr>
            </a:pPr>
            <a:r>
              <a:t>Async processing</a:t>
            </a:r>
            <a:br/>
            <a:r>
              <a:t>Retry + Dead Letter</a:t>
            </a:r>
          </a:p>
        </p:txBody>
      </p:sp>
      <p:sp>
        <p:nvSpPr>
          <p:cNvPr id="13" name="Rounded Rectangle 12"/>
          <p:cNvSpPr/>
          <p:nvPr/>
        </p:nvSpPr>
        <p:spPr>
          <a:xfrm>
            <a:off x="5943600" y="3108960"/>
            <a:ext cx="2560320" cy="16459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3200400"/>
            <a:ext cx="2194560" cy="365760"/>
          </a:xfrm>
          <a:prstGeom prst="rect">
            <a:avLst/>
          </a:prstGeom>
          <a:noFill/>
        </p:spPr>
        <p:txBody>
          <a:bodyPr wrap="square">
            <a:spAutoFit/>
          </a:bodyPr>
          <a:lstStyle/>
          <a:p>
            <a:pPr algn="ctr">
              <a:defRPr sz="1400" b="1">
                <a:solidFill>
                  <a:srgbClr val="2ED573"/>
                </a:solidFill>
              </a:defRPr>
            </a:pPr>
            <a:r>
              <a:t>channels/</a:t>
            </a:r>
          </a:p>
        </p:txBody>
      </p:sp>
      <p:sp>
        <p:nvSpPr>
          <p:cNvPr id="15" name="TextBox 14"/>
          <p:cNvSpPr txBox="1"/>
          <p:nvPr/>
        </p:nvSpPr>
        <p:spPr>
          <a:xfrm>
            <a:off x="6126480" y="3611880"/>
            <a:ext cx="2194560" cy="914400"/>
          </a:xfrm>
          <a:prstGeom prst="rect">
            <a:avLst/>
          </a:prstGeom>
          <a:noFill/>
        </p:spPr>
        <p:txBody>
          <a:bodyPr wrap="square">
            <a:spAutoFit/>
          </a:bodyPr>
          <a:lstStyle/>
          <a:p>
            <a:pPr algn="ctr">
              <a:defRPr sz="1100" b="0">
                <a:solidFill>
                  <a:srgbClr val="A8B2D1"/>
                </a:solidFill>
              </a:defRPr>
            </a:pPr>
            <a:r>
              <a:t>email.ts • slack.ts</a:t>
            </a:r>
            <a:br/>
            <a:r>
              <a:t>Simulated senders</a:t>
            </a:r>
          </a:p>
        </p:txBody>
      </p:sp>
      <p:sp>
        <p:nvSpPr>
          <p:cNvPr id="16" name="Rounded Rectangle 15"/>
          <p:cNvSpPr/>
          <p:nvPr/>
        </p:nvSpPr>
        <p:spPr>
          <a:xfrm>
            <a:off x="8686800" y="3108960"/>
            <a:ext cx="2560320" cy="164592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3200400"/>
            <a:ext cx="2194560" cy="365760"/>
          </a:xfrm>
          <a:prstGeom prst="rect">
            <a:avLst/>
          </a:prstGeom>
          <a:noFill/>
        </p:spPr>
        <p:txBody>
          <a:bodyPr wrap="square">
            <a:spAutoFit/>
          </a:bodyPr>
          <a:lstStyle/>
          <a:p>
            <a:pPr algn="ctr">
              <a:defRPr sz="1400" b="1">
                <a:solidFill>
                  <a:srgbClr val="FFC107"/>
                </a:solidFill>
              </a:defRPr>
            </a:pPr>
            <a:r>
              <a:t>middleware/</a:t>
            </a:r>
          </a:p>
        </p:txBody>
      </p:sp>
      <p:sp>
        <p:nvSpPr>
          <p:cNvPr id="18" name="TextBox 17"/>
          <p:cNvSpPr txBox="1"/>
          <p:nvPr/>
        </p:nvSpPr>
        <p:spPr>
          <a:xfrm>
            <a:off x="8869680" y="3611880"/>
            <a:ext cx="2194560" cy="914400"/>
          </a:xfrm>
          <a:prstGeom prst="rect">
            <a:avLst/>
          </a:prstGeom>
          <a:noFill/>
        </p:spPr>
        <p:txBody>
          <a:bodyPr wrap="square">
            <a:spAutoFit/>
          </a:bodyPr>
          <a:lstStyle/>
          <a:p>
            <a:pPr algn="ctr">
              <a:defRPr sz="1100" b="0">
                <a:solidFill>
                  <a:srgbClr val="A8B2D1"/>
                </a:solidFill>
              </a:defRPr>
            </a:pPr>
            <a:r>
              <a:t>Structured JSON</a:t>
            </a:r>
            <a:br/>
            <a:r>
              <a:t>logging</a:t>
            </a:r>
          </a:p>
        </p:txBody>
      </p:sp>
      <p:sp>
        <p:nvSpPr>
          <p:cNvPr id="19" name="Rounded Rectangle 18"/>
          <p:cNvSpPr/>
          <p:nvPr/>
        </p:nvSpPr>
        <p:spPr>
          <a:xfrm>
            <a:off x="457200" y="5120640"/>
            <a:ext cx="731520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2ED573"/>
                </a:solidFill>
              </a:defRPr>
            </a:pPr>
            <a:r>
              <a:t>🧪 tests/ — Jest + Supertest (notifications.test.ts • retry.test.ts)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① Bootstrap — One Prompt</a:t>
            </a:r>
          </a:p>
        </p:txBody>
      </p:sp>
      <p:sp>
        <p:nvSpPr>
          <p:cNvPr id="3" name="Rounded Rectangle 2"/>
          <p:cNvSpPr/>
          <p:nvPr/>
        </p:nvSpPr>
        <p:spPr>
          <a:xfrm>
            <a:off x="457200" y="1371600"/>
            <a:ext cx="10972800" cy="32004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2926080"/>
          </a:xfrm>
          <a:prstGeom prst="rect">
            <a:avLst/>
          </a:prstGeom>
          <a:noFill/>
        </p:spPr>
        <p:txBody>
          <a:bodyPr wrap="square">
            <a:spAutoFit/>
          </a:bodyPr>
          <a:lstStyle/>
          <a:p>
            <a:pPr algn="l">
              <a:defRPr sz="1600" b="0">
                <a:solidFill>
                  <a:srgbClr val="7EE787"/>
                </a:solidFill>
              </a:defRPr>
            </a:pPr>
            <a:r>
              <a:t>"Create a Node.js TypeScript notification microservice with:"</a:t>
            </a:r>
          </a:p>
          <a:p>
            <a:pPr algn="l">
              <a:spcBef>
                <a:spcPts val="600"/>
              </a:spcBef>
              <a:defRPr sz="1000" b="0">
                <a:solidFill>
                  <a:srgbClr val="C8D6E5"/>
                </a:solidFill>
              </a:defRPr>
            </a:pPr>
          </a:p>
          <a:p>
            <a:pPr algn="l">
              <a:spcBef>
                <a:spcPts val="600"/>
              </a:spcBef>
              <a:defRPr sz="1400" b="0">
                <a:solidFill>
                  <a:srgbClr val="7EE787"/>
                </a:solidFill>
              </a:defRPr>
            </a:pPr>
            <a:r>
              <a:t>•  Express API with POST /notifications, GET /:id, GET /health</a:t>
            </a:r>
          </a:p>
          <a:p>
            <a:pPr algn="l">
              <a:spcBef>
                <a:spcPts val="600"/>
              </a:spcBef>
              <a:defRPr sz="1400" b="0">
                <a:solidFill>
                  <a:srgbClr val="7EE787"/>
                </a:solidFill>
              </a:defRPr>
            </a:pPr>
            <a:r>
              <a:t>•  In-memory async queue for processing</a:t>
            </a:r>
          </a:p>
          <a:p>
            <a:pPr algn="l">
              <a:spcBef>
                <a:spcPts val="600"/>
              </a:spcBef>
              <a:defRPr sz="1400" b="0">
                <a:solidFill>
                  <a:srgbClr val="7EE787"/>
                </a:solidFill>
              </a:defRPr>
            </a:pPr>
            <a:r>
              <a:t>•  Two channels: email and slack (simulated)</a:t>
            </a:r>
          </a:p>
          <a:p>
            <a:pPr algn="l">
              <a:spcBef>
                <a:spcPts val="600"/>
              </a:spcBef>
              <a:defRPr sz="1400" b="0">
                <a:solidFill>
                  <a:srgbClr val="7EE787"/>
                </a:solidFill>
              </a:defRPr>
            </a:pPr>
            <a:r>
              <a:t>•  Structured JSON logging with correlationId</a:t>
            </a:r>
          </a:p>
          <a:p>
            <a:pPr algn="l">
              <a:spcBef>
                <a:spcPts val="600"/>
              </a:spcBef>
              <a:defRPr sz="1400" b="0">
                <a:solidFill>
                  <a:srgbClr val="7EE787"/>
                </a:solidFill>
              </a:defRPr>
            </a:pPr>
            <a:r>
              <a:t>•  Structure: src/routes/, src/queue/, src/channels/, src/middleware/"</a:t>
            </a:r>
          </a:p>
        </p:txBody>
      </p:sp>
      <p:sp>
        <p:nvSpPr>
          <p:cNvPr id="5" name="Rounded Rectangle 4"/>
          <p:cNvSpPr/>
          <p:nvPr/>
        </p:nvSpPr>
        <p:spPr>
          <a:xfrm>
            <a:off x="457200" y="5029200"/>
            <a:ext cx="10972800" cy="73152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ED573"/>
                </a:solidFill>
              </a:defRPr>
            </a:pPr>
            <a:r>
              <a:t>🎯 We describe the ARCHITECTURE, not the code. Copilot understands microservice patterns.</a:t>
            </a:r>
          </a:p>
        </p:txBody>
      </p:sp>
      <p:sp>
        <p:nvSpPr>
          <p:cNvPr id="6" name="TextBox 5"/>
          <p:cNvSpPr txBox="1"/>
          <p:nvPr/>
        </p:nvSpPr>
        <p:spPr>
          <a:xfrm>
            <a:off x="457200" y="5943600"/>
            <a:ext cx="10972800" cy="457200"/>
          </a:xfrm>
          <a:prstGeom prst="rect">
            <a:avLst/>
          </a:prstGeom>
          <a:noFill/>
        </p:spPr>
        <p:txBody>
          <a:bodyPr wrap="square">
            <a:spAutoFit/>
          </a:bodyPr>
          <a:lstStyle/>
          <a:p>
            <a:pPr algn="ctr">
              <a:defRPr sz="1300" b="0">
                <a:solidFill>
                  <a:srgbClr val="64748B"/>
                </a:solidFill>
              </a:defRPr>
            </a:pPr>
            <a:r>
              <a:t>⏱️ ~30 seconds → complete microservice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② Retry + Dead Letter Queue</a:t>
            </a:r>
          </a:p>
        </p:txBody>
      </p:sp>
      <p:sp>
        <p:nvSpPr>
          <p:cNvPr id="3" name="Rounded Rectangle 2"/>
          <p:cNvSpPr/>
          <p:nvPr/>
        </p:nvSpPr>
        <p:spPr>
          <a:xfrm>
            <a:off x="457200" y="1188720"/>
            <a:ext cx="5029200" cy="27432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4572000" cy="2560320"/>
          </a:xfrm>
          <a:prstGeom prst="rect">
            <a:avLst/>
          </a:prstGeom>
          <a:noFill/>
        </p:spPr>
        <p:txBody>
          <a:bodyPr wrap="square">
            <a:spAutoFit/>
          </a:bodyPr>
          <a:lstStyle/>
          <a:p>
            <a:pPr algn="l">
              <a:defRPr sz="1400" b="0">
                <a:solidFill>
                  <a:srgbClr val="7EE787"/>
                </a:solidFill>
              </a:defRPr>
            </a:pPr>
            <a:r>
              <a:t>"Add retry mechanism:"</a:t>
            </a:r>
          </a:p>
          <a:p>
            <a:pPr algn="l">
              <a:spcBef>
                <a:spcPts val="600"/>
              </a:spcBef>
              <a:defRPr sz="1300" b="0">
                <a:solidFill>
                  <a:srgbClr val="7EE787"/>
                </a:solidFill>
              </a:defRPr>
            </a:pPr>
            <a:r>
              <a:t>• 3 attempts, exponential backoff</a:t>
            </a:r>
          </a:p>
          <a:p>
            <a:pPr algn="l">
              <a:spcBef>
                <a:spcPts val="600"/>
              </a:spcBef>
              <a:defRPr sz="1300" b="0">
                <a:solidFill>
                  <a:srgbClr val="7EE787"/>
                </a:solidFill>
              </a:defRPr>
            </a:pPr>
            <a:r>
              <a:t>• After 3 fails → dead letter queue</a:t>
            </a:r>
          </a:p>
          <a:p>
            <a:pPr algn="l">
              <a:spcBef>
                <a:spcPts val="600"/>
              </a:spcBef>
              <a:defRPr sz="1300" b="0">
                <a:solidFill>
                  <a:srgbClr val="7EE787"/>
                </a:solidFill>
              </a:defRPr>
            </a:pPr>
            <a:r>
              <a:t>• GET /dead-letter endpoint</a:t>
            </a:r>
          </a:p>
          <a:p>
            <a:pPr algn="l">
              <a:spcBef>
                <a:spcPts val="600"/>
              </a:spcBef>
              <a:defRPr sz="1300" b="0">
                <a:solidFill>
                  <a:srgbClr val="7EE787"/>
                </a:solidFill>
              </a:defRPr>
            </a:pPr>
            <a:r>
              <a:t>• Email fails 30% randomly</a:t>
            </a:r>
          </a:p>
        </p:txBody>
      </p:sp>
      <p:sp>
        <p:nvSpPr>
          <p:cNvPr id="5" name="Rounded Rectangle 4"/>
          <p:cNvSpPr/>
          <p:nvPr/>
        </p:nvSpPr>
        <p:spPr>
          <a:xfrm>
            <a:off x="6400800" y="1188720"/>
            <a:ext cx="1828800" cy="7315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Send</a:t>
            </a:r>
          </a:p>
        </p:txBody>
      </p:sp>
      <p:sp>
        <p:nvSpPr>
          <p:cNvPr id="6" name="Rounded Rectangle 5"/>
          <p:cNvSpPr/>
          <p:nvPr/>
        </p:nvSpPr>
        <p:spPr>
          <a:xfrm>
            <a:off x="9144000" y="1188720"/>
            <a:ext cx="1828800" cy="7315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ED573"/>
                </a:solidFill>
              </a:defRPr>
            </a:pPr>
            <a:r>
              <a:t>✓ Done</a:t>
            </a:r>
          </a:p>
        </p:txBody>
      </p:sp>
      <p:sp>
        <p:nvSpPr>
          <p:cNvPr id="7" name="TextBox 6"/>
          <p:cNvSpPr txBox="1"/>
          <p:nvPr/>
        </p:nvSpPr>
        <p:spPr>
          <a:xfrm>
            <a:off x="6400800" y="2286000"/>
            <a:ext cx="4572000" cy="365760"/>
          </a:xfrm>
          <a:prstGeom prst="rect">
            <a:avLst/>
          </a:prstGeom>
          <a:noFill/>
        </p:spPr>
        <p:txBody>
          <a:bodyPr wrap="square">
            <a:spAutoFit/>
          </a:bodyPr>
          <a:lstStyle/>
          <a:p>
            <a:pPr algn="l">
              <a:defRPr sz="1300" b="0">
                <a:solidFill>
                  <a:srgbClr val="FF6B6B"/>
                </a:solidFill>
              </a:defRPr>
            </a:pPr>
            <a:r>
              <a:t>↻ Retry: 1s → 2s → 4s (backoff)</a:t>
            </a:r>
          </a:p>
        </p:txBody>
      </p:sp>
      <p:sp>
        <p:nvSpPr>
          <p:cNvPr id="8" name="Rounded Rectangle 7"/>
          <p:cNvSpPr/>
          <p:nvPr/>
        </p:nvSpPr>
        <p:spPr>
          <a:xfrm>
            <a:off x="6400800" y="2926080"/>
            <a:ext cx="3200400" cy="82296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6B6B"/>
                </a:solidFill>
              </a:defRPr>
            </a:pPr>
            <a:r>
              <a:t>💀 Dead Letter Queue</a:t>
            </a:r>
            <a:br/>
            <a:r>
              <a:t>After 3 failures</a:t>
            </a:r>
          </a:p>
        </p:txBody>
      </p:sp>
      <p:sp>
        <p:nvSpPr>
          <p:cNvPr id="9" name="Rounded Rectangle 8"/>
          <p:cNvSpPr/>
          <p:nvPr/>
        </p:nvSpPr>
        <p:spPr>
          <a:xfrm>
            <a:off x="457200" y="4572000"/>
            <a:ext cx="10972800" cy="7315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No rewriting. Copilot modifies existing code with full project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③ Automated Tests</a:t>
            </a:r>
          </a:p>
        </p:txBody>
      </p:sp>
      <p:sp>
        <p:nvSpPr>
          <p:cNvPr id="3" name="Rounded Rectangle 2"/>
          <p:cNvSpPr/>
          <p:nvPr/>
        </p:nvSpPr>
        <p:spPr>
          <a:xfrm>
            <a:off x="457200" y="1371600"/>
            <a:ext cx="2560320" cy="16459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54480"/>
            <a:ext cx="2194560" cy="457200"/>
          </a:xfrm>
          <a:prstGeom prst="rect">
            <a:avLst/>
          </a:prstGeom>
          <a:noFill/>
        </p:spPr>
        <p:txBody>
          <a:bodyPr wrap="square">
            <a:spAutoFit/>
          </a:bodyPr>
          <a:lstStyle/>
          <a:p>
            <a:pPr algn="ctr">
              <a:defRPr sz="1500" b="1">
                <a:solidFill>
                  <a:srgbClr val="2ED573"/>
                </a:solidFill>
              </a:defRPr>
            </a:pPr>
            <a:r>
              <a:t>✅ Happy Path</a:t>
            </a:r>
          </a:p>
        </p:txBody>
      </p:sp>
      <p:sp>
        <p:nvSpPr>
          <p:cNvPr id="5" name="TextBox 4"/>
          <p:cNvSpPr txBox="1"/>
          <p:nvPr/>
        </p:nvSpPr>
        <p:spPr>
          <a:xfrm>
            <a:off x="640080" y="2103120"/>
            <a:ext cx="2194560" cy="731520"/>
          </a:xfrm>
          <a:prstGeom prst="rect">
            <a:avLst/>
          </a:prstGeom>
          <a:noFill/>
        </p:spPr>
        <p:txBody>
          <a:bodyPr wrap="square">
            <a:spAutoFit/>
          </a:bodyPr>
          <a:lstStyle/>
          <a:p>
            <a:pPr algn="ctr">
              <a:defRPr sz="1200" b="0">
                <a:solidFill>
                  <a:srgbClr val="A8B2D1"/>
                </a:solidFill>
              </a:defRPr>
            </a:pPr>
            <a:r>
              <a:t>POST → 201</a:t>
            </a:r>
            <a:br/>
            <a:r>
              <a:t>GET → status</a:t>
            </a:r>
          </a:p>
        </p:txBody>
      </p:sp>
      <p:sp>
        <p:nvSpPr>
          <p:cNvPr id="6" name="Rounded Rectangle 5"/>
          <p:cNvSpPr/>
          <p:nvPr/>
        </p:nvSpPr>
        <p:spPr>
          <a:xfrm>
            <a:off x="3200400" y="1371600"/>
            <a:ext cx="2560320" cy="16459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554480"/>
            <a:ext cx="2194560" cy="457200"/>
          </a:xfrm>
          <a:prstGeom prst="rect">
            <a:avLst/>
          </a:prstGeom>
          <a:noFill/>
        </p:spPr>
        <p:txBody>
          <a:bodyPr wrap="square">
            <a:spAutoFit/>
          </a:bodyPr>
          <a:lstStyle/>
          <a:p>
            <a:pPr algn="ctr">
              <a:defRPr sz="1500" b="1">
                <a:solidFill>
                  <a:srgbClr val="E94560"/>
                </a:solidFill>
              </a:defRPr>
            </a:pPr>
            <a:r>
              <a:t>❌ Validation</a:t>
            </a:r>
          </a:p>
        </p:txBody>
      </p:sp>
      <p:sp>
        <p:nvSpPr>
          <p:cNvPr id="8" name="TextBox 7"/>
          <p:cNvSpPr txBox="1"/>
          <p:nvPr/>
        </p:nvSpPr>
        <p:spPr>
          <a:xfrm>
            <a:off x="3383280" y="2103120"/>
            <a:ext cx="2194560" cy="731520"/>
          </a:xfrm>
          <a:prstGeom prst="rect">
            <a:avLst/>
          </a:prstGeom>
          <a:noFill/>
        </p:spPr>
        <p:txBody>
          <a:bodyPr wrap="square">
            <a:spAutoFit/>
          </a:bodyPr>
          <a:lstStyle/>
          <a:p>
            <a:pPr algn="ctr">
              <a:defRPr sz="1200" b="0">
                <a:solidFill>
                  <a:srgbClr val="A8B2D1"/>
                </a:solidFill>
              </a:defRPr>
            </a:pPr>
            <a:r>
              <a:t>Bad payload → 400</a:t>
            </a:r>
            <a:br/>
            <a:r>
              <a:t>Missing fields</a:t>
            </a:r>
          </a:p>
        </p:txBody>
      </p:sp>
      <p:sp>
        <p:nvSpPr>
          <p:cNvPr id="9" name="Rounded Rectangle 8"/>
          <p:cNvSpPr/>
          <p:nvPr/>
        </p:nvSpPr>
        <p:spPr>
          <a:xfrm>
            <a:off x="5943600" y="1371600"/>
            <a:ext cx="2560320" cy="16459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554480"/>
            <a:ext cx="2194560" cy="457200"/>
          </a:xfrm>
          <a:prstGeom prst="rect">
            <a:avLst/>
          </a:prstGeom>
          <a:noFill/>
        </p:spPr>
        <p:txBody>
          <a:bodyPr wrap="square">
            <a:spAutoFit/>
          </a:bodyPr>
          <a:lstStyle/>
          <a:p>
            <a:pPr algn="ctr">
              <a:defRPr sz="1500" b="1">
                <a:solidFill>
                  <a:srgbClr val="4FACFE"/>
                </a:solidFill>
              </a:defRPr>
            </a:pPr>
            <a:r>
              <a:t>🔄 Retry</a:t>
            </a:r>
          </a:p>
        </p:txBody>
      </p:sp>
      <p:sp>
        <p:nvSpPr>
          <p:cNvPr id="11" name="TextBox 10"/>
          <p:cNvSpPr txBox="1"/>
          <p:nvPr/>
        </p:nvSpPr>
        <p:spPr>
          <a:xfrm>
            <a:off x="6126480" y="2103120"/>
            <a:ext cx="2194560" cy="731520"/>
          </a:xfrm>
          <a:prstGeom prst="rect">
            <a:avLst/>
          </a:prstGeom>
          <a:noFill/>
        </p:spPr>
        <p:txBody>
          <a:bodyPr wrap="square">
            <a:spAutoFit/>
          </a:bodyPr>
          <a:lstStyle/>
          <a:p>
            <a:pPr algn="ctr">
              <a:defRPr sz="1200" b="0">
                <a:solidFill>
                  <a:srgbClr val="A8B2D1"/>
                </a:solidFill>
              </a:defRPr>
            </a:pPr>
            <a:r>
              <a:t>Fail 2x → succeed</a:t>
            </a:r>
            <a:br/>
            <a:r>
              <a:t>Mock channels</a:t>
            </a:r>
          </a:p>
        </p:txBody>
      </p:sp>
      <p:sp>
        <p:nvSpPr>
          <p:cNvPr id="12" name="Rounded Rectangle 11"/>
          <p:cNvSpPr/>
          <p:nvPr/>
        </p:nvSpPr>
        <p:spPr>
          <a:xfrm>
            <a:off x="8686800" y="1371600"/>
            <a:ext cx="2560320" cy="1645920"/>
          </a:xfrm>
          <a:prstGeom prst="roundRect">
            <a:avLst/>
          </a:prstGeom>
          <a:solidFill>
            <a:srgbClr val="16213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0" y="1554480"/>
            <a:ext cx="2194560" cy="457200"/>
          </a:xfrm>
          <a:prstGeom prst="rect">
            <a:avLst/>
          </a:prstGeom>
          <a:noFill/>
        </p:spPr>
        <p:txBody>
          <a:bodyPr wrap="square">
            <a:spAutoFit/>
          </a:bodyPr>
          <a:lstStyle/>
          <a:p>
            <a:pPr algn="ctr">
              <a:defRPr sz="1500" b="1">
                <a:solidFill>
                  <a:srgbClr val="FF6B6B"/>
                </a:solidFill>
              </a:defRPr>
            </a:pPr>
            <a:r>
              <a:t>💀 Dead Letter</a:t>
            </a:r>
          </a:p>
        </p:txBody>
      </p:sp>
      <p:sp>
        <p:nvSpPr>
          <p:cNvPr id="14" name="TextBox 13"/>
          <p:cNvSpPr txBox="1"/>
          <p:nvPr/>
        </p:nvSpPr>
        <p:spPr>
          <a:xfrm>
            <a:off x="8869680" y="2103120"/>
            <a:ext cx="2194560" cy="731520"/>
          </a:xfrm>
          <a:prstGeom prst="rect">
            <a:avLst/>
          </a:prstGeom>
          <a:noFill/>
        </p:spPr>
        <p:txBody>
          <a:bodyPr wrap="square">
            <a:spAutoFit/>
          </a:bodyPr>
          <a:lstStyle/>
          <a:p>
            <a:pPr algn="ctr">
              <a:defRPr sz="1200" b="0">
                <a:solidFill>
                  <a:srgbClr val="A8B2D1"/>
                </a:solidFill>
              </a:defRPr>
            </a:pPr>
            <a:r>
              <a:t>Always fail → DLQ</a:t>
            </a:r>
            <a:br/>
            <a:r>
              <a:t>GET /dead-letter</a:t>
            </a:r>
          </a:p>
        </p:txBody>
      </p:sp>
      <p:sp>
        <p:nvSpPr>
          <p:cNvPr id="15" name="Rounded Rectangle 14"/>
          <p:cNvSpPr/>
          <p:nvPr/>
        </p:nvSpPr>
        <p:spPr>
          <a:xfrm>
            <a:off x="457200" y="3474720"/>
            <a:ext cx="10972800" cy="73152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2ED573"/>
                </a:solidFill>
              </a:defRPr>
            </a:pPr>
            <a:r>
              <a:t>🧪 Jest + Supertest — 12 tests passing ✅</a:t>
            </a:r>
          </a:p>
        </p:txBody>
      </p:sp>
      <p:sp>
        <p:nvSpPr>
          <p:cNvPr id="16" name="Rounded Rectangle 15"/>
          <p:cNvSpPr/>
          <p:nvPr/>
        </p:nvSpPr>
        <p:spPr>
          <a:xfrm>
            <a:off x="457200" y="4754880"/>
            <a:ext cx="10972800" cy="91440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Copilot writes the tests. YOU validate coverage and relevance.</a:t>
            </a:r>
            <a:br/>
            <a:r>
              <a:t>The agent iterates — you steer.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④ Run &amp; Validate</a:t>
            </a:r>
          </a:p>
        </p:txBody>
      </p:sp>
      <p:sp>
        <p:nvSpPr>
          <p:cNvPr id="3" name="Rounded Rectangle 2"/>
          <p:cNvSpPr/>
          <p:nvPr/>
        </p:nvSpPr>
        <p:spPr>
          <a:xfrm>
            <a:off x="457200" y="1188720"/>
            <a:ext cx="10972800" cy="41148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515600" cy="3657600"/>
          </a:xfrm>
          <a:prstGeom prst="rect">
            <a:avLst/>
          </a:prstGeom>
          <a:noFill/>
        </p:spPr>
        <p:txBody>
          <a:bodyPr wrap="square">
            <a:spAutoFit/>
          </a:bodyPr>
          <a:lstStyle/>
          <a:p>
            <a:pPr algn="l">
              <a:defRPr sz="1400" b="0">
                <a:solidFill>
                  <a:srgbClr val="C8D6E5"/>
                </a:solidFill>
              </a:defRPr>
            </a:pPr>
            <a:r>
              <a:t>$ npm test</a:t>
            </a:r>
          </a:p>
          <a:p>
            <a:pPr algn="l">
              <a:spcBef>
                <a:spcPts val="600"/>
              </a:spcBef>
              <a:defRPr sz="1300" b="0">
                <a:solidFill>
                  <a:srgbClr val="2ED573"/>
                </a:solidFill>
              </a:defRPr>
            </a:pPr>
            <a:r>
              <a:t> PASS  tests/notifications.test.ts</a:t>
            </a:r>
          </a:p>
          <a:p>
            <a:pPr algn="l">
              <a:spcBef>
                <a:spcPts val="600"/>
              </a:spcBef>
              <a:defRPr sz="1300" b="0">
                <a:solidFill>
                  <a:srgbClr val="2ED573"/>
                </a:solidFill>
              </a:defRPr>
            </a:pPr>
            <a:r>
              <a:t> PASS  tests/retry.test.ts</a:t>
            </a:r>
          </a:p>
          <a:p>
            <a:pPr algn="l">
              <a:spcBef>
                <a:spcPts val="600"/>
              </a:spcBef>
              <a:defRPr sz="1300" b="0">
                <a:solidFill>
                  <a:srgbClr val="2ED573"/>
                </a:solidFill>
              </a:defRPr>
            </a:pPr>
            <a:r>
              <a:t> ✅ 12 tests passed</a:t>
            </a:r>
          </a:p>
          <a:p>
            <a:pPr algn="l">
              <a:spcBef>
                <a:spcPts val="600"/>
              </a:spcBef>
              <a:defRPr sz="800" b="0">
                <a:solidFill>
                  <a:srgbClr val="C8D6E5"/>
                </a:solidFill>
              </a:defRPr>
            </a:pPr>
          </a:p>
          <a:p>
            <a:pPr algn="l">
              <a:spcBef>
                <a:spcPts val="600"/>
              </a:spcBef>
              <a:defRPr sz="1400" b="0">
                <a:solidFill>
                  <a:srgbClr val="C8D6E5"/>
                </a:solidFill>
              </a:defRPr>
            </a:pPr>
            <a:r>
              <a:t>$ npm run dev</a:t>
            </a:r>
          </a:p>
          <a:p>
            <a:pPr algn="l">
              <a:spcBef>
                <a:spcPts val="600"/>
              </a:spcBef>
              <a:defRPr sz="1300" b="0">
                <a:solidFill>
                  <a:srgbClr val="4FACFE"/>
                </a:solidFill>
              </a:defRPr>
            </a:pPr>
            <a:r>
              <a:t> 🚀 Server running on :3000</a:t>
            </a:r>
          </a:p>
          <a:p>
            <a:pPr algn="l">
              <a:spcBef>
                <a:spcPts val="600"/>
              </a:spcBef>
              <a:defRPr sz="800" b="0">
                <a:solidFill>
                  <a:srgbClr val="C8D6E5"/>
                </a:solidFill>
              </a:defRPr>
            </a:pPr>
          </a:p>
          <a:p>
            <a:pPr algn="l">
              <a:spcBef>
                <a:spcPts val="600"/>
              </a:spcBef>
              <a:defRPr sz="1300" b="0">
                <a:solidFill>
                  <a:srgbClr val="C8D6E5"/>
                </a:solidFill>
              </a:defRPr>
            </a:pPr>
            <a:r>
              <a:t>$ curl -X POST localhost:3000/notifications \</a:t>
            </a:r>
          </a:p>
          <a:p>
            <a:pPr algn="l">
              <a:spcBef>
                <a:spcPts val="600"/>
              </a:spcBef>
              <a:defRPr sz="1300" b="0">
                <a:solidFill>
                  <a:srgbClr val="C8D6E5"/>
                </a:solidFill>
              </a:defRPr>
            </a:pPr>
            <a:r>
              <a:t>  -d '{"channel":"email","to":"dev@orange.com","message":"Deploy v2.1 OK"}'</a:t>
            </a:r>
          </a:p>
          <a:p>
            <a:pPr algn="l">
              <a:spcBef>
                <a:spcPts val="600"/>
              </a:spcBef>
              <a:defRPr sz="800" b="0">
                <a:solidFill>
                  <a:srgbClr val="C8D6E5"/>
                </a:solidFill>
              </a:defRPr>
            </a:pPr>
          </a:p>
          <a:p>
            <a:pPr algn="l">
              <a:spcBef>
                <a:spcPts val="600"/>
              </a:spcBef>
              <a:defRPr sz="1300" b="0">
                <a:solidFill>
                  <a:srgbClr val="79C0FF"/>
                </a:solidFill>
              </a:defRPr>
            </a:pPr>
            <a:r>
              <a:t>{"id":"notif-a3f2","status":"queued"}</a:t>
            </a:r>
          </a:p>
          <a:p>
            <a:pPr algn="l">
              <a:spcBef>
                <a:spcPts val="600"/>
              </a:spcBef>
              <a:defRPr sz="800" b="0">
                <a:solidFill>
                  <a:srgbClr val="C8D6E5"/>
                </a:solidFill>
              </a:defRPr>
            </a:pPr>
          </a:p>
          <a:p>
            <a:pPr algn="l">
              <a:spcBef>
                <a:spcPts val="600"/>
              </a:spcBef>
              <a:defRPr sz="1300" b="0">
                <a:solidFill>
                  <a:srgbClr val="79C0FF"/>
                </a:solidFill>
              </a:defRPr>
            </a:pPr>
            <a:r>
              <a:t>$ GET /health → {"uptime":42,"sent":3,"failed":1,"queueSize":0,"deadLetter":1}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⑤ Capitalize with .github/</a:t>
            </a:r>
          </a:p>
        </p:txBody>
      </p:sp>
      <p:sp>
        <p:nvSpPr>
          <p:cNvPr id="3" name="Rounded Rectangle 2"/>
          <p:cNvSpPr/>
          <p:nvPr/>
        </p:nvSpPr>
        <p:spPr>
          <a:xfrm>
            <a:off x="457200" y="1645920"/>
            <a:ext cx="2286000" cy="13716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Dev A</a:t>
            </a:r>
            <a:br/>
            <a:r>
              <a:t>👨‍💻 Dev B</a:t>
            </a:r>
            <a:br/>
            <a:r>
              <a:t>👩‍💻 Dev C</a:t>
            </a:r>
          </a:p>
        </p:txBody>
      </p:sp>
      <p:sp>
        <p:nvSpPr>
          <p:cNvPr id="4" name="TextBox 3"/>
          <p:cNvSpPr txBox="1"/>
          <p:nvPr/>
        </p:nvSpPr>
        <p:spPr>
          <a:xfrm>
            <a:off x="2926080" y="2103120"/>
            <a:ext cx="914400" cy="457200"/>
          </a:xfrm>
          <a:prstGeom prst="rect">
            <a:avLst/>
          </a:prstGeom>
          <a:noFill/>
        </p:spPr>
        <p:txBody>
          <a:bodyPr wrap="square">
            <a:spAutoFit/>
          </a:bodyPr>
          <a:lstStyle/>
          <a:p>
            <a:pPr algn="ctr">
              <a:defRPr sz="3000" b="0">
                <a:solidFill>
                  <a:srgbClr val="A8B2D1"/>
                </a:solidFill>
              </a:defRPr>
            </a:pPr>
            <a:r>
              <a:t>→</a:t>
            </a:r>
          </a:p>
        </p:txBody>
      </p:sp>
      <p:sp>
        <p:nvSpPr>
          <p:cNvPr id="5" name="Rounded Rectangle 4"/>
          <p:cNvSpPr/>
          <p:nvPr/>
        </p:nvSpPr>
        <p:spPr>
          <a:xfrm>
            <a:off x="3657600" y="1371600"/>
            <a:ext cx="3657600" cy="1828800"/>
          </a:xfrm>
          <a:prstGeom prst="roundRect">
            <a:avLst/>
          </a:prstGeom>
          <a:solidFill>
            <a:srgbClr val="16213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Git Repository</a:t>
            </a:r>
            <a:br/>
            <a:br/>
            <a:r>
              <a:t>.github/copilot-instructions.md</a:t>
            </a:r>
            <a:br/>
            <a:r>
              <a:t>.github/prompts/*.prompt.md</a:t>
            </a:r>
          </a:p>
        </p:txBody>
      </p:sp>
      <p:sp>
        <p:nvSpPr>
          <p:cNvPr id="6" name="TextBox 5"/>
          <p:cNvSpPr txBox="1"/>
          <p:nvPr/>
        </p:nvSpPr>
        <p:spPr>
          <a:xfrm>
            <a:off x="7498079" y="2103120"/>
            <a:ext cx="1097280" cy="457200"/>
          </a:xfrm>
          <a:prstGeom prst="rect">
            <a:avLst/>
          </a:prstGeom>
          <a:noFill/>
        </p:spPr>
        <p:txBody>
          <a:bodyPr wrap="square">
            <a:spAutoFit/>
          </a:bodyPr>
          <a:lstStyle/>
          <a:p>
            <a:pPr algn="ctr">
              <a:defRPr sz="1600" b="0">
                <a:solidFill>
                  <a:srgbClr val="2ED573"/>
                </a:solidFill>
              </a:defRPr>
            </a:pPr>
            <a:r>
              <a:t>auto →</a:t>
            </a:r>
          </a:p>
        </p:txBody>
      </p:sp>
      <p:sp>
        <p:nvSpPr>
          <p:cNvPr id="7" name="Rounded Rectangle 6"/>
          <p:cNvSpPr/>
          <p:nvPr/>
        </p:nvSpPr>
        <p:spPr>
          <a:xfrm>
            <a:off x="8412480" y="1645920"/>
            <a:ext cx="3200400" cy="137160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2ED573"/>
                </a:solidFill>
              </a:defRPr>
            </a:pPr>
            <a:r>
              <a:t>🤖 Copilot</a:t>
            </a:r>
            <a:br/>
            <a:r>
              <a:t>Full project context</a:t>
            </a:r>
            <a:br/>
            <a:r>
              <a:t>loaded automatically</a:t>
            </a:r>
          </a:p>
        </p:txBody>
      </p:sp>
      <p:sp>
        <p:nvSpPr>
          <p:cNvPr id="8" name="Rounded Rectangle 7"/>
          <p:cNvSpPr/>
          <p:nvPr/>
        </p:nvSpPr>
        <p:spPr>
          <a:xfrm>
            <a:off x="457200" y="4114800"/>
            <a:ext cx="10972800" cy="10972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Tomorrow: your colleague clones this repo → Copilot has the full context instantly.</a:t>
            </a:r>
            <a:br/>
            <a:r>
              <a:t>Instructions &amp; prompts are versioned, shared, improved as a team.</a:t>
            </a:r>
            <a:br/>
            <a:r>
              <a:t>This is COLLECTIVE TOOLING, not individual shortcuts.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Demo Recap — 20 minutes</a:t>
            </a:r>
          </a:p>
        </p:txBody>
      </p:sp>
      <p:sp>
        <p:nvSpPr>
          <p:cNvPr id="3" name="Rounded Rectangle 2"/>
          <p:cNvSpPr/>
          <p:nvPr/>
        </p:nvSpPr>
        <p:spPr>
          <a:xfrm>
            <a:off x="914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①</a:t>
            </a:r>
          </a:p>
        </p:txBody>
      </p:sp>
      <p:sp>
        <p:nvSpPr>
          <p:cNvPr id="4" name="TextBox 3"/>
          <p:cNvSpPr txBox="1"/>
          <p:nvPr/>
        </p:nvSpPr>
        <p:spPr>
          <a:xfrm>
            <a:off x="731520" y="2651760"/>
            <a:ext cx="1554480" cy="731520"/>
          </a:xfrm>
          <a:prstGeom prst="rect">
            <a:avLst/>
          </a:prstGeom>
          <a:noFill/>
        </p:spPr>
        <p:txBody>
          <a:bodyPr wrap="square">
            <a:spAutoFit/>
          </a:bodyPr>
          <a:lstStyle/>
          <a:p>
            <a:pPr algn="ctr">
              <a:defRPr sz="1100" b="0">
                <a:solidFill>
                  <a:srgbClr val="A8B2D1"/>
                </a:solidFill>
              </a:defRPr>
            </a:pPr>
            <a:r>
              <a:t>Bootstrap</a:t>
            </a:r>
            <a:br/>
            <a:r>
              <a:t>5 min</a:t>
            </a:r>
          </a:p>
        </p:txBody>
      </p:sp>
      <p:sp>
        <p:nvSpPr>
          <p:cNvPr id="5" name="Rounded Rectangle 4"/>
          <p:cNvSpPr/>
          <p:nvPr/>
        </p:nvSpPr>
        <p:spPr>
          <a:xfrm>
            <a:off x="3200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②</a:t>
            </a:r>
          </a:p>
        </p:txBody>
      </p:sp>
      <p:sp>
        <p:nvSpPr>
          <p:cNvPr id="6" name="TextBox 5"/>
          <p:cNvSpPr txBox="1"/>
          <p:nvPr/>
        </p:nvSpPr>
        <p:spPr>
          <a:xfrm>
            <a:off x="3017520" y="2651760"/>
            <a:ext cx="1554480" cy="731520"/>
          </a:xfrm>
          <a:prstGeom prst="rect">
            <a:avLst/>
          </a:prstGeom>
          <a:noFill/>
        </p:spPr>
        <p:txBody>
          <a:bodyPr wrap="square">
            <a:spAutoFit/>
          </a:bodyPr>
          <a:lstStyle/>
          <a:p>
            <a:pPr algn="ctr">
              <a:defRPr sz="1100" b="0">
                <a:solidFill>
                  <a:srgbClr val="A8B2D1"/>
                </a:solidFill>
              </a:defRPr>
            </a:pPr>
            <a:r>
              <a:t>Retry/DLQ</a:t>
            </a:r>
            <a:br/>
            <a:r>
              <a:t>5 min</a:t>
            </a:r>
          </a:p>
        </p:txBody>
      </p:sp>
      <p:sp>
        <p:nvSpPr>
          <p:cNvPr id="7" name="Rounded Rectangle 6"/>
          <p:cNvSpPr/>
          <p:nvPr/>
        </p:nvSpPr>
        <p:spPr>
          <a:xfrm>
            <a:off x="5486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③</a:t>
            </a:r>
          </a:p>
        </p:txBody>
      </p:sp>
      <p:sp>
        <p:nvSpPr>
          <p:cNvPr id="8" name="TextBox 7"/>
          <p:cNvSpPr txBox="1"/>
          <p:nvPr/>
        </p:nvSpPr>
        <p:spPr>
          <a:xfrm>
            <a:off x="5303520" y="2651760"/>
            <a:ext cx="1554480" cy="731520"/>
          </a:xfrm>
          <a:prstGeom prst="rect">
            <a:avLst/>
          </a:prstGeom>
          <a:noFill/>
        </p:spPr>
        <p:txBody>
          <a:bodyPr wrap="square">
            <a:spAutoFit/>
          </a:bodyPr>
          <a:lstStyle/>
          <a:p>
            <a:pPr algn="ctr">
              <a:defRPr sz="1100" b="0">
                <a:solidFill>
                  <a:srgbClr val="A8B2D1"/>
                </a:solidFill>
              </a:defRPr>
            </a:pPr>
            <a:r>
              <a:t>Tests</a:t>
            </a:r>
            <a:br/>
            <a:r>
              <a:t>5 min</a:t>
            </a:r>
          </a:p>
        </p:txBody>
      </p:sp>
      <p:sp>
        <p:nvSpPr>
          <p:cNvPr id="9" name="Rounded Rectangle 8"/>
          <p:cNvSpPr/>
          <p:nvPr/>
        </p:nvSpPr>
        <p:spPr>
          <a:xfrm>
            <a:off x="7772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④</a:t>
            </a:r>
          </a:p>
        </p:txBody>
      </p:sp>
      <p:sp>
        <p:nvSpPr>
          <p:cNvPr id="10" name="TextBox 9"/>
          <p:cNvSpPr txBox="1"/>
          <p:nvPr/>
        </p:nvSpPr>
        <p:spPr>
          <a:xfrm>
            <a:off x="7589520" y="2651760"/>
            <a:ext cx="1554480" cy="731520"/>
          </a:xfrm>
          <a:prstGeom prst="rect">
            <a:avLst/>
          </a:prstGeom>
          <a:noFill/>
        </p:spPr>
        <p:txBody>
          <a:bodyPr wrap="square">
            <a:spAutoFit/>
          </a:bodyPr>
          <a:lstStyle/>
          <a:p>
            <a:pPr algn="ctr">
              <a:defRPr sz="1100" b="0">
                <a:solidFill>
                  <a:srgbClr val="A8B2D1"/>
                </a:solidFill>
              </a:defRPr>
            </a:pPr>
            <a:r>
              <a:t>Run</a:t>
            </a:r>
            <a:br/>
            <a:r>
              <a:t>3 min</a:t>
            </a:r>
          </a:p>
        </p:txBody>
      </p:sp>
      <p:sp>
        <p:nvSpPr>
          <p:cNvPr id="11" name="Rounded Rectangle 10"/>
          <p:cNvSpPr/>
          <p:nvPr/>
        </p:nvSpPr>
        <p:spPr>
          <a:xfrm>
            <a:off x="10058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⑤</a:t>
            </a:r>
          </a:p>
        </p:txBody>
      </p:sp>
      <p:sp>
        <p:nvSpPr>
          <p:cNvPr id="12" name="TextBox 11"/>
          <p:cNvSpPr txBox="1"/>
          <p:nvPr/>
        </p:nvSpPr>
        <p:spPr>
          <a:xfrm>
            <a:off x="9875520" y="2651760"/>
            <a:ext cx="1554480" cy="731520"/>
          </a:xfrm>
          <a:prstGeom prst="rect">
            <a:avLst/>
          </a:prstGeom>
          <a:noFill/>
        </p:spPr>
        <p:txBody>
          <a:bodyPr wrap="square">
            <a:spAutoFit/>
          </a:bodyPr>
          <a:lstStyle/>
          <a:p>
            <a:pPr algn="ctr">
              <a:defRPr sz="1100" b="0">
                <a:solidFill>
                  <a:srgbClr val="A8B2D1"/>
                </a:solidFill>
              </a:defRPr>
            </a:pPr>
            <a:r>
              <a:t>.github/</a:t>
            </a:r>
            <a:br/>
            <a:r>
              <a:t>2 min</a:t>
            </a:r>
          </a:p>
        </p:txBody>
      </p:sp>
      <p:sp>
        <p:nvSpPr>
          <p:cNvPr id="13" name="TextBox 12"/>
          <p:cNvSpPr txBox="1"/>
          <p:nvPr/>
        </p:nvSpPr>
        <p:spPr>
          <a:xfrm>
            <a:off x="457200" y="3840480"/>
            <a:ext cx="10972800" cy="2743200"/>
          </a:xfrm>
          <a:prstGeom prst="rect">
            <a:avLst/>
          </a:prstGeom>
          <a:noFill/>
        </p:spPr>
        <p:txBody>
          <a:bodyPr wrap="square">
            <a:spAutoFit/>
          </a:bodyPr>
          <a:lstStyle/>
          <a:p>
            <a:pPr algn="l">
              <a:defRPr sz="1800" b="1">
                <a:solidFill>
                  <a:srgbClr val="FFFFFF"/>
                </a:solidFill>
              </a:defRPr>
            </a:pPr>
            <a:r>
              <a:t>Key takeaways:</a:t>
            </a:r>
          </a:p>
          <a:p>
            <a:pPr algn="l">
              <a:spcBef>
                <a:spcPts val="600"/>
              </a:spcBef>
              <a:defRPr sz="1500" b="0">
                <a:solidFill>
                  <a:srgbClr val="C8D6E5"/>
                </a:solidFill>
              </a:defRPr>
            </a:pPr>
            <a:r>
              <a:t>1️⃣  Describe architecture, not code → Copilot understands patterns</a:t>
            </a:r>
          </a:p>
          <a:p>
            <a:pPr algn="l">
              <a:spcBef>
                <a:spcPts val="600"/>
              </a:spcBef>
              <a:defRPr sz="1500" b="0">
                <a:solidFill>
                  <a:srgbClr val="C8D6E5"/>
                </a:solidFill>
              </a:defRPr>
            </a:pPr>
            <a:r>
              <a:t>2️⃣  Copilot modifies with context → true collaborator, not just generator</a:t>
            </a:r>
          </a:p>
          <a:p>
            <a:pPr algn="l">
              <a:spcBef>
                <a:spcPts val="600"/>
              </a:spcBef>
              <a:defRPr sz="1500" b="0">
                <a:solidFill>
                  <a:srgbClr val="C8D6E5"/>
                </a:solidFill>
              </a:defRPr>
            </a:pPr>
            <a:r>
              <a:t>3️⃣  .github/ = team assets → versioned, reviewed, shared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645920"/>
            <a:ext cx="10058400" cy="1097280"/>
          </a:xfrm>
          <a:prstGeom prst="rect">
            <a:avLst/>
          </a:prstGeom>
          <a:noFill/>
        </p:spPr>
        <p:txBody>
          <a:bodyPr wrap="square">
            <a:spAutoFit/>
          </a:bodyPr>
          <a:lstStyle/>
          <a:p>
            <a:pPr algn="ctr">
              <a:defRPr sz="4400" b="1">
                <a:solidFill>
                  <a:srgbClr val="FFFFFF"/>
                </a:solidFill>
              </a:defRPr>
            </a:pPr>
            <a:r>
              <a:t>🤖 Multi-Agents</a:t>
            </a:r>
          </a:p>
        </p:txBody>
      </p:sp>
      <p:sp>
        <p:nvSpPr>
          <p:cNvPr id="3" name="TextBox 2"/>
          <p:cNvSpPr txBox="1"/>
          <p:nvPr/>
        </p:nvSpPr>
        <p:spPr>
          <a:xfrm>
            <a:off x="914400" y="2926080"/>
            <a:ext cx="10058400" cy="731520"/>
          </a:xfrm>
          <a:prstGeom prst="rect">
            <a:avLst/>
          </a:prstGeom>
          <a:noFill/>
        </p:spPr>
        <p:txBody>
          <a:bodyPr wrap="square">
            <a:spAutoFit/>
          </a:bodyPr>
          <a:lstStyle/>
          <a:p>
            <a:pPr algn="ctr">
              <a:defRPr sz="2200" b="0">
                <a:solidFill>
                  <a:srgbClr val="A8B2D1"/>
                </a:solidFill>
              </a:defRPr>
            </a:pPr>
            <a:r>
              <a:t>Industrialization &amp; Optimization</a:t>
            </a:r>
          </a:p>
        </p:txBody>
      </p:sp>
      <p:sp>
        <p:nvSpPr>
          <p:cNvPr id="4" name="Rounded Rectangle 3"/>
          <p:cNvSpPr/>
          <p:nvPr/>
        </p:nvSpPr>
        <p:spPr>
          <a:xfrm>
            <a:off x="13716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Orchestration</a:t>
            </a:r>
          </a:p>
        </p:txBody>
      </p:sp>
      <p:sp>
        <p:nvSpPr>
          <p:cNvPr id="5" name="Rounded Rectangle 4"/>
          <p:cNvSpPr/>
          <p:nvPr/>
        </p:nvSpPr>
        <p:spPr>
          <a:xfrm>
            <a:off x="50292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Token</a:t>
            </a:r>
            <a:br/>
            <a:r>
              <a:t>Reduction</a:t>
            </a:r>
          </a:p>
        </p:txBody>
      </p:sp>
      <p:sp>
        <p:nvSpPr>
          <p:cNvPr id="6" name="Rounded Rectangle 5"/>
          <p:cNvSpPr/>
          <p:nvPr/>
        </p:nvSpPr>
        <p:spPr>
          <a:xfrm>
            <a:off x="86868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Shared</a:t>
            </a:r>
            <a:br/>
            <a:r>
              <a:t>Skills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8229600" cy="914400"/>
          </a:xfrm>
          <a:prstGeom prst="rect">
            <a:avLst/>
          </a:prstGeom>
          <a:noFill/>
        </p:spPr>
        <p:txBody>
          <a:bodyPr wrap="square">
            <a:spAutoFit/>
          </a:bodyPr>
          <a:lstStyle/>
          <a:p>
            <a:pPr>
              <a:defRPr sz="2800" b="1">
                <a:solidFill>
                  <a:srgbClr val="FFFFFF"/>
                </a:solidFill>
              </a:defRPr>
            </a:pPr>
            <a:r>
              <a:t>🔀 Multi-Agent Orchestration (VS Code 1.109+)</a:t>
            </a:r>
          </a:p>
        </p:txBody>
      </p:sp>
      <p:sp>
        <p:nvSpPr>
          <p:cNvPr id="3" name="TextBox 2"/>
          <p:cNvSpPr txBox="1"/>
          <p:nvPr/>
        </p:nvSpPr>
        <p:spPr>
          <a:xfrm>
            <a:off x="457200" y="1188720"/>
            <a:ext cx="8229600" cy="4572000"/>
          </a:xfrm>
          <a:prstGeom prst="rect">
            <a:avLst/>
          </a:prstGeom>
          <a:noFill/>
        </p:spPr>
        <p:txBody>
          <a:bodyPr wrap="square">
            <a:spAutoFit/>
          </a:bodyPr>
          <a:lstStyle/>
          <a:p>
            <a:pPr>
              <a:spcAft>
                <a:spcPts val="600"/>
              </a:spcAft>
              <a:defRPr sz="1800" b="1">
                <a:solidFill>
                  <a:srgbClr val="FFFFFF"/>
                </a:solidFill>
              </a:defRPr>
            </a:pPr>
            <a:r>
              <a:t>Agent Sessions View — Un seul endroit pour tout gérer</a:t>
            </a:r>
          </a:p>
        </p:txBody>
      </p:sp>
      <p:sp>
        <p:nvSpPr>
          <p:cNvPr id="4" name="TextBox 3"/>
          <p:cNvSpPr txBox="1"/>
          <p:nvPr/>
        </p:nvSpPr>
        <p:spPr>
          <a:xfrm>
            <a:off x="457200" y="1828800"/>
            <a:ext cx="8229600" cy="4572000"/>
          </a:xfrm>
          <a:prstGeom prst="rect">
            <a:avLst/>
          </a:prstGeom>
          <a:noFill/>
        </p:spPr>
        <p:txBody>
          <a:bodyPr wrap="square">
            <a:spAutoFit/>
          </a:bodyPr>
          <a:lstStyle/>
          <a:p>
            <a:pPr>
              <a:spcAft>
                <a:spcPts val="600"/>
              </a:spcAft>
              <a:defRPr sz="1300" b="0">
                <a:solidFill>
                  <a:srgbClr val="A0FFA0"/>
                </a:solidFill>
              </a:defRPr>
            </a:pPr>
            <a:r>
              <a:t>┌─────────────────────────────────────────┐</a:t>
            </a:r>
          </a:p>
          <a:p>
            <a:pPr>
              <a:spcAft>
                <a:spcPts val="600"/>
              </a:spcAft>
              <a:defRPr sz="1300" b="0">
                <a:solidFill>
                  <a:srgbClr val="A0FFA0"/>
                </a:solidFill>
              </a:defRPr>
            </a:pPr>
            <a:r>
              <a:t>│  🟢 Local — Copilot / Claude (Sonnet)   │  ← Interactif</a:t>
            </a:r>
          </a:p>
          <a:p>
            <a:pPr>
              <a:spcAft>
                <a:spcPts val="600"/>
              </a:spcAft>
              <a:defRPr sz="1300" b="0">
                <a:solidFill>
                  <a:srgbClr val="A0FFA0"/>
                </a:solidFill>
              </a:defRPr>
            </a:pPr>
            <a:r>
              <a:t>│  🟡 Background — Claude (Opus)          │  ← Async, worktree isolé</a:t>
            </a:r>
          </a:p>
          <a:p>
            <a:pPr>
              <a:spcAft>
                <a:spcPts val="600"/>
              </a:spcAft>
              <a:defRPr sz="1300" b="0">
                <a:solidFill>
                  <a:srgbClr val="A0FFA0"/>
                </a:solidFill>
              </a:defRPr>
            </a:pPr>
            <a:r>
              <a:t>│  🔵 Cloud — Codex / Claude              │  ← Remote, crée des PRs</a:t>
            </a:r>
          </a:p>
          <a:p>
            <a:pPr>
              <a:spcAft>
                <a:spcPts val="600"/>
              </a:spcAft>
              <a:defRPr sz="1300" b="0">
                <a:solidFill>
                  <a:srgbClr val="A0FFA0"/>
                </a:solidFill>
              </a:defRPr>
            </a:pPr>
            <a:r>
              <a:t>│     └── Subagent: Research              │</a:t>
            </a:r>
          </a:p>
          <a:p>
            <a:pPr>
              <a:spcAft>
                <a:spcPts val="600"/>
              </a:spcAft>
              <a:defRPr sz="1300" b="0">
                <a:solidFill>
                  <a:srgbClr val="A0FFA0"/>
                </a:solidFill>
              </a:defRPr>
            </a:pPr>
            <a:r>
              <a:t>│     └── Subagent: Security              │  ← Parallèle</a:t>
            </a:r>
          </a:p>
          <a:p>
            <a:pPr>
              <a:spcAft>
                <a:spcPts val="600"/>
              </a:spcAft>
              <a:defRPr sz="1300" b="0">
                <a:solidFill>
                  <a:srgbClr val="A0FFA0"/>
                </a:solidFill>
              </a:defRPr>
            </a:pPr>
            <a:r>
              <a:t>└─────────────────────────────────────────┘</a:t>
            </a:r>
          </a:p>
        </p:txBody>
      </p:sp>
      <p:sp>
        <p:nvSpPr>
          <p:cNvPr id="5" name="TextBox 4"/>
          <p:cNvSpPr txBox="1"/>
          <p:nvPr/>
        </p:nvSpPr>
        <p:spPr>
          <a:xfrm>
            <a:off x="457200" y="3657600"/>
            <a:ext cx="8229600" cy="4572000"/>
          </a:xfrm>
          <a:prstGeom prst="rect">
            <a:avLst/>
          </a:prstGeom>
          <a:noFill/>
        </p:spPr>
        <p:txBody>
          <a:bodyPr wrap="square">
            <a:spAutoFit/>
          </a:bodyPr>
          <a:lstStyle/>
          <a:p>
            <a:pPr>
              <a:spcAft>
                <a:spcPts val="600"/>
              </a:spcAft>
              <a:defRPr sz="1400" b="0">
                <a:solidFill>
                  <a:srgbClr val="FFFFFF"/>
                </a:solidFill>
              </a:defRPr>
            </a:pPr>
            <a:r>
              <a:t>Local → Vous pilotez, itération rapide</a:t>
            </a:r>
          </a:p>
          <a:p>
            <a:pPr>
              <a:spcAft>
                <a:spcPts val="600"/>
              </a:spcAft>
              <a:defRPr sz="1400" b="0">
                <a:solidFill>
                  <a:srgbClr val="FFFFFF"/>
                </a:solidFill>
              </a:defRPr>
            </a:pPr>
            <a:r>
              <a:t>Background → Tâche définie, vous codez en parallèle</a:t>
            </a:r>
          </a:p>
          <a:p>
            <a:pPr>
              <a:spcAft>
                <a:spcPts val="600"/>
              </a:spcAft>
              <a:defRPr sz="1400" b="0">
                <a:solidFill>
                  <a:srgbClr val="FFFFFF"/>
                </a:solidFill>
              </a:defRPr>
            </a:pPr>
            <a:r>
              <a:t>Cloud → Feature complète, résultat en PR</a:t>
            </a:r>
          </a:p>
          <a:p>
            <a:pPr>
              <a:spcAft>
                <a:spcPts val="600"/>
              </a:spcAft>
              <a:defRPr sz="1400" b="0">
                <a:solidFill>
                  <a:srgbClr val="FFFFFF"/>
                </a:solidFill>
              </a:defRPr>
            </a:pPr>
          </a:p>
          <a:p>
            <a:pPr>
              <a:spcAft>
                <a:spcPts val="600"/>
              </a:spcAft>
              <a:defRPr sz="1400" b="0">
                <a:solidFill>
                  <a:srgbClr val="FFFFFF"/>
                </a:solidFill>
              </a:defRPr>
            </a:pPr>
            <a:r>
              <a:t>⚡ Subagents parallèles : contexte isolé, seul le résultat remonte</a:t>
            </a:r>
          </a:p>
          <a:p>
            <a:pPr>
              <a:spcAft>
                <a:spcPts val="600"/>
              </a:spcAft>
              <a:defRPr sz="1400" b="0">
                <a:solidFill>
                  <a:srgbClr val="FFFFFF"/>
                </a:solidFill>
              </a:defRPr>
            </a:pPr>
            <a:r>
              <a:t>🔗 Handoffs : workflows automatiques (Code → Review → Fix)</a:t>
            </a:r>
          </a:p>
          <a:p>
            <a:pPr>
              <a:spcAft>
                <a:spcPts val="600"/>
              </a:spcAft>
              <a:defRPr sz="1400" b="0">
                <a:solidFill>
                  <a:srgbClr val="FFFFFF"/>
                </a:solidFill>
              </a:defRPr>
            </a:pPr>
            <a:r>
              <a:t>🤖 Claude &amp; Codex natifs sous votre abonnement Copilot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Choosing the Right LLM</a:t>
            </a:r>
          </a:p>
        </p:txBody>
      </p:sp>
      <p:sp>
        <p:nvSpPr>
          <p:cNvPr id="3" name="Rounded Rectangle 2"/>
          <p:cNvSpPr/>
          <p:nvPr/>
        </p:nvSpPr>
        <p:spPr>
          <a:xfrm>
            <a:off x="457200" y="1371600"/>
            <a:ext cx="10972800" cy="10972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4572000" cy="365760"/>
          </a:xfrm>
          <a:prstGeom prst="rect">
            <a:avLst/>
          </a:prstGeom>
          <a:noFill/>
        </p:spPr>
        <p:txBody>
          <a:bodyPr wrap="square">
            <a:spAutoFit/>
          </a:bodyPr>
          <a:lstStyle/>
          <a:p>
            <a:pPr algn="l">
              <a:defRPr sz="1600" b="1">
                <a:solidFill>
                  <a:srgbClr val="E94560"/>
                </a:solidFill>
              </a:defRPr>
            </a:pPr>
            <a:r>
              <a:t>Claude Opus / GPT-4.1</a:t>
            </a:r>
          </a:p>
        </p:txBody>
      </p:sp>
      <p:sp>
        <p:nvSpPr>
          <p:cNvPr id="5" name="TextBox 4"/>
          <p:cNvSpPr txBox="1"/>
          <p:nvPr/>
        </p:nvSpPr>
        <p:spPr>
          <a:xfrm>
            <a:off x="731520" y="1874520"/>
            <a:ext cx="7315200" cy="365760"/>
          </a:xfrm>
          <a:prstGeom prst="rect">
            <a:avLst/>
          </a:prstGeom>
          <a:noFill/>
        </p:spPr>
        <p:txBody>
          <a:bodyPr wrap="square">
            <a:spAutoFit/>
          </a:bodyPr>
          <a:lstStyle/>
          <a:p>
            <a:pPr algn="l">
              <a:defRPr sz="1200" b="0">
                <a:solidFill>
                  <a:srgbClr val="A8B2D1"/>
                </a:solidFill>
              </a:defRPr>
            </a:pPr>
            <a:r>
              <a:t>Complex architecture • Heavy refactoring • Multi-file reasoning</a:t>
            </a:r>
          </a:p>
        </p:txBody>
      </p:sp>
      <p:sp>
        <p:nvSpPr>
          <p:cNvPr id="6" name="TextBox 5"/>
          <p:cNvSpPr txBox="1"/>
          <p:nvPr/>
        </p:nvSpPr>
        <p:spPr>
          <a:xfrm>
            <a:off x="9601200" y="1645920"/>
            <a:ext cx="1828800" cy="365760"/>
          </a:xfrm>
          <a:prstGeom prst="rect">
            <a:avLst/>
          </a:prstGeom>
          <a:noFill/>
        </p:spPr>
        <p:txBody>
          <a:bodyPr wrap="square">
            <a:spAutoFit/>
          </a:bodyPr>
          <a:lstStyle/>
          <a:p>
            <a:pPr algn="r">
              <a:defRPr sz="1100" b="1">
                <a:solidFill>
                  <a:srgbClr val="E94560"/>
                </a:solidFill>
              </a:defRPr>
            </a:pPr>
            <a:r>
              <a:t>POWER</a:t>
            </a:r>
          </a:p>
        </p:txBody>
      </p:sp>
      <p:sp>
        <p:nvSpPr>
          <p:cNvPr id="7" name="Rounded Rectangle 6"/>
          <p:cNvSpPr/>
          <p:nvPr/>
        </p:nvSpPr>
        <p:spPr>
          <a:xfrm>
            <a:off x="457200" y="2743200"/>
            <a:ext cx="10972800" cy="10972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880360"/>
            <a:ext cx="4572000" cy="365760"/>
          </a:xfrm>
          <a:prstGeom prst="rect">
            <a:avLst/>
          </a:prstGeom>
          <a:noFill/>
        </p:spPr>
        <p:txBody>
          <a:bodyPr wrap="square">
            <a:spAutoFit/>
          </a:bodyPr>
          <a:lstStyle/>
          <a:p>
            <a:pPr algn="l">
              <a:defRPr sz="1600" b="1">
                <a:solidFill>
                  <a:srgbClr val="4FACFE"/>
                </a:solidFill>
              </a:defRPr>
            </a:pPr>
            <a:r>
              <a:t>Claude Sonnet / GPT-4.1</a:t>
            </a:r>
          </a:p>
        </p:txBody>
      </p:sp>
      <p:sp>
        <p:nvSpPr>
          <p:cNvPr id="9" name="TextBox 8"/>
          <p:cNvSpPr txBox="1"/>
          <p:nvPr/>
        </p:nvSpPr>
        <p:spPr>
          <a:xfrm>
            <a:off x="731520" y="3246120"/>
            <a:ext cx="7315200" cy="365760"/>
          </a:xfrm>
          <a:prstGeom prst="rect">
            <a:avLst/>
          </a:prstGeom>
          <a:noFill/>
        </p:spPr>
        <p:txBody>
          <a:bodyPr wrap="square">
            <a:spAutoFit/>
          </a:bodyPr>
          <a:lstStyle/>
          <a:p>
            <a:pPr algn="l">
              <a:defRPr sz="1200" b="0">
                <a:solidFill>
                  <a:srgbClr val="A8B2D1"/>
                </a:solidFill>
              </a:defRPr>
            </a:pPr>
            <a:r>
              <a:t>Daily tasks • Agent mode • Feature implementation • Code review</a:t>
            </a:r>
          </a:p>
        </p:txBody>
      </p:sp>
      <p:sp>
        <p:nvSpPr>
          <p:cNvPr id="10" name="TextBox 9"/>
          <p:cNvSpPr txBox="1"/>
          <p:nvPr/>
        </p:nvSpPr>
        <p:spPr>
          <a:xfrm>
            <a:off x="9601200" y="3017520"/>
            <a:ext cx="1828800" cy="365760"/>
          </a:xfrm>
          <a:prstGeom prst="rect">
            <a:avLst/>
          </a:prstGeom>
          <a:noFill/>
        </p:spPr>
        <p:txBody>
          <a:bodyPr wrap="square">
            <a:spAutoFit/>
          </a:bodyPr>
          <a:lstStyle/>
          <a:p>
            <a:pPr algn="r">
              <a:defRPr sz="1100" b="1">
                <a:solidFill>
                  <a:srgbClr val="4FACFE"/>
                </a:solidFill>
              </a:defRPr>
            </a:pPr>
            <a:r>
              <a:t>BALANCED</a:t>
            </a:r>
          </a:p>
        </p:txBody>
      </p:sp>
      <p:sp>
        <p:nvSpPr>
          <p:cNvPr id="11" name="Rounded Rectangle 10"/>
          <p:cNvSpPr/>
          <p:nvPr/>
        </p:nvSpPr>
        <p:spPr>
          <a:xfrm>
            <a:off x="457200" y="4114800"/>
            <a:ext cx="10972800" cy="10972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251960"/>
            <a:ext cx="4572000" cy="365760"/>
          </a:xfrm>
          <a:prstGeom prst="rect">
            <a:avLst/>
          </a:prstGeom>
          <a:noFill/>
        </p:spPr>
        <p:txBody>
          <a:bodyPr wrap="square">
            <a:spAutoFit/>
          </a:bodyPr>
          <a:lstStyle/>
          <a:p>
            <a:pPr algn="l">
              <a:defRPr sz="1600" b="1">
                <a:solidFill>
                  <a:srgbClr val="2ED573"/>
                </a:solidFill>
              </a:defRPr>
            </a:pPr>
            <a:r>
              <a:t>Claude Haiku / GPT-4.1-mini</a:t>
            </a:r>
          </a:p>
        </p:txBody>
      </p:sp>
      <p:sp>
        <p:nvSpPr>
          <p:cNvPr id="13" name="TextBox 12"/>
          <p:cNvSpPr txBox="1"/>
          <p:nvPr/>
        </p:nvSpPr>
        <p:spPr>
          <a:xfrm>
            <a:off x="731520" y="4617720"/>
            <a:ext cx="7315200" cy="365760"/>
          </a:xfrm>
          <a:prstGeom prst="rect">
            <a:avLst/>
          </a:prstGeom>
          <a:noFill/>
        </p:spPr>
        <p:txBody>
          <a:bodyPr wrap="square">
            <a:spAutoFit/>
          </a:bodyPr>
          <a:lstStyle/>
          <a:p>
            <a:pPr algn="l">
              <a:defRPr sz="1200" b="0">
                <a:solidFill>
                  <a:srgbClr val="A8B2D1"/>
                </a:solidFill>
              </a:defRPr>
            </a:pPr>
            <a:r>
              <a:t>Completions • Small edits • Boilerplate • Sub-agent tasks</a:t>
            </a:r>
          </a:p>
        </p:txBody>
      </p:sp>
      <p:sp>
        <p:nvSpPr>
          <p:cNvPr id="14" name="TextBox 13"/>
          <p:cNvSpPr txBox="1"/>
          <p:nvPr/>
        </p:nvSpPr>
        <p:spPr>
          <a:xfrm>
            <a:off x="9601200" y="4389120"/>
            <a:ext cx="1828800" cy="365760"/>
          </a:xfrm>
          <a:prstGeom prst="rect">
            <a:avLst/>
          </a:prstGeom>
          <a:noFill/>
        </p:spPr>
        <p:txBody>
          <a:bodyPr wrap="square">
            <a:spAutoFit/>
          </a:bodyPr>
          <a:lstStyle/>
          <a:p>
            <a:pPr algn="r">
              <a:defRPr sz="1100" b="1">
                <a:solidFill>
                  <a:srgbClr val="2ED573"/>
                </a:solidFill>
              </a:defRPr>
            </a:pPr>
            <a:r>
              <a:t>FAST &amp; CHEAP</a:t>
            </a:r>
          </a:p>
        </p:txBody>
      </p:sp>
      <p:sp>
        <p:nvSpPr>
          <p:cNvPr id="15" name="TextBox 14"/>
          <p:cNvSpPr txBox="1"/>
          <p:nvPr/>
        </p:nvSpPr>
        <p:spPr>
          <a:xfrm>
            <a:off x="457200" y="1005840"/>
            <a:ext cx="1828800" cy="274320"/>
          </a:xfrm>
          <a:prstGeom prst="rect">
            <a:avLst/>
          </a:prstGeom>
          <a:noFill/>
        </p:spPr>
        <p:txBody>
          <a:bodyPr wrap="square">
            <a:spAutoFit/>
          </a:bodyPr>
          <a:lstStyle/>
          <a:p>
            <a:pPr algn="l">
              <a:defRPr sz="1200" b="0">
                <a:solidFill>
                  <a:srgbClr val="E94560"/>
                </a:solidFill>
              </a:defRPr>
            </a:pPr>
            <a:r>
              <a:t>💰 $$$</a:t>
            </a:r>
          </a:p>
        </p:txBody>
      </p:sp>
      <p:sp>
        <p:nvSpPr>
          <p:cNvPr id="16" name="TextBox 15"/>
          <p:cNvSpPr txBox="1"/>
          <p:nvPr/>
        </p:nvSpPr>
        <p:spPr>
          <a:xfrm>
            <a:off x="457200" y="5212080"/>
            <a:ext cx="1828800" cy="274320"/>
          </a:xfrm>
          <a:prstGeom prst="rect">
            <a:avLst/>
          </a:prstGeom>
          <a:noFill/>
        </p:spPr>
        <p:txBody>
          <a:bodyPr wrap="square">
            <a:spAutoFit/>
          </a:bodyPr>
          <a:lstStyle/>
          <a:p>
            <a:pPr algn="l">
              <a:defRPr sz="1200" b="0">
                <a:solidFill>
                  <a:srgbClr val="2ED573"/>
                </a:solidFill>
              </a:defRPr>
            </a:pPr>
            <a:r>
              <a:t>💰 $</a:t>
            </a:r>
          </a:p>
        </p:txBody>
      </p:sp>
      <p:sp>
        <p:nvSpPr>
          <p:cNvPr id="17" name="Rounded Rectangle 16"/>
          <p:cNvSpPr/>
          <p:nvPr/>
        </p:nvSpPr>
        <p:spPr>
          <a:xfrm>
            <a:off x="457200" y="5669280"/>
            <a:ext cx="10972800" cy="7315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Rule of thumb: Start light → escalate only if quality is insufficient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8229600" cy="914400"/>
          </a:xfrm>
          <a:prstGeom prst="rect">
            <a:avLst/>
          </a:prstGeom>
          <a:noFill/>
        </p:spPr>
        <p:txBody>
          <a:bodyPr wrap="square">
            <a:spAutoFit/>
          </a:bodyPr>
          <a:lstStyle/>
          <a:p>
            <a:pPr>
              <a:defRPr sz="2800" b="1">
                <a:solidFill>
                  <a:srgbClr val="FFFFFF"/>
                </a:solidFill>
              </a:defRPr>
            </a:pPr>
            <a:r>
              <a:t>📉 6 Strategies to Reduce Tokens</a:t>
            </a:r>
          </a:p>
        </p:txBody>
      </p:sp>
      <p:sp>
        <p:nvSpPr>
          <p:cNvPr id="3" name="TextBox 2"/>
          <p:cNvSpPr txBox="1"/>
          <p:nvPr/>
        </p:nvSpPr>
        <p:spPr>
          <a:xfrm>
            <a:off x="457200" y="1280160"/>
            <a:ext cx="8229600" cy="4572000"/>
          </a:xfrm>
          <a:prstGeom prst="rect">
            <a:avLst/>
          </a:prstGeom>
          <a:noFill/>
        </p:spPr>
        <p:txBody>
          <a:bodyPr wrap="square">
            <a:spAutoFit/>
          </a:bodyPr>
          <a:lstStyle/>
          <a:p>
            <a:pPr>
              <a:spcAft>
                <a:spcPts val="600"/>
              </a:spcAft>
              <a:defRPr sz="1500" b="0">
                <a:solidFill>
                  <a:srgbClr val="FFFFFF"/>
                </a:solidFill>
              </a:defRPr>
            </a:pPr>
            <a:r>
              <a:t>🎯  Precise prompts — Fewer round-trips = fewer tokens</a:t>
            </a:r>
          </a:p>
          <a:p>
            <a:pPr>
              <a:spcAft>
                <a:spcPts val="600"/>
              </a:spcAft>
              <a:defRPr sz="1500" b="0">
                <a:solidFill>
                  <a:srgbClr val="FFFFFF"/>
                </a:solidFill>
              </a:defRPr>
            </a:pPr>
          </a:p>
          <a:p>
            <a:pPr>
              <a:spcAft>
                <a:spcPts val="600"/>
              </a:spcAft>
              <a:defRPr sz="1500" b="0">
                <a:solidFill>
                  <a:srgbClr val="FFFFFF"/>
                </a:solidFill>
              </a:defRPr>
            </a:pPr>
            <a:r>
              <a:t>📁  copilot-instructions.md — Context loaded once, never repeated</a:t>
            </a:r>
          </a:p>
          <a:p>
            <a:pPr>
              <a:spcAft>
                <a:spcPts val="600"/>
              </a:spcAft>
              <a:defRPr sz="1500" b="0">
                <a:solidFill>
                  <a:srgbClr val="FFFFFF"/>
                </a:solidFill>
              </a:defRPr>
            </a:pPr>
          </a:p>
          <a:p>
            <a:pPr>
              <a:spcAft>
                <a:spcPts val="600"/>
              </a:spcAft>
              <a:defRPr sz="1500" b="0">
                <a:solidFill>
                  <a:srgbClr val="FFFFFF"/>
                </a:solidFill>
              </a:defRPr>
            </a:pPr>
            <a:r>
              <a:t>🔀  Reusable Skills &amp; Prompts — Stop reformulating</a:t>
            </a:r>
          </a:p>
          <a:p>
            <a:pPr>
              <a:spcAft>
                <a:spcPts val="600"/>
              </a:spcAft>
              <a:defRPr sz="1500" b="0">
                <a:solidFill>
                  <a:srgbClr val="FFFFFF"/>
                </a:solidFill>
              </a:defRPr>
            </a:pPr>
          </a:p>
          <a:p>
            <a:pPr>
              <a:spcAft>
                <a:spcPts val="600"/>
              </a:spcAft>
              <a:defRPr sz="1500" b="0">
                <a:solidFill>
                  <a:srgbClr val="FFFFFF"/>
                </a:solidFill>
              </a:defRPr>
            </a:pPr>
            <a:r>
              <a:t>🧹  Fresh conversations — New chat when context is polluted</a:t>
            </a:r>
          </a:p>
          <a:p>
            <a:pPr>
              <a:spcAft>
                <a:spcPts val="600"/>
              </a:spcAft>
              <a:defRPr sz="1500" b="0">
                <a:solidFill>
                  <a:srgbClr val="FFFFFF"/>
                </a:solidFill>
              </a:defRPr>
            </a:pPr>
          </a:p>
          <a:p>
            <a:pPr>
              <a:spcAft>
                <a:spcPts val="600"/>
              </a:spcAft>
              <a:defRPr sz="1500" b="0">
                <a:solidFill>
                  <a:srgbClr val="FFFFFF"/>
                </a:solidFill>
              </a:defRPr>
            </a:pPr>
            <a:r>
              <a:t>📏  Right model = right cost — Haiku for simple, Sonnet for the rest</a:t>
            </a:r>
          </a:p>
          <a:p>
            <a:pPr>
              <a:spcAft>
                <a:spcPts val="600"/>
              </a:spcAft>
              <a:defRPr sz="1500" b="0">
                <a:solidFill>
                  <a:srgbClr val="FFFFFF"/>
                </a:solidFill>
              </a:defRPr>
            </a:pPr>
          </a:p>
          <a:p>
            <a:pPr>
              <a:spcAft>
                <a:spcPts val="600"/>
              </a:spcAft>
              <a:defRPr sz="1500" b="0">
                <a:solidFill>
                  <a:srgbClr val="FFFFFF"/>
                </a:solidFill>
              </a:defRPr>
            </a:pPr>
            <a:r>
              <a:t>🦴  Caveman Mode — 50-70% fewer output tokens, same code quality</a:t>
            </a:r>
          </a:p>
        </p:txBody>
      </p:sp>
      <p:sp>
        <p:nvSpPr>
          <p:cNvPr id="4" name="TextBox 3"/>
          <p:cNvSpPr txBox="1"/>
          <p:nvPr/>
        </p:nvSpPr>
        <p:spPr>
          <a:xfrm>
            <a:off x="457200" y="5029200"/>
            <a:ext cx="8229600" cy="4572000"/>
          </a:xfrm>
          <a:prstGeom prst="rect">
            <a:avLst/>
          </a:prstGeom>
          <a:noFill/>
        </p:spPr>
        <p:txBody>
          <a:bodyPr wrap="square">
            <a:spAutoFit/>
          </a:bodyPr>
          <a:lstStyle/>
          <a:p>
            <a:pPr>
              <a:spcAft>
                <a:spcPts val="600"/>
              </a:spcAft>
              <a:defRPr sz="1300" b="0">
                <a:solidFill>
                  <a:srgbClr val="A0FFA0"/>
                </a:solidFill>
              </a:defRPr>
            </a:pPr>
            <a:r>
              <a:t>✅ These practices reduce costs AND improve quality — less noise = better answers</a:t>
            </a:r>
          </a:p>
          <a:p>
            <a:pPr>
              <a:spcAft>
                <a:spcPts val="600"/>
              </a:spcAft>
              <a:defRPr sz="1300" b="0">
                <a:solidFill>
                  <a:srgbClr val="A0FFA0"/>
                </a:solidFill>
              </a:defRPr>
            </a:pPr>
            <a:r>
              <a:t>💰 Output tokens cost 3-4x more than input → Caveman = biggest ROI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Sharing Skills Across Teams</a:t>
            </a:r>
          </a:p>
        </p:txBody>
      </p:sp>
      <p:sp>
        <p:nvSpPr>
          <p:cNvPr id="3" name="Rounded Rectangle 2"/>
          <p:cNvSpPr/>
          <p:nvPr/>
        </p:nvSpPr>
        <p:spPr>
          <a:xfrm>
            <a:off x="274320" y="1371600"/>
            <a:ext cx="2560320" cy="9144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Team Alpha</a:t>
            </a:r>
            <a:br/>
            <a:r>
              <a:t>API skills • Testing</a:t>
            </a:r>
          </a:p>
        </p:txBody>
      </p:sp>
      <p:sp>
        <p:nvSpPr>
          <p:cNvPr id="4" name="Rounded Rectangle 3"/>
          <p:cNvSpPr/>
          <p:nvPr/>
        </p:nvSpPr>
        <p:spPr>
          <a:xfrm>
            <a:off x="274320" y="2560320"/>
            <a:ext cx="2560320" cy="91440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Team Beta</a:t>
            </a:r>
            <a:br/>
            <a:r>
              <a:t>DevOps • CI/CD</a:t>
            </a:r>
          </a:p>
        </p:txBody>
      </p:sp>
      <p:sp>
        <p:nvSpPr>
          <p:cNvPr id="5" name="TextBox 4"/>
          <p:cNvSpPr txBox="1"/>
          <p:nvPr/>
        </p:nvSpPr>
        <p:spPr>
          <a:xfrm>
            <a:off x="3017520" y="1828800"/>
            <a:ext cx="731520" cy="457200"/>
          </a:xfrm>
          <a:prstGeom prst="rect">
            <a:avLst/>
          </a:prstGeom>
          <a:noFill/>
        </p:spPr>
        <p:txBody>
          <a:bodyPr wrap="square">
            <a:spAutoFit/>
          </a:bodyPr>
          <a:lstStyle/>
          <a:p>
            <a:pPr algn="ctr">
              <a:defRPr sz="2400" b="0">
                <a:solidFill>
                  <a:srgbClr val="A8B2D1"/>
                </a:solidFill>
              </a:defRPr>
            </a:pPr>
            <a:r>
              <a:t>→</a:t>
            </a:r>
          </a:p>
        </p:txBody>
      </p:sp>
      <p:sp>
        <p:nvSpPr>
          <p:cNvPr id="6" name="Rounded Rectangle 5"/>
          <p:cNvSpPr/>
          <p:nvPr/>
        </p:nvSpPr>
        <p:spPr>
          <a:xfrm>
            <a:off x="3657600" y="1371600"/>
            <a:ext cx="3657600" cy="228600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FFFF"/>
                </a:solidFill>
              </a:defRPr>
            </a:pPr>
            <a:r>
              <a:t>🏢 Org-level .github/</a:t>
            </a:r>
            <a:br/>
            <a:br/>
            <a:r>
              <a:t>Centralized skills &amp; plugins</a:t>
            </a:r>
            <a:br/>
            <a:r>
              <a:t>Shared prompt library</a:t>
            </a:r>
            <a:br/>
            <a:r>
              <a:t>Community-driven</a:t>
            </a:r>
          </a:p>
        </p:txBody>
      </p:sp>
      <p:sp>
        <p:nvSpPr>
          <p:cNvPr id="7" name="TextBox 6"/>
          <p:cNvSpPr txBox="1"/>
          <p:nvPr/>
        </p:nvSpPr>
        <p:spPr>
          <a:xfrm>
            <a:off x="7498079" y="1828800"/>
            <a:ext cx="731520" cy="457200"/>
          </a:xfrm>
          <a:prstGeom prst="rect">
            <a:avLst/>
          </a:prstGeom>
          <a:noFill/>
        </p:spPr>
        <p:txBody>
          <a:bodyPr wrap="square">
            <a:spAutoFit/>
          </a:bodyPr>
          <a:lstStyle/>
          <a:p>
            <a:pPr algn="ctr">
              <a:defRPr sz="2400" b="0">
                <a:solidFill>
                  <a:srgbClr val="A8B2D1"/>
                </a:solidFill>
              </a:defRPr>
            </a:pPr>
            <a:r>
              <a:t>→</a:t>
            </a:r>
          </a:p>
        </p:txBody>
      </p:sp>
      <p:sp>
        <p:nvSpPr>
          <p:cNvPr id="8" name="Rounded Rectangle 7"/>
          <p:cNvSpPr/>
          <p:nvPr/>
        </p:nvSpPr>
        <p:spPr>
          <a:xfrm>
            <a:off x="8229600" y="137160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All new projects — Auto-inherit context</a:t>
            </a:r>
          </a:p>
        </p:txBody>
      </p:sp>
      <p:sp>
        <p:nvSpPr>
          <p:cNvPr id="9" name="Rounded Rectangle 8"/>
          <p:cNvSpPr/>
          <p:nvPr/>
        </p:nvSpPr>
        <p:spPr>
          <a:xfrm>
            <a:off x="8229600" y="214884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Onboarding — Zero friction start</a:t>
            </a:r>
          </a:p>
        </p:txBody>
      </p:sp>
      <p:sp>
        <p:nvSpPr>
          <p:cNvPr id="10" name="Rounded Rectangle 9"/>
          <p:cNvSpPr/>
          <p:nvPr/>
        </p:nvSpPr>
        <p:spPr>
          <a:xfrm>
            <a:off x="8229600" y="292608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Consistency — Same patterns everywhere</a:t>
            </a:r>
          </a:p>
        </p:txBody>
      </p:sp>
      <p:sp>
        <p:nvSpPr>
          <p:cNvPr id="11" name="Rounded Rectangle 10"/>
          <p:cNvSpPr/>
          <p:nvPr/>
        </p:nvSpPr>
        <p:spPr>
          <a:xfrm>
            <a:off x="914400" y="4389120"/>
            <a:ext cx="10058400" cy="64008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FF6B6B"/>
                </a:solidFill>
              </a:defRPr>
            </a:pPr>
            <a:r>
              <a:t>🚫 Avoid: duplicated skills across teams = wasted effort + inconsistency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8229600" cy="914400"/>
          </a:xfrm>
          <a:prstGeom prst="rect">
            <a:avLst/>
          </a:prstGeom>
          <a:noFill/>
        </p:spPr>
        <p:txBody>
          <a:bodyPr wrap="square">
            <a:spAutoFit/>
          </a:bodyPr>
          <a:lstStyle/>
          <a:p>
            <a:pPr>
              <a:defRPr sz="2800" b="1">
                <a:solidFill>
                  <a:srgbClr val="FFFFFF"/>
                </a:solidFill>
              </a:defRPr>
            </a:pPr>
            <a:r>
              <a:t>🗺️ Copilot Agentic Roadmap</a:t>
            </a:r>
          </a:p>
        </p:txBody>
      </p:sp>
      <p:sp>
        <p:nvSpPr>
          <p:cNvPr id="3" name="TextBox 2"/>
          <p:cNvSpPr txBox="1"/>
          <p:nvPr/>
        </p:nvSpPr>
        <p:spPr>
          <a:xfrm>
            <a:off x="457200" y="1371600"/>
            <a:ext cx="8229600" cy="4572000"/>
          </a:xfrm>
          <a:prstGeom prst="rect">
            <a:avLst/>
          </a:prstGeom>
          <a:noFill/>
        </p:spPr>
        <p:txBody>
          <a:bodyPr wrap="square">
            <a:spAutoFit/>
          </a:bodyPr>
          <a:lstStyle/>
          <a:p>
            <a:pPr>
              <a:spcAft>
                <a:spcPts val="600"/>
              </a:spcAft>
              <a:defRPr sz="1400" b="0">
                <a:solidFill>
                  <a:srgbClr val="FFFFFF"/>
                </a:solidFill>
              </a:defRPr>
            </a:pPr>
            <a:r>
              <a:t>✓ Completion          ✓ Chat &amp; Agent          ✓ Multi-Agent           → Autonomous</a:t>
            </a:r>
          </a:p>
          <a:p>
            <a:pPr>
              <a:spcAft>
                <a:spcPts val="600"/>
              </a:spcAft>
              <a:defRPr sz="1400" b="0">
                <a:solidFill>
                  <a:srgbClr val="FFFFFF"/>
                </a:solidFill>
              </a:defRPr>
            </a:pPr>
            <a:r>
              <a:t>  Code suggestions      Conversational AI       Orchestration            Full workflow</a:t>
            </a:r>
          </a:p>
        </p:txBody>
      </p:sp>
      <p:sp>
        <p:nvSpPr>
          <p:cNvPr id="4" name="TextBox 3"/>
          <p:cNvSpPr txBox="1"/>
          <p:nvPr/>
        </p:nvSpPr>
        <p:spPr>
          <a:xfrm>
            <a:off x="457200" y="2286000"/>
            <a:ext cx="8229600" cy="4572000"/>
          </a:xfrm>
          <a:prstGeom prst="rect">
            <a:avLst/>
          </a:prstGeom>
          <a:noFill/>
        </p:spPr>
        <p:txBody>
          <a:bodyPr wrap="square">
            <a:spAutoFit/>
          </a:bodyPr>
          <a:lstStyle/>
          <a:p>
            <a:pPr>
              <a:spcAft>
                <a:spcPts val="600"/>
              </a:spcAft>
              <a:defRPr sz="1400" b="1">
                <a:solidFill>
                  <a:srgbClr val="FFA000"/>
                </a:solidFill>
              </a:defRPr>
            </a:pPr>
            <a:r>
              <a:t>                                                    ▲</a:t>
            </a:r>
          </a:p>
          <a:p>
            <a:pPr>
              <a:spcAft>
                <a:spcPts val="600"/>
              </a:spcAft>
              <a:defRPr sz="1400" b="1">
                <a:solidFill>
                  <a:srgbClr val="FFA000"/>
                </a:solidFill>
              </a:defRPr>
            </a:pPr>
            <a:r>
              <a:t>                                               WE ARE HERE</a:t>
            </a:r>
          </a:p>
          <a:p>
            <a:pPr>
              <a:spcAft>
                <a:spcPts val="600"/>
              </a:spcAft>
              <a:defRPr sz="1400" b="1">
                <a:solidFill>
                  <a:srgbClr val="FFA000"/>
                </a:solidFill>
              </a:defRPr>
            </a:pPr>
            <a:r>
              <a:t>                                          (natif depuis VS Code 1.109)</a:t>
            </a:r>
          </a:p>
        </p:txBody>
      </p:sp>
      <p:sp>
        <p:nvSpPr>
          <p:cNvPr id="5" name="TextBox 4"/>
          <p:cNvSpPr txBox="1"/>
          <p:nvPr/>
        </p:nvSpPr>
        <p:spPr>
          <a:xfrm>
            <a:off x="457200" y="3200400"/>
            <a:ext cx="8229600" cy="4572000"/>
          </a:xfrm>
          <a:prstGeom prst="rect">
            <a:avLst/>
          </a:prstGeom>
          <a:noFill/>
        </p:spPr>
        <p:txBody>
          <a:bodyPr wrap="square">
            <a:spAutoFit/>
          </a:bodyPr>
          <a:lstStyle/>
          <a:p>
            <a:pPr>
              <a:spcAft>
                <a:spcPts val="600"/>
              </a:spcAft>
              <a:defRPr sz="1400" b="0">
                <a:solidFill>
                  <a:srgbClr val="FFFFFF"/>
                </a:solidFill>
              </a:defRPr>
            </a:pPr>
            <a:r>
              <a:t>Ce qui est DÉJÀ disponible :</a:t>
            </a:r>
          </a:p>
          <a:p>
            <a:pPr>
              <a:spcAft>
                <a:spcPts val="600"/>
              </a:spcAft>
              <a:defRPr sz="1400" b="0">
                <a:solidFill>
                  <a:srgbClr val="FFFFFF"/>
                </a:solidFill>
              </a:defRPr>
            </a:pPr>
            <a:r>
              <a:t>  • Agent Sessions View (local / background / cloud)</a:t>
            </a:r>
          </a:p>
          <a:p>
            <a:pPr>
              <a:spcAft>
                <a:spcPts val="600"/>
              </a:spcAft>
              <a:defRPr sz="1400" b="0">
                <a:solidFill>
                  <a:srgbClr val="FFFFFF"/>
                </a:solidFill>
              </a:defRPr>
            </a:pPr>
            <a:r>
              <a:t>  • Subagents parallèles avec contexte isolé</a:t>
            </a:r>
          </a:p>
          <a:p>
            <a:pPr>
              <a:spcAft>
                <a:spcPts val="600"/>
              </a:spcAft>
              <a:defRPr sz="1400" b="0">
                <a:solidFill>
                  <a:srgbClr val="FFFFFF"/>
                </a:solidFill>
              </a:defRPr>
            </a:pPr>
            <a:r>
              <a:t>  • Claude &amp; Codex comme agents natifs</a:t>
            </a:r>
          </a:p>
          <a:p>
            <a:pPr>
              <a:spcAft>
                <a:spcPts val="600"/>
              </a:spcAft>
              <a:defRPr sz="1400" b="0">
                <a:solidFill>
                  <a:srgbClr val="FFFFFF"/>
                </a:solidFill>
              </a:defRPr>
            </a:pPr>
            <a:r>
              <a:t>  • Custom agents avec handoffs automatiques</a:t>
            </a:r>
          </a:p>
          <a:p>
            <a:pPr>
              <a:spcAft>
                <a:spcPts val="600"/>
              </a:spcAft>
              <a:defRPr sz="1400" b="0">
                <a:solidFill>
                  <a:srgbClr val="FFFFFF"/>
                </a:solidFill>
              </a:defRPr>
            </a:pPr>
            <a:r>
              <a:t>  • Agent Skills (standard ouvert — agentskills.io)</a:t>
            </a:r>
          </a:p>
          <a:p>
            <a:pPr>
              <a:spcAft>
                <a:spcPts val="600"/>
              </a:spcAft>
              <a:defRPr sz="1400" b="0">
                <a:solidFill>
                  <a:srgbClr val="FFFFFF"/>
                </a:solidFill>
              </a:defRPr>
            </a:pPr>
          </a:p>
          <a:p>
            <a:pPr>
              <a:spcAft>
                <a:spcPts val="600"/>
              </a:spcAft>
              <a:defRPr sz="1400" b="0">
                <a:solidFill>
                  <a:srgbClr val="FFFFFF"/>
                </a:solidFill>
              </a:defRPr>
            </a:pPr>
            <a:r>
              <a:t>🎯 Orange : industrialiser MAINTENANT nous positionne</a:t>
            </a:r>
          </a:p>
          <a:p>
            <a:pPr>
              <a:spcAft>
                <a:spcPts val="600"/>
              </a:spcAft>
              <a:defRPr sz="1400" b="0">
                <a:solidFill>
                  <a:srgbClr val="FFFFFF"/>
                </a:solidFill>
              </a:defRPr>
            </a:pPr>
            <a:r>
              <a:t>   pour les workflows autonomes de DEMAIN.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Common Pitfalls</a:t>
            </a:r>
          </a:p>
        </p:txBody>
      </p:sp>
      <p:sp>
        <p:nvSpPr>
          <p:cNvPr id="3" name="TextBox 2"/>
          <p:cNvSpPr txBox="1"/>
          <p:nvPr/>
        </p:nvSpPr>
        <p:spPr>
          <a:xfrm>
            <a:off x="457200" y="1280160"/>
            <a:ext cx="548640" cy="457200"/>
          </a:xfrm>
          <a:prstGeom prst="rect">
            <a:avLst/>
          </a:prstGeom>
          <a:noFill/>
        </p:spPr>
        <p:txBody>
          <a:bodyPr wrap="square">
            <a:spAutoFit/>
          </a:bodyPr>
          <a:lstStyle/>
          <a:p>
            <a:pPr algn="ctr">
              <a:defRPr sz="2200" b="0">
                <a:solidFill>
                  <a:srgbClr val="FFFFFF"/>
                </a:solidFill>
              </a:defRPr>
            </a:pPr>
            <a:r>
              <a:t>🚫</a:t>
            </a:r>
          </a:p>
        </p:txBody>
      </p:sp>
      <p:sp>
        <p:nvSpPr>
          <p:cNvPr id="4" name="TextBox 3"/>
          <p:cNvSpPr txBox="1"/>
          <p:nvPr/>
        </p:nvSpPr>
        <p:spPr>
          <a:xfrm>
            <a:off x="1188720" y="1280160"/>
            <a:ext cx="2743200" cy="457200"/>
          </a:xfrm>
          <a:prstGeom prst="rect">
            <a:avLst/>
          </a:prstGeom>
          <a:noFill/>
        </p:spPr>
        <p:txBody>
          <a:bodyPr wrap="square">
            <a:spAutoFit/>
          </a:bodyPr>
          <a:lstStyle/>
          <a:p>
            <a:pPr algn="l">
              <a:defRPr sz="1800" b="1">
                <a:solidFill>
                  <a:srgbClr val="FFFFFF"/>
                </a:solidFill>
              </a:defRPr>
            </a:pPr>
            <a:r>
              <a:t>YOLO mode</a:t>
            </a:r>
          </a:p>
        </p:txBody>
      </p:sp>
      <p:sp>
        <p:nvSpPr>
          <p:cNvPr id="5" name="TextBox 4"/>
          <p:cNvSpPr txBox="1"/>
          <p:nvPr/>
        </p:nvSpPr>
        <p:spPr>
          <a:xfrm>
            <a:off x="4114800" y="1325880"/>
            <a:ext cx="7315200" cy="365760"/>
          </a:xfrm>
          <a:prstGeom prst="rect">
            <a:avLst/>
          </a:prstGeom>
          <a:noFill/>
        </p:spPr>
        <p:txBody>
          <a:bodyPr wrap="square">
            <a:spAutoFit/>
          </a:bodyPr>
          <a:lstStyle/>
          <a:p>
            <a:pPr algn="l">
              <a:defRPr sz="1400" b="0">
                <a:solidFill>
                  <a:srgbClr val="A8B2D1"/>
                </a:solidFill>
              </a:defRPr>
            </a:pPr>
            <a:r>
              <a:t>— Never let the agent push/merge without human review</a:t>
            </a:r>
          </a:p>
        </p:txBody>
      </p:sp>
      <p:sp>
        <p:nvSpPr>
          <p:cNvPr id="6" name="TextBox 5"/>
          <p:cNvSpPr txBox="1"/>
          <p:nvPr/>
        </p:nvSpPr>
        <p:spPr>
          <a:xfrm>
            <a:off x="457200" y="2194560"/>
            <a:ext cx="548640" cy="457200"/>
          </a:xfrm>
          <a:prstGeom prst="rect">
            <a:avLst/>
          </a:prstGeom>
          <a:noFill/>
        </p:spPr>
        <p:txBody>
          <a:bodyPr wrap="square">
            <a:spAutoFit/>
          </a:bodyPr>
          <a:lstStyle/>
          <a:p>
            <a:pPr algn="ctr">
              <a:defRPr sz="2200" b="0">
                <a:solidFill>
                  <a:srgbClr val="FFFFFF"/>
                </a:solidFill>
              </a:defRPr>
            </a:pPr>
            <a:r>
              <a:t>🔒</a:t>
            </a:r>
          </a:p>
        </p:txBody>
      </p:sp>
      <p:sp>
        <p:nvSpPr>
          <p:cNvPr id="7" name="TextBox 6"/>
          <p:cNvSpPr txBox="1"/>
          <p:nvPr/>
        </p:nvSpPr>
        <p:spPr>
          <a:xfrm>
            <a:off x="1188720" y="2194560"/>
            <a:ext cx="2743200" cy="457200"/>
          </a:xfrm>
          <a:prstGeom prst="rect">
            <a:avLst/>
          </a:prstGeom>
          <a:noFill/>
        </p:spPr>
        <p:txBody>
          <a:bodyPr wrap="square">
            <a:spAutoFit/>
          </a:bodyPr>
          <a:lstStyle/>
          <a:p>
            <a:pPr algn="l">
              <a:defRPr sz="1800" b="1">
                <a:solidFill>
                  <a:srgbClr val="FFFFFF"/>
                </a:solidFill>
              </a:defRPr>
            </a:pPr>
            <a:r>
              <a:t>Secrets</a:t>
            </a:r>
          </a:p>
        </p:txBody>
      </p:sp>
      <p:sp>
        <p:nvSpPr>
          <p:cNvPr id="8" name="TextBox 7"/>
          <p:cNvSpPr txBox="1"/>
          <p:nvPr/>
        </p:nvSpPr>
        <p:spPr>
          <a:xfrm>
            <a:off x="4114800" y="2240279"/>
            <a:ext cx="7315200" cy="365760"/>
          </a:xfrm>
          <a:prstGeom prst="rect">
            <a:avLst/>
          </a:prstGeom>
          <a:noFill/>
        </p:spPr>
        <p:txBody>
          <a:bodyPr wrap="square">
            <a:spAutoFit/>
          </a:bodyPr>
          <a:lstStyle/>
          <a:p>
            <a:pPr algn="l">
              <a:defRPr sz="1400" b="0">
                <a:solidFill>
                  <a:srgbClr val="A8B2D1"/>
                </a:solidFill>
              </a:defRPr>
            </a:pPr>
            <a:r>
              <a:t>— NEVER paste credentials into the chat</a:t>
            </a:r>
          </a:p>
        </p:txBody>
      </p:sp>
      <p:sp>
        <p:nvSpPr>
          <p:cNvPr id="9" name="TextBox 8"/>
          <p:cNvSpPr txBox="1"/>
          <p:nvPr/>
        </p:nvSpPr>
        <p:spPr>
          <a:xfrm>
            <a:off x="457200" y="3108960"/>
            <a:ext cx="548640" cy="457200"/>
          </a:xfrm>
          <a:prstGeom prst="rect">
            <a:avLst/>
          </a:prstGeom>
          <a:noFill/>
        </p:spPr>
        <p:txBody>
          <a:bodyPr wrap="square">
            <a:spAutoFit/>
          </a:bodyPr>
          <a:lstStyle/>
          <a:p>
            <a:pPr algn="ctr">
              <a:defRPr sz="2200" b="0">
                <a:solidFill>
                  <a:srgbClr val="FFFFFF"/>
                </a:solidFill>
              </a:defRPr>
            </a:pPr>
            <a:r>
              <a:t>👁️</a:t>
            </a:r>
          </a:p>
        </p:txBody>
      </p:sp>
      <p:sp>
        <p:nvSpPr>
          <p:cNvPr id="10" name="TextBox 9"/>
          <p:cNvSpPr txBox="1"/>
          <p:nvPr/>
        </p:nvSpPr>
        <p:spPr>
          <a:xfrm>
            <a:off x="1188720" y="3108960"/>
            <a:ext cx="2743200" cy="457200"/>
          </a:xfrm>
          <a:prstGeom prst="rect">
            <a:avLst/>
          </a:prstGeom>
          <a:noFill/>
        </p:spPr>
        <p:txBody>
          <a:bodyPr wrap="square">
            <a:spAutoFit/>
          </a:bodyPr>
          <a:lstStyle/>
          <a:p>
            <a:pPr algn="l">
              <a:defRPr sz="1800" b="1">
                <a:solidFill>
                  <a:srgbClr val="FFFFFF"/>
                </a:solidFill>
              </a:defRPr>
            </a:pPr>
            <a:r>
              <a:t>Always review</a:t>
            </a:r>
          </a:p>
        </p:txBody>
      </p:sp>
      <p:sp>
        <p:nvSpPr>
          <p:cNvPr id="11" name="TextBox 10"/>
          <p:cNvSpPr txBox="1"/>
          <p:nvPr/>
        </p:nvSpPr>
        <p:spPr>
          <a:xfrm>
            <a:off x="4114800" y="3154679"/>
            <a:ext cx="7315200" cy="365760"/>
          </a:xfrm>
          <a:prstGeom prst="rect">
            <a:avLst/>
          </a:prstGeom>
          <a:noFill/>
        </p:spPr>
        <p:txBody>
          <a:bodyPr wrap="square">
            <a:spAutoFit/>
          </a:bodyPr>
          <a:lstStyle/>
          <a:p>
            <a:pPr algn="l">
              <a:defRPr sz="1400" b="0">
                <a:solidFill>
                  <a:srgbClr val="A8B2D1"/>
                </a:solidFill>
              </a:defRPr>
            </a:pPr>
            <a:r>
              <a:t>— Generated code can be wrong or suboptimal</a:t>
            </a:r>
          </a:p>
        </p:txBody>
      </p:sp>
      <p:sp>
        <p:nvSpPr>
          <p:cNvPr id="12" name="TextBox 11"/>
          <p:cNvSpPr txBox="1"/>
          <p:nvPr/>
        </p:nvSpPr>
        <p:spPr>
          <a:xfrm>
            <a:off x="457200" y="4023360"/>
            <a:ext cx="548640" cy="457200"/>
          </a:xfrm>
          <a:prstGeom prst="rect">
            <a:avLst/>
          </a:prstGeom>
          <a:noFill/>
        </p:spPr>
        <p:txBody>
          <a:bodyPr wrap="square">
            <a:spAutoFit/>
          </a:bodyPr>
          <a:lstStyle/>
          <a:p>
            <a:pPr algn="ctr">
              <a:defRPr sz="2200" b="0">
                <a:solidFill>
                  <a:srgbClr val="FFFFFF"/>
                </a:solidFill>
              </a:defRPr>
            </a:pPr>
            <a:r>
              <a:t>🎯</a:t>
            </a:r>
          </a:p>
        </p:txBody>
      </p:sp>
      <p:sp>
        <p:nvSpPr>
          <p:cNvPr id="13" name="TextBox 12"/>
          <p:cNvSpPr txBox="1"/>
          <p:nvPr/>
        </p:nvSpPr>
        <p:spPr>
          <a:xfrm>
            <a:off x="1188720" y="4023360"/>
            <a:ext cx="2743200" cy="457200"/>
          </a:xfrm>
          <a:prstGeom prst="rect">
            <a:avLst/>
          </a:prstGeom>
          <a:noFill/>
        </p:spPr>
        <p:txBody>
          <a:bodyPr wrap="square">
            <a:spAutoFit/>
          </a:bodyPr>
          <a:lstStyle/>
          <a:p>
            <a:pPr algn="l">
              <a:defRPr sz="1800" b="1">
                <a:solidFill>
                  <a:srgbClr val="FFFFFF"/>
                </a:solidFill>
              </a:defRPr>
            </a:pPr>
            <a:r>
              <a:t>1 prompt = 1 task</a:t>
            </a:r>
          </a:p>
        </p:txBody>
      </p:sp>
      <p:sp>
        <p:nvSpPr>
          <p:cNvPr id="14" name="TextBox 13"/>
          <p:cNvSpPr txBox="1"/>
          <p:nvPr/>
        </p:nvSpPr>
        <p:spPr>
          <a:xfrm>
            <a:off x="4114800" y="4069080"/>
            <a:ext cx="7315200" cy="365760"/>
          </a:xfrm>
          <a:prstGeom prst="rect">
            <a:avLst/>
          </a:prstGeom>
          <a:noFill/>
        </p:spPr>
        <p:txBody>
          <a:bodyPr wrap="square">
            <a:spAutoFit/>
          </a:bodyPr>
          <a:lstStyle/>
          <a:p>
            <a:pPr algn="l">
              <a:defRPr sz="1400" b="0">
                <a:solidFill>
                  <a:srgbClr val="A8B2D1"/>
                </a:solidFill>
              </a:defRPr>
            </a:pPr>
            <a:r>
              <a:t>— No mega-prompts that do everything</a:t>
            </a:r>
          </a:p>
        </p:txBody>
      </p:sp>
      <p:sp>
        <p:nvSpPr>
          <p:cNvPr id="15" name="TextBox 14"/>
          <p:cNvSpPr txBox="1"/>
          <p:nvPr/>
        </p:nvSpPr>
        <p:spPr>
          <a:xfrm>
            <a:off x="457200" y="4937760"/>
            <a:ext cx="548640" cy="457200"/>
          </a:xfrm>
          <a:prstGeom prst="rect">
            <a:avLst/>
          </a:prstGeom>
          <a:noFill/>
        </p:spPr>
        <p:txBody>
          <a:bodyPr wrap="square">
            <a:spAutoFit/>
          </a:bodyPr>
          <a:lstStyle/>
          <a:p>
            <a:pPr algn="ctr">
              <a:defRPr sz="2200" b="0">
                <a:solidFill>
                  <a:srgbClr val="FFFFFF"/>
                </a:solidFill>
              </a:defRPr>
            </a:pPr>
            <a:r>
              <a:t>🧠</a:t>
            </a:r>
          </a:p>
        </p:txBody>
      </p:sp>
      <p:sp>
        <p:nvSpPr>
          <p:cNvPr id="16" name="TextBox 15"/>
          <p:cNvSpPr txBox="1"/>
          <p:nvPr/>
        </p:nvSpPr>
        <p:spPr>
          <a:xfrm>
            <a:off x="1188720" y="4937760"/>
            <a:ext cx="2743200" cy="457200"/>
          </a:xfrm>
          <a:prstGeom prst="rect">
            <a:avLst/>
          </a:prstGeom>
          <a:noFill/>
        </p:spPr>
        <p:txBody>
          <a:bodyPr wrap="square">
            <a:spAutoFit/>
          </a:bodyPr>
          <a:lstStyle/>
          <a:p>
            <a:pPr algn="l">
              <a:defRPr sz="1800" b="1">
                <a:solidFill>
                  <a:srgbClr val="FFFFFF"/>
                </a:solidFill>
              </a:defRPr>
            </a:pPr>
            <a:r>
              <a:t>You are the pilot</a:t>
            </a:r>
          </a:p>
        </p:txBody>
      </p:sp>
      <p:sp>
        <p:nvSpPr>
          <p:cNvPr id="17" name="TextBox 16"/>
          <p:cNvSpPr txBox="1"/>
          <p:nvPr/>
        </p:nvSpPr>
        <p:spPr>
          <a:xfrm>
            <a:off x="4114800" y="4983480"/>
            <a:ext cx="7315200" cy="365760"/>
          </a:xfrm>
          <a:prstGeom prst="rect">
            <a:avLst/>
          </a:prstGeom>
          <a:noFill/>
        </p:spPr>
        <p:txBody>
          <a:bodyPr wrap="square">
            <a:spAutoFit/>
          </a:bodyPr>
          <a:lstStyle/>
          <a:p>
            <a:pPr algn="l">
              <a:defRPr sz="1400" b="0">
                <a:solidFill>
                  <a:srgbClr val="A8B2D1"/>
                </a:solidFill>
              </a:defRPr>
            </a:pPr>
            <a:r>
              <a:t>— Copilot is the copilot, not the other way around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371600"/>
            <a:ext cx="10058400" cy="1371600"/>
          </a:xfrm>
          <a:prstGeom prst="rect">
            <a:avLst/>
          </a:prstGeom>
          <a:noFill/>
        </p:spPr>
        <p:txBody>
          <a:bodyPr wrap="square">
            <a:spAutoFit/>
          </a:bodyPr>
          <a:lstStyle/>
          <a:p>
            <a:pPr algn="ctr">
              <a:defRPr sz="8000" b="0">
                <a:solidFill>
                  <a:srgbClr val="FFFFFF"/>
                </a:solidFill>
              </a:defRPr>
            </a:pPr>
            <a:r>
              <a:t>💬</a:t>
            </a:r>
          </a:p>
        </p:txBody>
      </p:sp>
      <p:sp>
        <p:nvSpPr>
          <p:cNvPr id="3" name="TextBox 2"/>
          <p:cNvSpPr txBox="1"/>
          <p:nvPr/>
        </p:nvSpPr>
        <p:spPr>
          <a:xfrm>
            <a:off x="914400" y="2926080"/>
            <a:ext cx="10058400" cy="914400"/>
          </a:xfrm>
          <a:prstGeom prst="rect">
            <a:avLst/>
          </a:prstGeom>
          <a:noFill/>
        </p:spPr>
        <p:txBody>
          <a:bodyPr wrap="square">
            <a:spAutoFit/>
          </a:bodyPr>
          <a:lstStyle/>
          <a:p>
            <a:pPr algn="ctr">
              <a:defRPr sz="3600" b="1">
                <a:solidFill>
                  <a:srgbClr val="FFFFFF"/>
                </a:solidFill>
              </a:defRPr>
            </a:pPr>
            <a:r>
              <a:t>Q&amp;A — Open Discussion</a:t>
            </a:r>
          </a:p>
        </p:txBody>
      </p:sp>
      <p:sp>
        <p:nvSpPr>
          <p:cNvPr id="4" name="Rounded Rectangle 3"/>
          <p:cNvSpPr/>
          <p:nvPr/>
        </p:nvSpPr>
        <p:spPr>
          <a:xfrm>
            <a:off x="1371600" y="4114800"/>
            <a:ext cx="4114800" cy="13716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C8D6E5"/>
                </a:solidFill>
              </a:defRPr>
            </a:pPr>
            <a:r>
              <a:t>🙋 Questions</a:t>
            </a:r>
            <a:br/>
            <a:r>
              <a:t>Technical or organizational</a:t>
            </a:r>
          </a:p>
        </p:txBody>
      </p:sp>
      <p:sp>
        <p:nvSpPr>
          <p:cNvPr id="5" name="Rounded Rectangle 4"/>
          <p:cNvSpPr/>
          <p:nvPr/>
        </p:nvSpPr>
        <p:spPr>
          <a:xfrm>
            <a:off x="6400800" y="4114800"/>
            <a:ext cx="4114800" cy="13716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C8D6E5"/>
                </a:solidFill>
              </a:defRPr>
            </a:pPr>
            <a:r>
              <a:t>💡 Experience Sharing</a:t>
            </a:r>
            <a:br/>
            <a:r>
              <a:t>What worked? What surprised you?</a:t>
            </a:r>
          </a:p>
        </p:txBody>
      </p:sp>
      <p:sp>
        <p:nvSpPr>
          <p:cNvPr id="6" name="TextBox 5"/>
          <p:cNvSpPr txBox="1"/>
          <p:nvPr/>
        </p:nvSpPr>
        <p:spPr>
          <a:xfrm>
            <a:off x="914400" y="5943600"/>
            <a:ext cx="10058400" cy="457200"/>
          </a:xfrm>
          <a:prstGeom prst="rect">
            <a:avLst/>
          </a:prstGeom>
          <a:noFill/>
        </p:spPr>
        <p:txBody>
          <a:bodyPr wrap="square">
            <a:spAutoFit/>
          </a:bodyPr>
          <a:lstStyle/>
          <a:p>
            <a:pPr algn="ctr">
              <a:defRPr sz="1300" b="0">
                <a:solidFill>
                  <a:srgbClr val="64748B"/>
                </a:solidFill>
              </a:defRPr>
            </a:pPr>
            <a:r>
              <a:t>📝 Your feedback shapes the next forum and hands-on workshop content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Key Takeaways</a:t>
            </a:r>
          </a:p>
        </p:txBody>
      </p:sp>
      <p:sp>
        <p:nvSpPr>
          <p:cNvPr id="3" name="Rounded Rectangle 2"/>
          <p:cNvSpPr/>
          <p:nvPr/>
        </p:nvSpPr>
        <p:spPr>
          <a:xfrm>
            <a:off x="457200" y="1188720"/>
            <a:ext cx="3474720" cy="25603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3017520" cy="457200"/>
          </a:xfrm>
          <a:prstGeom prst="rect">
            <a:avLst/>
          </a:prstGeom>
          <a:noFill/>
        </p:spPr>
        <p:txBody>
          <a:bodyPr wrap="square">
            <a:spAutoFit/>
          </a:bodyPr>
          <a:lstStyle/>
          <a:p>
            <a:pPr algn="ctr">
              <a:defRPr sz="1800" b="1">
                <a:solidFill>
                  <a:srgbClr val="E94560"/>
                </a:solidFill>
              </a:defRPr>
            </a:pPr>
            <a:r>
              <a:t>🛠️ Demo</a:t>
            </a:r>
          </a:p>
        </p:txBody>
      </p:sp>
      <p:sp>
        <p:nvSpPr>
          <p:cNvPr id="5" name="TextBox 4"/>
          <p:cNvSpPr txBox="1"/>
          <p:nvPr/>
        </p:nvSpPr>
        <p:spPr>
          <a:xfrm>
            <a:off x="731520" y="1920240"/>
            <a:ext cx="3017520" cy="1645920"/>
          </a:xfrm>
          <a:prstGeom prst="rect">
            <a:avLst/>
          </a:prstGeom>
          <a:noFill/>
        </p:spPr>
        <p:txBody>
          <a:bodyPr wrap="square">
            <a:spAutoFit/>
          </a:bodyPr>
          <a:lstStyle/>
          <a:p>
            <a:pPr algn="ctr">
              <a:defRPr sz="1300" b="0">
                <a:solidFill>
                  <a:srgbClr val="A8B2D1"/>
                </a:solidFill>
              </a:defRPr>
            </a:pPr>
            <a:r>
              <a:t>Describe architecture →</a:t>
            </a:r>
            <a:br/>
            <a:r>
              <a:t>get implementation.</a:t>
            </a:r>
            <a:br/>
            <a:r>
              <a:t>Copilot understands</a:t>
            </a:r>
            <a:br/>
            <a:r>
              <a:t>patterns.</a:t>
            </a:r>
          </a:p>
        </p:txBody>
      </p:sp>
      <p:sp>
        <p:nvSpPr>
          <p:cNvPr id="6" name="Rounded Rectangle 5"/>
          <p:cNvSpPr/>
          <p:nvPr/>
        </p:nvSpPr>
        <p:spPr>
          <a:xfrm>
            <a:off x="4114800" y="1188720"/>
            <a:ext cx="3474720" cy="25603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371600"/>
            <a:ext cx="3017520" cy="457200"/>
          </a:xfrm>
          <a:prstGeom prst="rect">
            <a:avLst/>
          </a:prstGeom>
          <a:noFill/>
        </p:spPr>
        <p:txBody>
          <a:bodyPr wrap="square">
            <a:spAutoFit/>
          </a:bodyPr>
          <a:lstStyle/>
          <a:p>
            <a:pPr algn="ctr">
              <a:defRPr sz="1800" b="1">
                <a:solidFill>
                  <a:srgbClr val="4FACFE"/>
                </a:solidFill>
              </a:defRPr>
            </a:pPr>
            <a:r>
              <a:t>🤖 Multi-Agents</a:t>
            </a:r>
          </a:p>
        </p:txBody>
      </p:sp>
      <p:sp>
        <p:nvSpPr>
          <p:cNvPr id="8" name="TextBox 7"/>
          <p:cNvSpPr txBox="1"/>
          <p:nvPr/>
        </p:nvSpPr>
        <p:spPr>
          <a:xfrm>
            <a:off x="4389120" y="1920240"/>
            <a:ext cx="3017520" cy="1645920"/>
          </a:xfrm>
          <a:prstGeom prst="rect">
            <a:avLst/>
          </a:prstGeom>
          <a:noFill/>
        </p:spPr>
        <p:txBody>
          <a:bodyPr wrap="square">
            <a:spAutoFit/>
          </a:bodyPr>
          <a:lstStyle/>
          <a:p>
            <a:pPr algn="ctr">
              <a:defRPr sz="1300" b="0">
                <a:solidFill>
                  <a:srgbClr val="A8B2D1"/>
                </a:solidFill>
              </a:defRPr>
            </a:pPr>
            <a:r>
              <a:t>Orchestrate, optimize</a:t>
            </a:r>
            <a:br/>
            <a:r>
              <a:t>tokens, share skills.</a:t>
            </a:r>
            <a:br/>
            <a:r>
              <a:t>Industrialize your</a:t>
            </a:r>
            <a:br/>
            <a:r>
              <a:t>AI usage.</a:t>
            </a:r>
          </a:p>
        </p:txBody>
      </p:sp>
      <p:sp>
        <p:nvSpPr>
          <p:cNvPr id="9" name="Rounded Rectangle 8"/>
          <p:cNvSpPr/>
          <p:nvPr/>
        </p:nvSpPr>
        <p:spPr>
          <a:xfrm>
            <a:off x="7772400" y="1188720"/>
            <a:ext cx="3474720" cy="25603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371600"/>
            <a:ext cx="3017520" cy="457200"/>
          </a:xfrm>
          <a:prstGeom prst="rect">
            <a:avLst/>
          </a:prstGeom>
          <a:noFill/>
        </p:spPr>
        <p:txBody>
          <a:bodyPr wrap="square">
            <a:spAutoFit/>
          </a:bodyPr>
          <a:lstStyle/>
          <a:p>
            <a:pPr algn="ctr">
              <a:defRPr sz="1800" b="1">
                <a:solidFill>
                  <a:srgbClr val="2ED573"/>
                </a:solidFill>
              </a:defRPr>
            </a:pPr>
            <a:r>
              <a:t>👥 Team Scale</a:t>
            </a:r>
          </a:p>
        </p:txBody>
      </p:sp>
      <p:sp>
        <p:nvSpPr>
          <p:cNvPr id="11" name="TextBox 10"/>
          <p:cNvSpPr txBox="1"/>
          <p:nvPr/>
        </p:nvSpPr>
        <p:spPr>
          <a:xfrm>
            <a:off x="8046720" y="1920240"/>
            <a:ext cx="3017520" cy="1645920"/>
          </a:xfrm>
          <a:prstGeom prst="rect">
            <a:avLst/>
          </a:prstGeom>
          <a:noFill/>
        </p:spPr>
        <p:txBody>
          <a:bodyPr wrap="square">
            <a:spAutoFit/>
          </a:bodyPr>
          <a:lstStyle/>
          <a:p>
            <a:pPr algn="ctr">
              <a:defRPr sz="1300" b="0">
                <a:solidFill>
                  <a:srgbClr val="A8B2D1"/>
                </a:solidFill>
              </a:defRPr>
            </a:pPr>
            <a:r>
              <a:t>.github/ as collective</a:t>
            </a:r>
            <a:br/>
            <a:r>
              <a:t>tooling. Versioned,</a:t>
            </a:r>
            <a:br/>
            <a:r>
              <a:t>reviewed, shared.</a:t>
            </a:r>
          </a:p>
        </p:txBody>
      </p:sp>
      <p:sp>
        <p:nvSpPr>
          <p:cNvPr id="12" name="Rounded Rectangle 11"/>
          <p:cNvSpPr/>
          <p:nvPr/>
        </p:nvSpPr>
        <p:spPr>
          <a:xfrm>
            <a:off x="457200" y="4389120"/>
            <a:ext cx="10972800" cy="109728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Next: Hands-on workshop — Build YOUR project with Copilot, with guidance</a:t>
            </a:r>
            <a:br/>
            <a:r>
              <a:t>Date to be announced — limited spots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Resources</a:t>
            </a:r>
          </a:p>
        </p:txBody>
      </p:sp>
      <p:sp>
        <p:nvSpPr>
          <p:cNvPr id="3" name="TextBox 2"/>
          <p:cNvSpPr txBox="1"/>
          <p:nvPr/>
        </p:nvSpPr>
        <p:spPr>
          <a:xfrm>
            <a:off x="914400" y="1645920"/>
            <a:ext cx="10058400" cy="3657600"/>
          </a:xfrm>
          <a:prstGeom prst="rect">
            <a:avLst/>
          </a:prstGeom>
          <a:noFill/>
        </p:spPr>
        <p:txBody>
          <a:bodyPr wrap="square">
            <a:spAutoFit/>
          </a:bodyPr>
          <a:lstStyle/>
          <a:p>
            <a:pPr algn="l">
              <a:defRPr sz="1800" b="0">
                <a:solidFill>
                  <a:srgbClr val="C8D6E5"/>
                </a:solidFill>
              </a:defRPr>
            </a:pPr>
            <a:r>
              <a:t>📖  docs.github.com/copilot — Official documentation</a:t>
            </a:r>
          </a:p>
          <a:p>
            <a:pPr algn="l">
              <a:spcBef>
                <a:spcPts val="1600"/>
              </a:spcBef>
              <a:defRPr sz="1800" b="0">
                <a:solidFill>
                  <a:srgbClr val="C8D6E5"/>
                </a:solidFill>
              </a:defRPr>
            </a:pPr>
            <a:r>
              <a:t>🛠️  github.com/features/copilot — Feature overview</a:t>
            </a:r>
          </a:p>
          <a:p>
            <a:pPr algn="l">
              <a:spcBef>
                <a:spcPts val="1600"/>
              </a:spcBef>
              <a:defRPr sz="1800" b="0">
                <a:solidFill>
                  <a:srgbClr val="C8D6E5"/>
                </a:solidFill>
              </a:defRPr>
            </a:pPr>
            <a:r>
              <a:t>📁  Shared .github/ template (internal link)</a:t>
            </a:r>
          </a:p>
          <a:p>
            <a:pPr algn="l">
              <a:spcBef>
                <a:spcPts val="1600"/>
              </a:spcBef>
              <a:defRPr sz="1800" b="0">
                <a:solidFill>
                  <a:srgbClr val="C8D6E5"/>
                </a:solidFill>
              </a:defRPr>
            </a:pPr>
            <a:r>
              <a:t>💬  Teams Community Channel</a:t>
            </a:r>
          </a:p>
          <a:p>
            <a:pPr algn="l">
              <a:spcBef>
                <a:spcPts val="1600"/>
              </a:spcBef>
              <a:defRPr sz="1800" b="0">
                <a:solidFill>
                  <a:srgbClr val="C8D6E5"/>
                </a:solidFill>
              </a:defRPr>
            </a:pPr>
            <a:r>
              <a:t>🎥  Today's session recording (will be shared)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800" b="1">
                <a:solidFill>
                  <a:srgbClr val="FFFFFF"/>
                </a:solidFill>
              </a:defRPr>
            </a:pPr>
            <a:r>
              <a:t>🙏 Thank You!</a:t>
            </a:r>
          </a:p>
        </p:txBody>
      </p:sp>
      <p:sp>
        <p:nvSpPr>
          <p:cNvPr id="3" name="TextBox 2"/>
          <p:cNvSpPr txBox="1"/>
          <p:nvPr/>
        </p:nvSpPr>
        <p:spPr>
          <a:xfrm>
            <a:off x="914400" y="3474720"/>
            <a:ext cx="10058400" cy="914400"/>
          </a:xfrm>
          <a:prstGeom prst="rect">
            <a:avLst/>
          </a:prstGeom>
          <a:noFill/>
        </p:spPr>
        <p:txBody>
          <a:bodyPr wrap="square">
            <a:spAutoFit/>
          </a:bodyPr>
          <a:lstStyle/>
          <a:p>
            <a:pPr algn="ctr">
              <a:defRPr sz="2400" b="0">
                <a:solidFill>
                  <a:srgbClr val="A8B2D1"/>
                </a:solidFill>
              </a:defRPr>
            </a:pPr>
            <a:r>
              <a:t>🚀 Go build something awesome</a:t>
            </a:r>
          </a:p>
        </p:txBody>
      </p:sp>
      <p:sp>
        <p:nvSpPr>
          <p:cNvPr id="4" name="TextBox 3"/>
          <p:cNvSpPr txBox="1"/>
          <p:nvPr/>
        </p:nvSpPr>
        <p:spPr>
          <a:xfrm>
            <a:off x="914400" y="5029200"/>
            <a:ext cx="10058400" cy="457200"/>
          </a:xfrm>
          <a:prstGeom prst="rect">
            <a:avLst/>
          </a:prstGeom>
          <a:noFill/>
        </p:spPr>
        <p:txBody>
          <a:bodyPr wrap="square">
            <a:spAutoFit/>
          </a:bodyPr>
          <a:lstStyle/>
          <a:p>
            <a:pPr algn="ctr">
              <a:defRPr sz="1400" b="0">
                <a:solidFill>
                  <a:srgbClr val="64748B"/>
                </a:solidFill>
              </a:defRPr>
            </a:pPr>
            <a:r>
              <a:t>Share your experiments in the community channel!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Custom Instructions — Deep Dive</a:t>
            </a:r>
          </a:p>
        </p:txBody>
      </p:sp>
      <p:sp>
        <p:nvSpPr>
          <p:cNvPr id="3" name="Rounded Rectangle 2"/>
          <p:cNvSpPr/>
          <p:nvPr/>
        </p:nvSpPr>
        <p:spPr>
          <a:xfrm>
            <a:off x="457200" y="1188720"/>
            <a:ext cx="3474720" cy="2926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3108960" cy="457200"/>
          </a:xfrm>
          <a:prstGeom prst="rect">
            <a:avLst/>
          </a:prstGeom>
          <a:noFill/>
        </p:spPr>
        <p:txBody>
          <a:bodyPr wrap="square">
            <a:spAutoFit/>
          </a:bodyPr>
          <a:lstStyle/>
          <a:p>
            <a:pPr algn="ctr">
              <a:defRPr sz="1700" b="1">
                <a:solidFill>
                  <a:srgbClr val="E94560"/>
                </a:solidFill>
              </a:defRPr>
            </a:pPr>
            <a:r>
              <a:t>🏢 Organization</a:t>
            </a:r>
          </a:p>
        </p:txBody>
      </p:sp>
      <p:sp>
        <p:nvSpPr>
          <p:cNvPr id="5" name="TextBox 4"/>
          <p:cNvSpPr txBox="1"/>
          <p:nvPr/>
        </p:nvSpPr>
        <p:spPr>
          <a:xfrm>
            <a:off x="640080" y="1920240"/>
            <a:ext cx="3108960" cy="914400"/>
          </a:xfrm>
          <a:prstGeom prst="rect">
            <a:avLst/>
          </a:prstGeom>
          <a:noFill/>
        </p:spPr>
        <p:txBody>
          <a:bodyPr wrap="square">
            <a:spAutoFit/>
          </a:bodyPr>
          <a:lstStyle/>
          <a:p>
            <a:pPr algn="ctr">
              <a:defRPr sz="1200" b="0">
                <a:solidFill>
                  <a:srgbClr val="A8B2D1"/>
                </a:solidFill>
              </a:defRPr>
            </a:pPr>
            <a:r>
              <a:t>.github repo de l'org</a:t>
            </a:r>
            <a:br/>
            <a:r>
              <a:t>Appliqué à TOUS les repos</a:t>
            </a:r>
          </a:p>
        </p:txBody>
      </p:sp>
      <p:sp>
        <p:nvSpPr>
          <p:cNvPr id="6" name="TextBox 5"/>
          <p:cNvSpPr txBox="1"/>
          <p:nvPr/>
        </p:nvSpPr>
        <p:spPr>
          <a:xfrm>
            <a:off x="640080" y="2926080"/>
            <a:ext cx="3108960" cy="914400"/>
          </a:xfrm>
          <a:prstGeom prst="rect">
            <a:avLst/>
          </a:prstGeom>
          <a:noFill/>
        </p:spPr>
        <p:txBody>
          <a:bodyPr wrap="square">
            <a:spAutoFit/>
          </a:bodyPr>
          <a:lstStyle/>
          <a:p>
            <a:pPr algn="ctr">
              <a:defRPr sz="1200" b="0">
                <a:solidFill>
                  <a:srgbClr val="C8D6E5"/>
                </a:solidFill>
              </a:defRPr>
            </a:pPr>
            <a:r>
              <a:t>Global conventions,</a:t>
            </a:r>
            <a:br/>
            <a:r>
              <a:t>security rules, shared stack</a:t>
            </a:r>
          </a:p>
        </p:txBody>
      </p:sp>
      <p:sp>
        <p:nvSpPr>
          <p:cNvPr id="7" name="Rounded Rectangle 6"/>
          <p:cNvSpPr/>
          <p:nvPr/>
        </p:nvSpPr>
        <p:spPr>
          <a:xfrm>
            <a:off x="4114800" y="1188720"/>
            <a:ext cx="3474720" cy="29260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7680" y="1371600"/>
            <a:ext cx="3108960" cy="457200"/>
          </a:xfrm>
          <a:prstGeom prst="rect">
            <a:avLst/>
          </a:prstGeom>
          <a:noFill/>
        </p:spPr>
        <p:txBody>
          <a:bodyPr wrap="square">
            <a:spAutoFit/>
          </a:bodyPr>
          <a:lstStyle/>
          <a:p>
            <a:pPr algn="ctr">
              <a:defRPr sz="1700" b="1">
                <a:solidFill>
                  <a:srgbClr val="4FACFE"/>
                </a:solidFill>
              </a:defRPr>
            </a:pPr>
            <a:r>
              <a:t>📁 Repository</a:t>
            </a:r>
          </a:p>
        </p:txBody>
      </p:sp>
      <p:sp>
        <p:nvSpPr>
          <p:cNvPr id="9" name="TextBox 8"/>
          <p:cNvSpPr txBox="1"/>
          <p:nvPr/>
        </p:nvSpPr>
        <p:spPr>
          <a:xfrm>
            <a:off x="4297680" y="1920240"/>
            <a:ext cx="3108960" cy="914400"/>
          </a:xfrm>
          <a:prstGeom prst="rect">
            <a:avLst/>
          </a:prstGeom>
          <a:noFill/>
        </p:spPr>
        <p:txBody>
          <a:bodyPr wrap="square">
            <a:spAutoFit/>
          </a:bodyPr>
          <a:lstStyle/>
          <a:p>
            <a:pPr algn="ctr">
              <a:defRPr sz="1200" b="0">
                <a:solidFill>
                  <a:srgbClr val="A8B2D1"/>
                </a:solidFill>
              </a:defRPr>
            </a:pPr>
            <a:r>
              <a:t>.github/copilot-instructions.md</a:t>
            </a:r>
            <a:br/>
            <a:r>
              <a:t>Dans chaque repo</a:t>
            </a:r>
          </a:p>
        </p:txBody>
      </p:sp>
      <p:sp>
        <p:nvSpPr>
          <p:cNvPr id="10" name="TextBox 9"/>
          <p:cNvSpPr txBox="1"/>
          <p:nvPr/>
        </p:nvSpPr>
        <p:spPr>
          <a:xfrm>
            <a:off x="4297680" y="2926080"/>
            <a:ext cx="3108960" cy="914400"/>
          </a:xfrm>
          <a:prstGeom prst="rect">
            <a:avLst/>
          </a:prstGeom>
          <a:noFill/>
        </p:spPr>
        <p:txBody>
          <a:bodyPr wrap="square">
            <a:spAutoFit/>
          </a:bodyPr>
          <a:lstStyle/>
          <a:p>
            <a:pPr algn="ctr">
              <a:defRPr sz="1200" b="0">
                <a:solidFill>
                  <a:srgbClr val="C8D6E5"/>
                </a:solidFill>
              </a:defRPr>
            </a:pPr>
            <a:r>
              <a:t>Project stack, architecture,</a:t>
            </a:r>
            <a:br/>
            <a:r>
              <a:t>conventions spécifiques</a:t>
            </a:r>
          </a:p>
        </p:txBody>
      </p:sp>
      <p:sp>
        <p:nvSpPr>
          <p:cNvPr id="11" name="Rounded Rectangle 10"/>
          <p:cNvSpPr/>
          <p:nvPr/>
        </p:nvSpPr>
        <p:spPr>
          <a:xfrm>
            <a:off x="7772400" y="1188720"/>
            <a:ext cx="3474720" cy="29260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0" y="1371600"/>
            <a:ext cx="3108960" cy="457200"/>
          </a:xfrm>
          <a:prstGeom prst="rect">
            <a:avLst/>
          </a:prstGeom>
          <a:noFill/>
        </p:spPr>
        <p:txBody>
          <a:bodyPr wrap="square">
            <a:spAutoFit/>
          </a:bodyPr>
          <a:lstStyle/>
          <a:p>
            <a:pPr algn="ctr">
              <a:defRPr sz="1700" b="1">
                <a:solidFill>
                  <a:srgbClr val="2ED573"/>
                </a:solidFill>
              </a:defRPr>
            </a:pPr>
            <a:r>
              <a:t>👤 Personal</a:t>
            </a:r>
          </a:p>
        </p:txBody>
      </p:sp>
      <p:sp>
        <p:nvSpPr>
          <p:cNvPr id="13" name="TextBox 12"/>
          <p:cNvSpPr txBox="1"/>
          <p:nvPr/>
        </p:nvSpPr>
        <p:spPr>
          <a:xfrm>
            <a:off x="7955280" y="1920240"/>
            <a:ext cx="3108960" cy="914400"/>
          </a:xfrm>
          <a:prstGeom prst="rect">
            <a:avLst/>
          </a:prstGeom>
          <a:noFill/>
        </p:spPr>
        <p:txBody>
          <a:bodyPr wrap="square">
            <a:spAutoFit/>
          </a:bodyPr>
          <a:lstStyle/>
          <a:p>
            <a:pPr algn="ctr">
              <a:defRPr sz="1200" b="0">
                <a:solidFill>
                  <a:srgbClr val="A8B2D1"/>
                </a:solidFill>
              </a:defRPr>
            </a:pPr>
            <a:r>
              <a:t>VS Code settings</a:t>
            </a:r>
            <a:br/>
            <a:r>
              <a:t>Préférences individuelles</a:t>
            </a:r>
          </a:p>
        </p:txBody>
      </p:sp>
      <p:sp>
        <p:nvSpPr>
          <p:cNvPr id="14" name="TextBox 13"/>
          <p:cNvSpPr txBox="1"/>
          <p:nvPr/>
        </p:nvSpPr>
        <p:spPr>
          <a:xfrm>
            <a:off x="7955280" y="2926080"/>
            <a:ext cx="3108960" cy="914400"/>
          </a:xfrm>
          <a:prstGeom prst="rect">
            <a:avLst/>
          </a:prstGeom>
          <a:noFill/>
        </p:spPr>
        <p:txBody>
          <a:bodyPr wrap="square">
            <a:spAutoFit/>
          </a:bodyPr>
          <a:lstStyle/>
          <a:p>
            <a:pPr algn="ctr">
              <a:defRPr sz="1200" b="0">
                <a:solidFill>
                  <a:srgbClr val="C8D6E5"/>
                </a:solidFill>
              </a:defRPr>
            </a:pPr>
            <a:r>
              <a:t>Style, language preference,</a:t>
            </a:r>
            <a:br/>
            <a:r>
              <a:t>editor behavior</a:t>
            </a:r>
          </a:p>
        </p:txBody>
      </p:sp>
      <p:sp>
        <p:nvSpPr>
          <p:cNvPr id="15" name="TextBox 14"/>
          <p:cNvSpPr txBox="1"/>
          <p:nvPr/>
        </p:nvSpPr>
        <p:spPr>
          <a:xfrm>
            <a:off x="457200" y="4389120"/>
            <a:ext cx="10972800" cy="365760"/>
          </a:xfrm>
          <a:prstGeom prst="rect">
            <a:avLst/>
          </a:prstGeom>
          <a:noFill/>
        </p:spPr>
        <p:txBody>
          <a:bodyPr wrap="square">
            <a:spAutoFit/>
          </a:bodyPr>
          <a:lstStyle/>
          <a:p>
            <a:pPr algn="ctr">
              <a:defRPr sz="1400" b="0">
                <a:solidFill>
                  <a:srgbClr val="A8B2D1"/>
                </a:solidFill>
              </a:defRPr>
            </a:pPr>
            <a:r>
              <a:t>⬇️ Priority: Org → Repo → Personal (most specific wins)</a:t>
            </a:r>
          </a:p>
        </p:txBody>
      </p:sp>
      <p:sp>
        <p:nvSpPr>
          <p:cNvPr id="16" name="Rounded Rectangle 15"/>
          <p:cNvSpPr/>
          <p:nvPr/>
        </p:nvSpPr>
        <p:spPr>
          <a:xfrm>
            <a:off x="457200" y="5029200"/>
            <a:ext cx="10972800" cy="11887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Best practices:</a:t>
            </a:r>
            <a:br/>
            <a:r>
              <a:t>• Keep instructions concise (&lt;500 lines) — too long = ignored</a:t>
            </a:r>
            <a:br/>
            <a:r>
              <a:t>• Focus on WHAT (conventions), not HOW (implementation details)</a:t>
            </a:r>
            <a:br/>
            <a:r>
              <a:t>• Update via PR — treat as code, review as a team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Prompt Engineering — Techniques</a:t>
            </a:r>
          </a:p>
        </p:txBody>
      </p:sp>
      <p:sp>
        <p:nvSpPr>
          <p:cNvPr id="3" name="TextBox 2"/>
          <p:cNvSpPr txBox="1"/>
          <p:nvPr/>
        </p:nvSpPr>
        <p:spPr>
          <a:xfrm>
            <a:off x="457200" y="1097280"/>
            <a:ext cx="5029200" cy="365760"/>
          </a:xfrm>
          <a:prstGeom prst="rect">
            <a:avLst/>
          </a:prstGeom>
          <a:noFill/>
        </p:spPr>
        <p:txBody>
          <a:bodyPr wrap="square">
            <a:spAutoFit/>
          </a:bodyPr>
          <a:lstStyle/>
          <a:p>
            <a:pPr algn="l">
              <a:defRPr sz="1600" b="1">
                <a:solidFill>
                  <a:srgbClr val="FF6B6B"/>
                </a:solidFill>
              </a:defRPr>
            </a:pPr>
            <a:r>
              <a:t>❌ Vague prompt</a:t>
            </a:r>
          </a:p>
        </p:txBody>
      </p:sp>
      <p:sp>
        <p:nvSpPr>
          <p:cNvPr id="4" name="Rounded Rectangle 3"/>
          <p:cNvSpPr/>
          <p:nvPr/>
        </p:nvSpPr>
        <p:spPr>
          <a:xfrm>
            <a:off x="457200" y="1554480"/>
            <a:ext cx="5029200" cy="109728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FF6B6B"/>
                </a:solidFill>
              </a:defRPr>
            </a:pPr>
            <a:r>
              <a:t>"Fais moi une API de notifications"</a:t>
            </a:r>
          </a:p>
        </p:txBody>
      </p:sp>
      <p:sp>
        <p:nvSpPr>
          <p:cNvPr id="5" name="TextBox 4"/>
          <p:cNvSpPr txBox="1"/>
          <p:nvPr/>
        </p:nvSpPr>
        <p:spPr>
          <a:xfrm>
            <a:off x="6400800" y="1097280"/>
            <a:ext cx="5029200" cy="365760"/>
          </a:xfrm>
          <a:prstGeom prst="rect">
            <a:avLst/>
          </a:prstGeom>
          <a:noFill/>
        </p:spPr>
        <p:txBody>
          <a:bodyPr wrap="square">
            <a:spAutoFit/>
          </a:bodyPr>
          <a:lstStyle/>
          <a:p>
            <a:pPr algn="l">
              <a:defRPr sz="1600" b="1">
                <a:solidFill>
                  <a:srgbClr val="2ED573"/>
                </a:solidFill>
              </a:defRPr>
            </a:pPr>
            <a:r>
              <a:t>✅ Structured prompt</a:t>
            </a:r>
          </a:p>
        </p:txBody>
      </p:sp>
      <p:sp>
        <p:nvSpPr>
          <p:cNvPr id="6" name="Rounded Rectangle 5"/>
          <p:cNvSpPr/>
          <p:nvPr/>
        </p:nvSpPr>
        <p:spPr>
          <a:xfrm>
            <a:off x="6400800" y="1554480"/>
            <a:ext cx="5303520" cy="10972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ED573"/>
                </a:solidFill>
              </a:defRPr>
            </a:pPr>
            <a:r>
              <a:t>"Crée un microservice Node.js TypeScript</a:t>
            </a:r>
            <a:br/>
            <a:r>
              <a:t>avec POST /notifications, GET /health,</a:t>
            </a:r>
            <a:br/>
            <a:r>
              <a:t>queue in-memory, channels email+slack"</a:t>
            </a:r>
          </a:p>
        </p:txBody>
      </p:sp>
      <p:sp>
        <p:nvSpPr>
          <p:cNvPr id="7" name="TextBox 6"/>
          <p:cNvSpPr txBox="1"/>
          <p:nvPr/>
        </p:nvSpPr>
        <p:spPr>
          <a:xfrm>
            <a:off x="457200" y="3017520"/>
            <a:ext cx="10972800" cy="365760"/>
          </a:xfrm>
          <a:prstGeom prst="rect">
            <a:avLst/>
          </a:prstGeom>
          <a:noFill/>
        </p:spPr>
        <p:txBody>
          <a:bodyPr wrap="square">
            <a:spAutoFit/>
          </a:bodyPr>
          <a:lstStyle/>
          <a:p>
            <a:pPr algn="l">
              <a:defRPr sz="1800" b="1">
                <a:solidFill>
                  <a:srgbClr val="FFFFFF"/>
                </a:solidFill>
              </a:defRPr>
            </a:pPr>
            <a:r>
              <a:t>🧰 Techniques essentielles</a:t>
            </a:r>
          </a:p>
        </p:txBody>
      </p:sp>
      <p:sp>
        <p:nvSpPr>
          <p:cNvPr id="8" name="TextBox 7"/>
          <p:cNvSpPr txBox="1"/>
          <p:nvPr/>
        </p:nvSpPr>
        <p:spPr>
          <a:xfrm>
            <a:off x="457200" y="3474720"/>
            <a:ext cx="1828800" cy="365760"/>
          </a:xfrm>
          <a:prstGeom prst="rect">
            <a:avLst/>
          </a:prstGeom>
          <a:noFill/>
        </p:spPr>
        <p:txBody>
          <a:bodyPr wrap="square">
            <a:spAutoFit/>
          </a:bodyPr>
          <a:lstStyle/>
          <a:p>
            <a:pPr algn="l">
              <a:defRPr sz="1300" b="1">
                <a:solidFill>
                  <a:srgbClr val="4FACFE"/>
                </a:solidFill>
              </a:defRPr>
            </a:pPr>
            <a:r>
              <a:t>▸ Structure</a:t>
            </a:r>
          </a:p>
        </p:txBody>
      </p:sp>
      <p:sp>
        <p:nvSpPr>
          <p:cNvPr id="9" name="TextBox 8"/>
          <p:cNvSpPr txBox="1"/>
          <p:nvPr/>
        </p:nvSpPr>
        <p:spPr>
          <a:xfrm>
            <a:off x="2468880" y="3474720"/>
            <a:ext cx="9144000" cy="365760"/>
          </a:xfrm>
          <a:prstGeom prst="rect">
            <a:avLst/>
          </a:prstGeom>
          <a:noFill/>
        </p:spPr>
        <p:txBody>
          <a:bodyPr wrap="square">
            <a:spAutoFit/>
          </a:bodyPr>
          <a:lstStyle/>
          <a:p>
            <a:pPr algn="l">
              <a:defRPr sz="1300" b="0">
                <a:solidFill>
                  <a:srgbClr val="C8D6E5"/>
                </a:solidFill>
              </a:defRPr>
            </a:pPr>
            <a:r>
              <a:t>Utiliser des bullet points, pas des paragraphes. Un point = un besoin.</a:t>
            </a:r>
          </a:p>
        </p:txBody>
      </p:sp>
      <p:sp>
        <p:nvSpPr>
          <p:cNvPr id="10" name="TextBox 9"/>
          <p:cNvSpPr txBox="1"/>
          <p:nvPr/>
        </p:nvSpPr>
        <p:spPr>
          <a:xfrm>
            <a:off x="457200" y="3950208"/>
            <a:ext cx="1828800" cy="365760"/>
          </a:xfrm>
          <a:prstGeom prst="rect">
            <a:avLst/>
          </a:prstGeom>
          <a:noFill/>
        </p:spPr>
        <p:txBody>
          <a:bodyPr wrap="square">
            <a:spAutoFit/>
          </a:bodyPr>
          <a:lstStyle/>
          <a:p>
            <a:pPr algn="l">
              <a:defRPr sz="1300" b="1">
                <a:solidFill>
                  <a:srgbClr val="4FACFE"/>
                </a:solidFill>
              </a:defRPr>
            </a:pPr>
            <a:r>
              <a:t>▸ Contexte</a:t>
            </a:r>
          </a:p>
        </p:txBody>
      </p:sp>
      <p:sp>
        <p:nvSpPr>
          <p:cNvPr id="11" name="TextBox 10"/>
          <p:cNvSpPr txBox="1"/>
          <p:nvPr/>
        </p:nvSpPr>
        <p:spPr>
          <a:xfrm>
            <a:off x="2468880" y="3950208"/>
            <a:ext cx="9144000" cy="365760"/>
          </a:xfrm>
          <a:prstGeom prst="rect">
            <a:avLst/>
          </a:prstGeom>
          <a:noFill/>
        </p:spPr>
        <p:txBody>
          <a:bodyPr wrap="square">
            <a:spAutoFit/>
          </a:bodyPr>
          <a:lstStyle/>
          <a:p>
            <a:pPr algn="l">
              <a:defRPr sz="1300" b="0">
                <a:solidFill>
                  <a:srgbClr val="C8D6E5"/>
                </a:solidFill>
              </a:defRPr>
            </a:pPr>
            <a:r>
              <a:t>Préciser le stack, le style, les contraintes AVANT la demande.</a:t>
            </a:r>
          </a:p>
        </p:txBody>
      </p:sp>
      <p:sp>
        <p:nvSpPr>
          <p:cNvPr id="12" name="TextBox 11"/>
          <p:cNvSpPr txBox="1"/>
          <p:nvPr/>
        </p:nvSpPr>
        <p:spPr>
          <a:xfrm>
            <a:off x="457200" y="4425696"/>
            <a:ext cx="1828800" cy="365760"/>
          </a:xfrm>
          <a:prstGeom prst="rect">
            <a:avLst/>
          </a:prstGeom>
          <a:noFill/>
        </p:spPr>
        <p:txBody>
          <a:bodyPr wrap="square">
            <a:spAutoFit/>
          </a:bodyPr>
          <a:lstStyle/>
          <a:p>
            <a:pPr algn="l">
              <a:defRPr sz="1300" b="1">
                <a:solidFill>
                  <a:srgbClr val="4FACFE"/>
                </a:solidFill>
              </a:defRPr>
            </a:pPr>
            <a:r>
              <a:t>▸ Scope</a:t>
            </a:r>
          </a:p>
        </p:txBody>
      </p:sp>
      <p:sp>
        <p:nvSpPr>
          <p:cNvPr id="13" name="TextBox 12"/>
          <p:cNvSpPr txBox="1"/>
          <p:nvPr/>
        </p:nvSpPr>
        <p:spPr>
          <a:xfrm>
            <a:off x="2468880" y="4425696"/>
            <a:ext cx="9144000" cy="365760"/>
          </a:xfrm>
          <a:prstGeom prst="rect">
            <a:avLst/>
          </a:prstGeom>
          <a:noFill/>
        </p:spPr>
        <p:txBody>
          <a:bodyPr wrap="square">
            <a:spAutoFit/>
          </a:bodyPr>
          <a:lstStyle/>
          <a:p>
            <a:pPr algn="l">
              <a:defRPr sz="1300" b="0">
                <a:solidFill>
                  <a:srgbClr val="C8D6E5"/>
                </a:solidFill>
              </a:defRPr>
            </a:pPr>
            <a:r>
              <a:t>1 prompt = 1 tâche claire. Décomposer les demandes complexes.</a:t>
            </a:r>
          </a:p>
        </p:txBody>
      </p:sp>
      <p:sp>
        <p:nvSpPr>
          <p:cNvPr id="14" name="TextBox 13"/>
          <p:cNvSpPr txBox="1"/>
          <p:nvPr/>
        </p:nvSpPr>
        <p:spPr>
          <a:xfrm>
            <a:off x="457200" y="4901183"/>
            <a:ext cx="1828800" cy="365760"/>
          </a:xfrm>
          <a:prstGeom prst="rect">
            <a:avLst/>
          </a:prstGeom>
          <a:noFill/>
        </p:spPr>
        <p:txBody>
          <a:bodyPr wrap="square">
            <a:spAutoFit/>
          </a:bodyPr>
          <a:lstStyle/>
          <a:p>
            <a:pPr algn="l">
              <a:defRPr sz="1300" b="1">
                <a:solidFill>
                  <a:srgbClr val="4FACFE"/>
                </a:solidFill>
              </a:defRPr>
            </a:pPr>
            <a:r>
              <a:t>▸ Exemples</a:t>
            </a:r>
          </a:p>
        </p:txBody>
      </p:sp>
      <p:sp>
        <p:nvSpPr>
          <p:cNvPr id="15" name="TextBox 14"/>
          <p:cNvSpPr txBox="1"/>
          <p:nvPr/>
        </p:nvSpPr>
        <p:spPr>
          <a:xfrm>
            <a:off x="2468880" y="4901183"/>
            <a:ext cx="9144000" cy="365760"/>
          </a:xfrm>
          <a:prstGeom prst="rect">
            <a:avLst/>
          </a:prstGeom>
          <a:noFill/>
        </p:spPr>
        <p:txBody>
          <a:bodyPr wrap="square">
            <a:spAutoFit/>
          </a:bodyPr>
          <a:lstStyle/>
          <a:p>
            <a:pPr algn="l">
              <a:defRPr sz="1300" b="0">
                <a:solidFill>
                  <a:srgbClr val="C8D6E5"/>
                </a:solidFill>
              </a:defRPr>
            </a:pPr>
            <a:r>
              <a:t>Donner un exemple du résultat attendu : "comme ceci : {...}"</a:t>
            </a:r>
          </a:p>
        </p:txBody>
      </p:sp>
      <p:sp>
        <p:nvSpPr>
          <p:cNvPr id="16" name="TextBox 15"/>
          <p:cNvSpPr txBox="1"/>
          <p:nvPr/>
        </p:nvSpPr>
        <p:spPr>
          <a:xfrm>
            <a:off x="457200" y="5376671"/>
            <a:ext cx="1828800" cy="365760"/>
          </a:xfrm>
          <a:prstGeom prst="rect">
            <a:avLst/>
          </a:prstGeom>
          <a:noFill/>
        </p:spPr>
        <p:txBody>
          <a:bodyPr wrap="square">
            <a:spAutoFit/>
          </a:bodyPr>
          <a:lstStyle/>
          <a:p>
            <a:pPr algn="l">
              <a:defRPr sz="1300" b="1">
                <a:solidFill>
                  <a:srgbClr val="4FACFE"/>
                </a:solidFill>
              </a:defRPr>
            </a:pPr>
            <a:r>
              <a:t>▸ Contraintes</a:t>
            </a:r>
          </a:p>
        </p:txBody>
      </p:sp>
      <p:sp>
        <p:nvSpPr>
          <p:cNvPr id="17" name="TextBox 16"/>
          <p:cNvSpPr txBox="1"/>
          <p:nvPr/>
        </p:nvSpPr>
        <p:spPr>
          <a:xfrm>
            <a:off x="2468880" y="5376671"/>
            <a:ext cx="9144000" cy="365760"/>
          </a:xfrm>
          <a:prstGeom prst="rect">
            <a:avLst/>
          </a:prstGeom>
          <a:noFill/>
        </p:spPr>
        <p:txBody>
          <a:bodyPr wrap="square">
            <a:spAutoFit/>
          </a:bodyPr>
          <a:lstStyle/>
          <a:p>
            <a:pPr algn="l">
              <a:defRPr sz="1300" b="0">
                <a:solidFill>
                  <a:srgbClr val="C8D6E5"/>
                </a:solidFill>
              </a:defRPr>
            </a:pPr>
            <a:r>
              <a:t>Dire ce que vous NE voulez PAS : "sans base de données", "pas de classes"</a:t>
            </a:r>
          </a:p>
        </p:txBody>
      </p:sp>
      <p:sp>
        <p:nvSpPr>
          <p:cNvPr id="18" name="TextBox 17"/>
          <p:cNvSpPr txBox="1"/>
          <p:nvPr/>
        </p:nvSpPr>
        <p:spPr>
          <a:xfrm>
            <a:off x="457200" y="5852159"/>
            <a:ext cx="1828800" cy="365760"/>
          </a:xfrm>
          <a:prstGeom prst="rect">
            <a:avLst/>
          </a:prstGeom>
          <a:noFill/>
        </p:spPr>
        <p:txBody>
          <a:bodyPr wrap="square">
            <a:spAutoFit/>
          </a:bodyPr>
          <a:lstStyle/>
          <a:p>
            <a:pPr algn="l">
              <a:defRPr sz="1300" b="1">
                <a:solidFill>
                  <a:srgbClr val="4FACFE"/>
                </a:solidFill>
              </a:defRPr>
            </a:pPr>
            <a:r>
              <a:t>▸ Itération</a:t>
            </a:r>
          </a:p>
        </p:txBody>
      </p:sp>
      <p:sp>
        <p:nvSpPr>
          <p:cNvPr id="19" name="TextBox 18"/>
          <p:cNvSpPr txBox="1"/>
          <p:nvPr/>
        </p:nvSpPr>
        <p:spPr>
          <a:xfrm>
            <a:off x="2468880" y="5852159"/>
            <a:ext cx="9144000" cy="365760"/>
          </a:xfrm>
          <a:prstGeom prst="rect">
            <a:avLst/>
          </a:prstGeom>
          <a:noFill/>
        </p:spPr>
        <p:txBody>
          <a:bodyPr wrap="square">
            <a:spAutoFit/>
          </a:bodyPr>
          <a:lstStyle/>
          <a:p>
            <a:pPr algn="l">
              <a:defRPr sz="1300" b="0">
                <a:solidFill>
                  <a:srgbClr val="C8D6E5"/>
                </a:solidFill>
              </a:defRPr>
            </a:pPr>
            <a:r>
              <a:t>Si le résultat est 80% bon, affiner : "Modifie X pour qu'il fasse 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Prompt Templates — Reusable Patterns</a:t>
            </a:r>
          </a:p>
        </p:txBody>
      </p:sp>
      <p:sp>
        <p:nvSpPr>
          <p:cNvPr id="3" name="Rounded Rectangle 2"/>
          <p:cNvSpPr/>
          <p:nvPr/>
        </p:nvSpPr>
        <p:spPr>
          <a:xfrm>
            <a:off x="457200" y="1188720"/>
            <a:ext cx="4572000" cy="27432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4114800" cy="2560320"/>
          </a:xfrm>
          <a:prstGeom prst="rect">
            <a:avLst/>
          </a:prstGeom>
          <a:noFill/>
        </p:spPr>
        <p:txBody>
          <a:bodyPr wrap="square">
            <a:spAutoFit/>
          </a:bodyPr>
          <a:lstStyle/>
          <a:p>
            <a:pPr algn="l">
              <a:defRPr sz="1400" b="1">
                <a:solidFill>
                  <a:srgbClr val="FFC107"/>
                </a:solidFill>
              </a:defRPr>
            </a:pPr>
            <a:r>
              <a:t>.github/prompts/</a:t>
            </a:r>
          </a:p>
          <a:p>
            <a:pPr algn="l">
              <a:spcBef>
                <a:spcPts val="600"/>
              </a:spcBef>
              <a:defRPr sz="1300" b="0">
                <a:solidFill>
                  <a:srgbClr val="C8D6E5"/>
                </a:solidFill>
              </a:defRPr>
            </a:pPr>
            <a:r>
              <a:t>├── create-api.prompt.md</a:t>
            </a:r>
          </a:p>
          <a:p>
            <a:pPr algn="l">
              <a:spcBef>
                <a:spcPts val="600"/>
              </a:spcBef>
              <a:defRPr sz="1300" b="0">
                <a:solidFill>
                  <a:srgbClr val="C8D6E5"/>
                </a:solidFill>
              </a:defRPr>
            </a:pPr>
            <a:r>
              <a:t>├── add-tests.prompt.md</a:t>
            </a:r>
          </a:p>
          <a:p>
            <a:pPr algn="l">
              <a:spcBef>
                <a:spcPts val="600"/>
              </a:spcBef>
              <a:defRPr sz="1300" b="0">
                <a:solidFill>
                  <a:srgbClr val="C8D6E5"/>
                </a:solidFill>
              </a:defRPr>
            </a:pPr>
            <a:r>
              <a:t>├── refactor-module.prompt.md</a:t>
            </a:r>
          </a:p>
          <a:p>
            <a:pPr algn="l">
              <a:spcBef>
                <a:spcPts val="600"/>
              </a:spcBef>
              <a:defRPr sz="1300" b="0">
                <a:solidFill>
                  <a:srgbClr val="C8D6E5"/>
                </a:solidFill>
              </a:defRPr>
            </a:pPr>
            <a:r>
              <a:t>├── code-review.prompt.md</a:t>
            </a:r>
          </a:p>
          <a:p>
            <a:pPr algn="l">
              <a:spcBef>
                <a:spcPts val="600"/>
              </a:spcBef>
              <a:defRPr sz="1300" b="0">
                <a:solidFill>
                  <a:srgbClr val="C8D6E5"/>
                </a:solidFill>
              </a:defRPr>
            </a:pPr>
            <a:r>
              <a:t>├── fix-bug.prompt.md</a:t>
            </a:r>
          </a:p>
          <a:p>
            <a:pPr algn="l">
              <a:spcBef>
                <a:spcPts val="600"/>
              </a:spcBef>
              <a:defRPr sz="1300" b="0">
                <a:solidFill>
                  <a:srgbClr val="C8D6E5"/>
                </a:solidFill>
              </a:defRPr>
            </a:pPr>
            <a:r>
              <a:t>└── create-docs.prompt.md</a:t>
            </a:r>
          </a:p>
        </p:txBody>
      </p:sp>
      <p:sp>
        <p:nvSpPr>
          <p:cNvPr id="5" name="TextBox 4"/>
          <p:cNvSpPr txBox="1"/>
          <p:nvPr/>
        </p:nvSpPr>
        <p:spPr>
          <a:xfrm>
            <a:off x="5486400" y="1097280"/>
            <a:ext cx="5943600" cy="365760"/>
          </a:xfrm>
          <a:prstGeom prst="rect">
            <a:avLst/>
          </a:prstGeom>
          <a:noFill/>
        </p:spPr>
        <p:txBody>
          <a:bodyPr wrap="square">
            <a:spAutoFit/>
          </a:bodyPr>
          <a:lstStyle/>
          <a:p>
            <a:pPr algn="l">
              <a:defRPr sz="1400" b="1">
                <a:solidFill>
                  <a:srgbClr val="A8B2D1"/>
                </a:solidFill>
              </a:defRPr>
            </a:pPr>
            <a:r>
              <a:t>Exemple : create-api.prompt.md</a:t>
            </a:r>
          </a:p>
        </p:txBody>
      </p:sp>
      <p:sp>
        <p:nvSpPr>
          <p:cNvPr id="6" name="Rounded Rectangle 5"/>
          <p:cNvSpPr/>
          <p:nvPr/>
        </p:nvSpPr>
        <p:spPr>
          <a:xfrm>
            <a:off x="5486400" y="1554480"/>
            <a:ext cx="5943600" cy="237744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0" y="1737360"/>
            <a:ext cx="5669280" cy="2103120"/>
          </a:xfrm>
          <a:prstGeom prst="rect">
            <a:avLst/>
          </a:prstGeom>
          <a:noFill/>
        </p:spPr>
        <p:txBody>
          <a:bodyPr wrap="square">
            <a:spAutoFit/>
          </a:bodyPr>
          <a:lstStyle/>
          <a:p>
            <a:pPr algn="l">
              <a:defRPr sz="1100" b="0">
                <a:solidFill>
                  <a:srgbClr val="64748B"/>
                </a:solidFill>
              </a:defRPr>
            </a:pPr>
            <a:r>
              <a:t>---</a:t>
            </a:r>
          </a:p>
          <a:p>
            <a:pPr algn="l">
              <a:spcBef>
                <a:spcPts val="600"/>
              </a:spcBef>
              <a:defRPr sz="1100" b="0">
                <a:solidFill>
                  <a:srgbClr val="FFC107"/>
                </a:solidFill>
              </a:defRPr>
            </a:pPr>
            <a:r>
              <a:t>name: create-api</a:t>
            </a:r>
          </a:p>
          <a:p>
            <a:pPr algn="l">
              <a:spcBef>
                <a:spcPts val="600"/>
              </a:spcBef>
              <a:defRPr sz="1100" b="0">
                <a:solidFill>
                  <a:srgbClr val="FFC107"/>
                </a:solidFill>
              </a:defRPr>
            </a:pPr>
            <a:r>
              <a:t>description: Créer un endpoint REST</a:t>
            </a:r>
          </a:p>
          <a:p>
            <a:pPr algn="l">
              <a:spcBef>
                <a:spcPts val="600"/>
              </a:spcBef>
              <a:defRPr sz="1100" b="0">
                <a:solidFill>
                  <a:srgbClr val="64748B"/>
                </a:solidFill>
              </a:defRPr>
            </a:pPr>
            <a:r>
              <a:t>---</a:t>
            </a:r>
          </a:p>
          <a:p>
            <a:pPr algn="l">
              <a:spcBef>
                <a:spcPts val="600"/>
              </a:spcBef>
              <a:defRPr sz="600" b="0">
                <a:solidFill>
                  <a:srgbClr val="C8D6E5"/>
                </a:solidFill>
              </a:defRPr>
            </a:pPr>
          </a:p>
          <a:p>
            <a:pPr algn="l">
              <a:spcBef>
                <a:spcPts val="600"/>
              </a:spcBef>
              <a:defRPr sz="1100" b="0">
                <a:solidFill>
                  <a:srgbClr val="7EE787"/>
                </a:solidFill>
              </a:defRPr>
            </a:pPr>
            <a:r>
              <a:t>Crée un endpoint dans src/routes/ :</a:t>
            </a:r>
          </a:p>
          <a:p>
            <a:pPr algn="l">
              <a:spcBef>
                <a:spcPts val="600"/>
              </a:spcBef>
              <a:defRPr sz="1100" b="0">
                <a:solidFill>
                  <a:srgbClr val="7EE787"/>
                </a:solidFill>
              </a:defRPr>
            </a:pPr>
            <a:r>
              <a:t>• Validation inputs (400 si invalide)</a:t>
            </a:r>
          </a:p>
          <a:p>
            <a:pPr algn="l">
              <a:spcBef>
                <a:spcPts val="600"/>
              </a:spcBef>
              <a:defRPr sz="1100" b="0">
                <a:solidFill>
                  <a:srgbClr val="7EE787"/>
                </a:solidFill>
              </a:defRPr>
            </a:pPr>
            <a:r>
              <a:t>• Logs structurés + correlationId</a:t>
            </a:r>
          </a:p>
          <a:p>
            <a:pPr algn="l">
              <a:spcBef>
                <a:spcPts val="600"/>
              </a:spcBef>
              <a:defRPr sz="1100" b="0">
                <a:solidFill>
                  <a:srgbClr val="7EE787"/>
                </a:solidFill>
              </a:defRPr>
            </a:pPr>
            <a:r>
              <a:t>• Tests dans tests/</a:t>
            </a:r>
          </a:p>
        </p:txBody>
      </p:sp>
      <p:sp>
        <p:nvSpPr>
          <p:cNvPr id="8" name="TextBox 7"/>
          <p:cNvSpPr txBox="1"/>
          <p:nvPr/>
        </p:nvSpPr>
        <p:spPr>
          <a:xfrm>
            <a:off x="457200" y="4297680"/>
            <a:ext cx="10972800" cy="365760"/>
          </a:xfrm>
          <a:prstGeom prst="rect">
            <a:avLst/>
          </a:prstGeom>
          <a:noFill/>
        </p:spPr>
        <p:txBody>
          <a:bodyPr wrap="square">
            <a:spAutoFit/>
          </a:bodyPr>
          <a:lstStyle/>
          <a:p>
            <a:pPr algn="ctr">
              <a:defRPr sz="1400" b="0">
                <a:solidFill>
                  <a:srgbClr val="A8B2D1"/>
                </a:solidFill>
              </a:defRPr>
            </a:pPr>
            <a:r>
              <a:t>🚀 Usage : dans le chat Copilot, tapez / puis sélectionnez votre template</a:t>
            </a:r>
          </a:p>
        </p:txBody>
      </p:sp>
      <p:sp>
        <p:nvSpPr>
          <p:cNvPr id="9" name="Rounded Rectangle 8"/>
          <p:cNvSpPr/>
          <p:nvPr/>
        </p:nvSpPr>
        <p:spPr>
          <a:xfrm>
            <a:off x="457200" y="4846320"/>
            <a:ext cx="10972800" cy="137160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Avantages:</a:t>
            </a:r>
            <a:br/>
            <a:r>
              <a:t>• Pas besoin de reformuler → gain de temps + tokens</a:t>
            </a:r>
            <a:br/>
            <a:r>
              <a:t>• Versionnés dans Git → toute l'équipe en bénéficie</a:t>
            </a:r>
            <a:br/>
            <a:r>
              <a:t>• Standardisation → même qualité de résultat pour tous</a:t>
            </a:r>
            <a:br/>
            <a:r>
              <a:t>• Combinables avec les variables : {{filename}}, {{module}}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Custom Agents — Build Your Own</a:t>
            </a:r>
          </a:p>
        </p:txBody>
      </p:sp>
      <p:sp>
        <p:nvSpPr>
          <p:cNvPr id="3" name="TextBox 2"/>
          <p:cNvSpPr txBox="1"/>
          <p:nvPr/>
        </p:nvSpPr>
        <p:spPr>
          <a:xfrm>
            <a:off x="457200" y="1097280"/>
            <a:ext cx="10972800" cy="365760"/>
          </a:xfrm>
          <a:prstGeom prst="rect">
            <a:avLst/>
          </a:prstGeom>
          <a:noFill/>
        </p:spPr>
        <p:txBody>
          <a:bodyPr wrap="square">
            <a:spAutoFit/>
          </a:bodyPr>
          <a:lstStyle/>
          <a:p>
            <a:pPr algn="ctr">
              <a:defRPr sz="1500" b="0">
                <a:solidFill>
                  <a:srgbClr val="A8B2D1"/>
                </a:solidFill>
              </a:defRPr>
            </a:pPr>
            <a:r>
              <a:t>Un agent custom = un "expert spécialisé" que vous créez pour votre équipe</a:t>
            </a:r>
          </a:p>
        </p:txBody>
      </p:sp>
      <p:sp>
        <p:nvSpPr>
          <p:cNvPr id="4" name="Rounded Rectangle 3"/>
          <p:cNvSpPr/>
          <p:nvPr/>
        </p:nvSpPr>
        <p:spPr>
          <a:xfrm>
            <a:off x="457200" y="1645920"/>
            <a:ext cx="5029200" cy="3200400"/>
          </a:xfrm>
          <a:prstGeom prst="roundRect">
            <a:avLst/>
          </a:prstGeom>
          <a:solidFill>
            <a:srgbClr val="16213E"/>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4572000" cy="365760"/>
          </a:xfrm>
          <a:prstGeom prst="rect">
            <a:avLst/>
          </a:prstGeom>
          <a:noFill/>
        </p:spPr>
        <p:txBody>
          <a:bodyPr wrap="square">
            <a:spAutoFit/>
          </a:bodyPr>
          <a:lstStyle/>
          <a:p>
            <a:pPr algn="l">
              <a:defRPr sz="1600" b="1">
                <a:solidFill>
                  <a:srgbClr val="A55EEA"/>
                </a:solidFill>
              </a:defRPr>
            </a:pPr>
            <a:r>
              <a:t>🧬 Anatomie d'un Agent</a:t>
            </a:r>
          </a:p>
        </p:txBody>
      </p:sp>
      <p:sp>
        <p:nvSpPr>
          <p:cNvPr id="6" name="TextBox 5"/>
          <p:cNvSpPr txBox="1"/>
          <p:nvPr/>
        </p:nvSpPr>
        <p:spPr>
          <a:xfrm>
            <a:off x="731520" y="2194560"/>
            <a:ext cx="4572000" cy="2560320"/>
          </a:xfrm>
          <a:prstGeom prst="rect">
            <a:avLst/>
          </a:prstGeom>
          <a:noFill/>
        </p:spPr>
        <p:txBody>
          <a:bodyPr wrap="square">
            <a:spAutoFit/>
          </a:bodyPr>
          <a:lstStyle/>
          <a:p>
            <a:pPr algn="l">
              <a:defRPr sz="1300" b="1">
                <a:solidFill>
                  <a:srgbClr val="FFFFFF"/>
                </a:solidFill>
              </a:defRPr>
            </a:pPr>
            <a:r>
              <a:t>📝 Instructions</a:t>
            </a:r>
          </a:p>
          <a:p>
            <a:pPr algn="l">
              <a:spcBef>
                <a:spcPts val="600"/>
              </a:spcBef>
              <a:defRPr sz="1100" b="0">
                <a:solidFill>
                  <a:srgbClr val="A8B2D1"/>
                </a:solidFill>
              </a:defRPr>
            </a:pPr>
            <a:r>
              <a:t>   Personnalité, expertise, style de réponse</a:t>
            </a:r>
          </a:p>
          <a:p>
            <a:pPr algn="l">
              <a:spcBef>
                <a:spcPts val="600"/>
              </a:spcBef>
              <a:defRPr sz="600" b="0">
                <a:solidFill>
                  <a:srgbClr val="C8D6E5"/>
                </a:solidFill>
              </a:defRPr>
            </a:pPr>
          </a:p>
          <a:p>
            <a:pPr algn="l">
              <a:spcBef>
                <a:spcPts val="600"/>
              </a:spcBef>
              <a:defRPr sz="1300" b="1">
                <a:solidFill>
                  <a:srgbClr val="FFFFFF"/>
                </a:solidFill>
              </a:defRPr>
            </a:pPr>
            <a:r>
              <a:t>🔧 Tools / Skills</a:t>
            </a:r>
          </a:p>
          <a:p>
            <a:pPr algn="l">
              <a:spcBef>
                <a:spcPts val="600"/>
              </a:spcBef>
              <a:defRPr sz="1100" b="0">
                <a:solidFill>
                  <a:srgbClr val="A8B2D1"/>
                </a:solidFill>
              </a:defRPr>
            </a:pPr>
            <a:r>
              <a:t>   APIs, CLI, fichiers qu'il peut utiliser</a:t>
            </a:r>
          </a:p>
          <a:p>
            <a:pPr algn="l">
              <a:spcBef>
                <a:spcPts val="600"/>
              </a:spcBef>
              <a:defRPr sz="600" b="0">
                <a:solidFill>
                  <a:srgbClr val="C8D6E5"/>
                </a:solidFill>
              </a:defRPr>
            </a:pPr>
          </a:p>
          <a:p>
            <a:pPr algn="l">
              <a:spcBef>
                <a:spcPts val="600"/>
              </a:spcBef>
              <a:defRPr sz="1300" b="1">
                <a:solidFill>
                  <a:srgbClr val="FFFFFF"/>
                </a:solidFill>
              </a:defRPr>
            </a:pPr>
            <a:r>
              <a:t>📚 Knowledge</a:t>
            </a:r>
          </a:p>
          <a:p>
            <a:pPr algn="l">
              <a:spcBef>
                <a:spcPts val="600"/>
              </a:spcBef>
              <a:defRPr sz="1100" b="0">
                <a:solidFill>
                  <a:srgbClr val="A8B2D1"/>
                </a:solidFill>
              </a:defRPr>
            </a:pPr>
            <a:r>
              <a:t>   Documentation, patterns, exemples</a:t>
            </a:r>
          </a:p>
          <a:p>
            <a:pPr algn="l">
              <a:spcBef>
                <a:spcPts val="600"/>
              </a:spcBef>
              <a:defRPr sz="600" b="0">
                <a:solidFill>
                  <a:srgbClr val="C8D6E5"/>
                </a:solidFill>
              </a:defRPr>
            </a:pPr>
          </a:p>
          <a:p>
            <a:pPr algn="l">
              <a:spcBef>
                <a:spcPts val="600"/>
              </a:spcBef>
              <a:defRPr sz="1300" b="1">
                <a:solidFill>
                  <a:srgbClr val="FFFFFF"/>
                </a:solidFill>
              </a:defRPr>
            </a:pPr>
            <a:r>
              <a:t>🎯 Trigger</a:t>
            </a:r>
          </a:p>
          <a:p>
            <a:pPr algn="l">
              <a:spcBef>
                <a:spcPts val="600"/>
              </a:spcBef>
              <a:defRPr sz="1100" b="0">
                <a:solidFill>
                  <a:srgbClr val="A8B2D1"/>
                </a:solidFill>
              </a:defRPr>
            </a:pPr>
            <a:r>
              <a:t>   Quand il se déclenche (@agent-name)</a:t>
            </a:r>
          </a:p>
        </p:txBody>
      </p:sp>
      <p:sp>
        <p:nvSpPr>
          <p:cNvPr id="7" name="TextBox 6"/>
          <p:cNvSpPr txBox="1"/>
          <p:nvPr/>
        </p:nvSpPr>
        <p:spPr>
          <a:xfrm>
            <a:off x="5943600" y="1737360"/>
            <a:ext cx="5486400" cy="365760"/>
          </a:xfrm>
          <a:prstGeom prst="rect">
            <a:avLst/>
          </a:prstGeom>
          <a:noFill/>
        </p:spPr>
        <p:txBody>
          <a:bodyPr wrap="square">
            <a:spAutoFit/>
          </a:bodyPr>
          <a:lstStyle/>
          <a:p>
            <a:pPr algn="l">
              <a:defRPr sz="1600" b="1">
                <a:solidFill>
                  <a:srgbClr val="FFC107"/>
                </a:solidFill>
              </a:defRPr>
            </a:pPr>
            <a:r>
              <a:t>💡 Exemples pour Orange</a:t>
            </a:r>
          </a:p>
        </p:txBody>
      </p:sp>
      <p:sp>
        <p:nvSpPr>
          <p:cNvPr id="8" name="TextBox 7"/>
          <p:cNvSpPr txBox="1"/>
          <p:nvPr/>
        </p:nvSpPr>
        <p:spPr>
          <a:xfrm>
            <a:off x="5943600" y="2194560"/>
            <a:ext cx="2286000" cy="320040"/>
          </a:xfrm>
          <a:prstGeom prst="rect">
            <a:avLst/>
          </a:prstGeom>
          <a:noFill/>
        </p:spPr>
        <p:txBody>
          <a:bodyPr wrap="square">
            <a:spAutoFit/>
          </a:bodyPr>
          <a:lstStyle/>
          <a:p>
            <a:pPr algn="l">
              <a:defRPr sz="1200" b="1">
                <a:solidFill>
                  <a:srgbClr val="2ED573"/>
                </a:solidFill>
              </a:defRPr>
            </a:pPr>
            <a:r>
              <a:t>@api-reviewer</a:t>
            </a:r>
          </a:p>
        </p:txBody>
      </p:sp>
      <p:sp>
        <p:nvSpPr>
          <p:cNvPr id="9" name="TextBox 8"/>
          <p:cNvSpPr txBox="1"/>
          <p:nvPr/>
        </p:nvSpPr>
        <p:spPr>
          <a:xfrm>
            <a:off x="8412480" y="2194560"/>
            <a:ext cx="3200400" cy="320040"/>
          </a:xfrm>
          <a:prstGeom prst="rect">
            <a:avLst/>
          </a:prstGeom>
          <a:noFill/>
        </p:spPr>
        <p:txBody>
          <a:bodyPr wrap="square">
            <a:spAutoFit/>
          </a:bodyPr>
          <a:lstStyle/>
          <a:p>
            <a:pPr algn="l">
              <a:defRPr sz="1100" b="0">
                <a:solidFill>
                  <a:srgbClr val="A8B2D1"/>
                </a:solidFill>
              </a:defRPr>
            </a:pPr>
            <a:r>
              <a:t>Review les endpoints selon nos standards REST</a:t>
            </a:r>
          </a:p>
        </p:txBody>
      </p:sp>
      <p:sp>
        <p:nvSpPr>
          <p:cNvPr id="10" name="TextBox 9"/>
          <p:cNvSpPr txBox="1"/>
          <p:nvPr/>
        </p:nvSpPr>
        <p:spPr>
          <a:xfrm>
            <a:off x="5943600" y="2560320"/>
            <a:ext cx="2286000" cy="320040"/>
          </a:xfrm>
          <a:prstGeom prst="rect">
            <a:avLst/>
          </a:prstGeom>
          <a:noFill/>
        </p:spPr>
        <p:txBody>
          <a:bodyPr wrap="square">
            <a:spAutoFit/>
          </a:bodyPr>
          <a:lstStyle/>
          <a:p>
            <a:pPr algn="l">
              <a:defRPr sz="1200" b="1">
                <a:solidFill>
                  <a:srgbClr val="2ED573"/>
                </a:solidFill>
              </a:defRPr>
            </a:pPr>
            <a:r>
              <a:t>@security-check</a:t>
            </a:r>
          </a:p>
        </p:txBody>
      </p:sp>
      <p:sp>
        <p:nvSpPr>
          <p:cNvPr id="11" name="TextBox 10"/>
          <p:cNvSpPr txBox="1"/>
          <p:nvPr/>
        </p:nvSpPr>
        <p:spPr>
          <a:xfrm>
            <a:off x="8412480" y="2560320"/>
            <a:ext cx="3200400" cy="320040"/>
          </a:xfrm>
          <a:prstGeom prst="rect">
            <a:avLst/>
          </a:prstGeom>
          <a:noFill/>
        </p:spPr>
        <p:txBody>
          <a:bodyPr wrap="square">
            <a:spAutoFit/>
          </a:bodyPr>
          <a:lstStyle/>
          <a:p>
            <a:pPr algn="l">
              <a:defRPr sz="1100" b="0">
                <a:solidFill>
                  <a:srgbClr val="A8B2D1"/>
                </a:solidFill>
              </a:defRPr>
            </a:pPr>
            <a:r>
              <a:t>Vérifie les failles OWASP dans le code</a:t>
            </a:r>
          </a:p>
        </p:txBody>
      </p:sp>
      <p:sp>
        <p:nvSpPr>
          <p:cNvPr id="12" name="TextBox 11"/>
          <p:cNvSpPr txBox="1"/>
          <p:nvPr/>
        </p:nvSpPr>
        <p:spPr>
          <a:xfrm>
            <a:off x="5943600" y="2926079"/>
            <a:ext cx="2286000" cy="320040"/>
          </a:xfrm>
          <a:prstGeom prst="rect">
            <a:avLst/>
          </a:prstGeom>
          <a:noFill/>
        </p:spPr>
        <p:txBody>
          <a:bodyPr wrap="square">
            <a:spAutoFit/>
          </a:bodyPr>
          <a:lstStyle/>
          <a:p>
            <a:pPr algn="l">
              <a:defRPr sz="1200" b="1">
                <a:solidFill>
                  <a:srgbClr val="2ED573"/>
                </a:solidFill>
              </a:defRPr>
            </a:pPr>
            <a:r>
              <a:t>@doc-writer</a:t>
            </a:r>
          </a:p>
        </p:txBody>
      </p:sp>
      <p:sp>
        <p:nvSpPr>
          <p:cNvPr id="13" name="TextBox 12"/>
          <p:cNvSpPr txBox="1"/>
          <p:nvPr/>
        </p:nvSpPr>
        <p:spPr>
          <a:xfrm>
            <a:off x="8412480" y="2926079"/>
            <a:ext cx="3200400" cy="320040"/>
          </a:xfrm>
          <a:prstGeom prst="rect">
            <a:avLst/>
          </a:prstGeom>
          <a:noFill/>
        </p:spPr>
        <p:txBody>
          <a:bodyPr wrap="square">
            <a:spAutoFit/>
          </a:bodyPr>
          <a:lstStyle/>
          <a:p>
            <a:pPr algn="l">
              <a:defRPr sz="1100" b="0">
                <a:solidFill>
                  <a:srgbClr val="A8B2D1"/>
                </a:solidFill>
              </a:defRPr>
            </a:pPr>
            <a:r>
              <a:t>Génère la doc OpenAPI + README</a:t>
            </a:r>
          </a:p>
        </p:txBody>
      </p:sp>
      <p:sp>
        <p:nvSpPr>
          <p:cNvPr id="14" name="TextBox 13"/>
          <p:cNvSpPr txBox="1"/>
          <p:nvPr/>
        </p:nvSpPr>
        <p:spPr>
          <a:xfrm>
            <a:off x="5943600" y="3291839"/>
            <a:ext cx="2286000" cy="320040"/>
          </a:xfrm>
          <a:prstGeom prst="rect">
            <a:avLst/>
          </a:prstGeom>
          <a:noFill/>
        </p:spPr>
        <p:txBody>
          <a:bodyPr wrap="square">
            <a:spAutoFit/>
          </a:bodyPr>
          <a:lstStyle/>
          <a:p>
            <a:pPr algn="l">
              <a:defRPr sz="1200" b="1">
                <a:solidFill>
                  <a:srgbClr val="2ED573"/>
                </a:solidFill>
              </a:defRPr>
            </a:pPr>
            <a:r>
              <a:t>@test-generator</a:t>
            </a:r>
          </a:p>
        </p:txBody>
      </p:sp>
      <p:sp>
        <p:nvSpPr>
          <p:cNvPr id="15" name="TextBox 14"/>
          <p:cNvSpPr txBox="1"/>
          <p:nvPr/>
        </p:nvSpPr>
        <p:spPr>
          <a:xfrm>
            <a:off x="8412480" y="3291839"/>
            <a:ext cx="3200400" cy="320040"/>
          </a:xfrm>
          <a:prstGeom prst="rect">
            <a:avLst/>
          </a:prstGeom>
          <a:noFill/>
        </p:spPr>
        <p:txBody>
          <a:bodyPr wrap="square">
            <a:spAutoFit/>
          </a:bodyPr>
          <a:lstStyle/>
          <a:p>
            <a:pPr algn="l">
              <a:defRPr sz="1100" b="0">
                <a:solidFill>
                  <a:srgbClr val="A8B2D1"/>
                </a:solidFill>
              </a:defRPr>
            </a:pPr>
            <a:r>
              <a:t>Crée les tests selon nos patterns</a:t>
            </a:r>
          </a:p>
        </p:txBody>
      </p:sp>
      <p:sp>
        <p:nvSpPr>
          <p:cNvPr id="16" name="TextBox 15"/>
          <p:cNvSpPr txBox="1"/>
          <p:nvPr/>
        </p:nvSpPr>
        <p:spPr>
          <a:xfrm>
            <a:off x="5943600" y="3657599"/>
            <a:ext cx="2286000" cy="320040"/>
          </a:xfrm>
          <a:prstGeom prst="rect">
            <a:avLst/>
          </a:prstGeom>
          <a:noFill/>
        </p:spPr>
        <p:txBody>
          <a:bodyPr wrap="square">
            <a:spAutoFit/>
          </a:bodyPr>
          <a:lstStyle/>
          <a:p>
            <a:pPr algn="l">
              <a:defRPr sz="1200" b="1">
                <a:solidFill>
                  <a:srgbClr val="2ED573"/>
                </a:solidFill>
              </a:defRPr>
            </a:pPr>
            <a:r>
              <a:t>@migration-helper</a:t>
            </a:r>
          </a:p>
        </p:txBody>
      </p:sp>
      <p:sp>
        <p:nvSpPr>
          <p:cNvPr id="17" name="TextBox 16"/>
          <p:cNvSpPr txBox="1"/>
          <p:nvPr/>
        </p:nvSpPr>
        <p:spPr>
          <a:xfrm>
            <a:off x="8412480" y="3657599"/>
            <a:ext cx="3200400" cy="320040"/>
          </a:xfrm>
          <a:prstGeom prst="rect">
            <a:avLst/>
          </a:prstGeom>
          <a:noFill/>
        </p:spPr>
        <p:txBody>
          <a:bodyPr wrap="square">
            <a:spAutoFit/>
          </a:bodyPr>
          <a:lstStyle/>
          <a:p>
            <a:pPr algn="l">
              <a:defRPr sz="1100" b="0">
                <a:solidFill>
                  <a:srgbClr val="A8B2D1"/>
                </a:solidFill>
              </a:defRPr>
            </a:pPr>
            <a:r>
              <a:t>Aide à migrer les APIs legacy</a:t>
            </a:r>
          </a:p>
        </p:txBody>
      </p:sp>
      <p:sp>
        <p:nvSpPr>
          <p:cNvPr id="18" name="TextBox 17"/>
          <p:cNvSpPr txBox="1"/>
          <p:nvPr/>
        </p:nvSpPr>
        <p:spPr>
          <a:xfrm>
            <a:off x="5943600" y="4023359"/>
            <a:ext cx="2286000" cy="320040"/>
          </a:xfrm>
          <a:prstGeom prst="rect">
            <a:avLst/>
          </a:prstGeom>
          <a:noFill/>
        </p:spPr>
        <p:txBody>
          <a:bodyPr wrap="square">
            <a:spAutoFit/>
          </a:bodyPr>
          <a:lstStyle/>
          <a:p>
            <a:pPr algn="l">
              <a:defRPr sz="1200" b="1">
                <a:solidFill>
                  <a:srgbClr val="2ED573"/>
                </a:solidFill>
              </a:defRPr>
            </a:pPr>
            <a:r>
              <a:t>@onboarding</a:t>
            </a:r>
          </a:p>
        </p:txBody>
      </p:sp>
      <p:sp>
        <p:nvSpPr>
          <p:cNvPr id="19" name="TextBox 18"/>
          <p:cNvSpPr txBox="1"/>
          <p:nvPr/>
        </p:nvSpPr>
        <p:spPr>
          <a:xfrm>
            <a:off x="8412480" y="4023359"/>
            <a:ext cx="3200400" cy="320040"/>
          </a:xfrm>
          <a:prstGeom prst="rect">
            <a:avLst/>
          </a:prstGeom>
          <a:noFill/>
        </p:spPr>
        <p:txBody>
          <a:bodyPr wrap="square">
            <a:spAutoFit/>
          </a:bodyPr>
          <a:lstStyle/>
          <a:p>
            <a:pPr algn="l">
              <a:defRPr sz="1100" b="0">
                <a:solidFill>
                  <a:srgbClr val="A8B2D1"/>
                </a:solidFill>
              </a:defRPr>
            </a:pPr>
            <a:r>
              <a:t>Guide les nouveaux sur le projet</a:t>
            </a:r>
          </a:p>
        </p:txBody>
      </p:sp>
      <p:sp>
        <p:nvSpPr>
          <p:cNvPr id="20" name="Rounded Rectangle 19"/>
          <p:cNvSpPr/>
          <p:nvPr/>
        </p:nvSpPr>
        <p:spPr>
          <a:xfrm>
            <a:off x="457200" y="5303520"/>
            <a:ext cx="10972800" cy="914400"/>
          </a:xfrm>
          <a:prstGeom prst="roundRect">
            <a:avLst/>
          </a:prstGeom>
          <a:solidFill>
            <a:srgbClr val="1F1535"/>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Agent = instructions + tools + knowledge. Mutualisés dans l'org → chaque équipe en bénéficie.</a:t>
            </a:r>
            <a:br/>
            <a:r>
              <a:t>Extensible via MCP (Model Context Protocol) pour connecter vos outils internes.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Skills — Reusable Capabilities</a:t>
            </a:r>
          </a:p>
        </p:txBody>
      </p:sp>
      <p:sp>
        <p:nvSpPr>
          <p:cNvPr id="3" name="TextBox 2"/>
          <p:cNvSpPr txBox="1"/>
          <p:nvPr/>
        </p:nvSpPr>
        <p:spPr>
          <a:xfrm>
            <a:off x="457200" y="1005840"/>
            <a:ext cx="10972800" cy="457200"/>
          </a:xfrm>
          <a:prstGeom prst="rect">
            <a:avLst/>
          </a:prstGeom>
          <a:noFill/>
        </p:spPr>
        <p:txBody>
          <a:bodyPr wrap="square">
            <a:spAutoFit/>
          </a:bodyPr>
          <a:lstStyle/>
          <a:p>
            <a:pPr algn="ctr">
              <a:defRPr sz="1400" b="0">
                <a:solidFill>
                  <a:srgbClr val="A8B2D1"/>
                </a:solidFill>
              </a:defRPr>
            </a:pPr>
            <a:r>
              <a:t>Skill = une capacité modulaire qu'un agent peut utiliser (comme un plugin)</a:t>
            </a:r>
          </a:p>
        </p:txBody>
      </p:sp>
      <p:sp>
        <p:nvSpPr>
          <p:cNvPr id="4" name="Rounded Rectangle 3"/>
          <p:cNvSpPr/>
          <p:nvPr/>
        </p:nvSpPr>
        <p:spPr>
          <a:xfrm>
            <a:off x="274320" y="1645920"/>
            <a:ext cx="1828800" cy="182880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4FACFE"/>
                </a:solidFill>
              </a:defRPr>
            </a:pPr>
            <a:r>
              <a:t>🔍</a:t>
            </a:r>
            <a:br/>
            <a:br/>
            <a:r>
              <a:t>Code Search</a:t>
            </a:r>
            <a:br/>
            <a:r>
              <a:t>Recherche sémantique</a:t>
            </a:r>
            <a:br/>
            <a:r>
              <a:t>dans le codebase</a:t>
            </a:r>
          </a:p>
        </p:txBody>
      </p:sp>
      <p:sp>
        <p:nvSpPr>
          <p:cNvPr id="5" name="Rounded Rectangle 4"/>
          <p:cNvSpPr/>
          <p:nvPr/>
        </p:nvSpPr>
        <p:spPr>
          <a:xfrm>
            <a:off x="2286000" y="1645920"/>
            <a:ext cx="1828800" cy="182880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a:t>
            </a:r>
            <a:br/>
            <a:br/>
            <a:r>
              <a:t>Test Runner</a:t>
            </a:r>
            <a:br/>
            <a:r>
              <a:t>Lancer et analyser</a:t>
            </a:r>
            <a:br/>
            <a:r>
              <a:t>les tests</a:t>
            </a:r>
          </a:p>
        </p:txBody>
      </p:sp>
      <p:sp>
        <p:nvSpPr>
          <p:cNvPr id="6" name="Rounded Rectangle 5"/>
          <p:cNvSpPr/>
          <p:nvPr/>
        </p:nvSpPr>
        <p:spPr>
          <a:xfrm>
            <a:off x="4297680" y="1645920"/>
            <a:ext cx="1828800" cy="182880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FFC107"/>
                </a:solidFill>
              </a:defRPr>
            </a:pPr>
            <a:r>
              <a:t>📦</a:t>
            </a:r>
            <a:br/>
            <a:br/>
            <a:r>
              <a:t>Package Mgr</a:t>
            </a:r>
            <a:br/>
            <a:r>
              <a:t>Gérer dépendances</a:t>
            </a:r>
            <a:br/>
            <a:r>
              <a:t>+ vulnérabilités</a:t>
            </a:r>
          </a:p>
        </p:txBody>
      </p:sp>
      <p:sp>
        <p:nvSpPr>
          <p:cNvPr id="7" name="Rounded Rectangle 6"/>
          <p:cNvSpPr/>
          <p:nvPr/>
        </p:nvSpPr>
        <p:spPr>
          <a:xfrm>
            <a:off x="6309360" y="1645920"/>
            <a:ext cx="1828800" cy="18288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94560"/>
                </a:solidFill>
              </a:defRPr>
            </a:pPr>
            <a:r>
              <a:t>🔒</a:t>
            </a:r>
            <a:br/>
            <a:br/>
            <a:r>
              <a:t>Security Scan</a:t>
            </a:r>
            <a:br/>
            <a:r>
              <a:t>SAST/DAST</a:t>
            </a:r>
            <a:br/>
            <a:r>
              <a:t>automatisé</a:t>
            </a:r>
          </a:p>
        </p:txBody>
      </p:sp>
      <p:sp>
        <p:nvSpPr>
          <p:cNvPr id="8" name="Rounded Rectangle 7"/>
          <p:cNvSpPr/>
          <p:nvPr/>
        </p:nvSpPr>
        <p:spPr>
          <a:xfrm>
            <a:off x="8321040" y="1645920"/>
            <a:ext cx="1828800" cy="1828800"/>
          </a:xfrm>
          <a:prstGeom prst="roundRect">
            <a:avLst/>
          </a:prstGeom>
          <a:solidFill>
            <a:srgbClr val="16213E"/>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A55EEA"/>
                </a:solidFill>
              </a:defRPr>
            </a:pPr>
            <a:r>
              <a:t>📄</a:t>
            </a:r>
            <a:br/>
            <a:br/>
            <a:r>
              <a:t>Doc Generator</a:t>
            </a:r>
            <a:br/>
            <a:r>
              <a:t>OpenAPI, README,</a:t>
            </a:r>
            <a:br/>
            <a:r>
              <a:t>Changelog</a:t>
            </a:r>
          </a:p>
        </p:txBody>
      </p:sp>
      <p:sp>
        <p:nvSpPr>
          <p:cNvPr id="9" name="Rounded Rectangle 8"/>
          <p:cNvSpPr/>
          <p:nvPr/>
        </p:nvSpPr>
        <p:spPr>
          <a:xfrm>
            <a:off x="10332720" y="1645920"/>
            <a:ext cx="1828800" cy="1828800"/>
          </a:xfrm>
          <a:prstGeom prst="roundRect">
            <a:avLst/>
          </a:prstGeom>
          <a:solidFill>
            <a:srgbClr val="16213E"/>
          </a:solidFill>
          <a:ln w="19050">
            <a:solidFill>
              <a:srgbClr val="00D2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00D2D3"/>
                </a:solidFill>
              </a:defRPr>
            </a:pPr>
            <a:r>
              <a:t>🚀</a:t>
            </a:r>
            <a:br/>
            <a:br/>
            <a:r>
              <a:t>Deployer</a:t>
            </a:r>
            <a:br/>
            <a:r>
              <a:t>CI/CD, preview</a:t>
            </a:r>
            <a:br/>
            <a:r>
              <a:t>environments</a:t>
            </a:r>
          </a:p>
        </p:txBody>
      </p:sp>
      <p:sp>
        <p:nvSpPr>
          <p:cNvPr id="10" name="TextBox 9"/>
          <p:cNvSpPr txBox="1"/>
          <p:nvPr/>
        </p:nvSpPr>
        <p:spPr>
          <a:xfrm>
            <a:off x="457200" y="3840480"/>
            <a:ext cx="10972800" cy="365760"/>
          </a:xfrm>
          <a:prstGeom prst="rect">
            <a:avLst/>
          </a:prstGeom>
          <a:noFill/>
        </p:spPr>
        <p:txBody>
          <a:bodyPr wrap="square">
            <a:spAutoFit/>
          </a:bodyPr>
          <a:lstStyle/>
          <a:p>
            <a:pPr algn="ctr">
              <a:defRPr sz="1500" b="1">
                <a:solidFill>
                  <a:srgbClr val="FFFFFF"/>
                </a:solidFill>
              </a:defRPr>
            </a:pPr>
            <a:r>
              <a:t>🔗 Composition : un agent peut combiner plusieurs skills</a:t>
            </a:r>
          </a:p>
        </p:txBody>
      </p:sp>
      <p:sp>
        <p:nvSpPr>
          <p:cNvPr id="11" name="Rounded Rectangle 10"/>
          <p:cNvSpPr/>
          <p:nvPr/>
        </p:nvSpPr>
        <p:spPr>
          <a:xfrm>
            <a:off x="457200" y="4389120"/>
            <a:ext cx="10972800" cy="164592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80560"/>
            <a:ext cx="10515600" cy="1463040"/>
          </a:xfrm>
          <a:prstGeom prst="rect">
            <a:avLst/>
          </a:prstGeom>
          <a:noFill/>
        </p:spPr>
        <p:txBody>
          <a:bodyPr wrap="square">
            <a:spAutoFit/>
          </a:bodyPr>
          <a:lstStyle/>
          <a:p>
            <a:pPr algn="l">
              <a:defRPr sz="1300" b="0">
                <a:solidFill>
                  <a:srgbClr val="C8D6E5"/>
                </a:solidFill>
              </a:defRPr>
            </a:pPr>
            <a:r>
              <a:t>Exemple : @api-reviewer utilise :</a:t>
            </a:r>
          </a:p>
          <a:p>
            <a:pPr algn="l">
              <a:spcBef>
                <a:spcPts val="600"/>
              </a:spcBef>
              <a:defRPr sz="1200" b="0">
                <a:solidFill>
                  <a:srgbClr val="4FACFE"/>
                </a:solidFill>
              </a:defRPr>
            </a:pPr>
            <a:r>
              <a:t>   Code Search (trouver les endpoints) + Security Scan (vérifier OWASP) + Doc Generator (vérifier la doc)</a:t>
            </a:r>
          </a:p>
          <a:p>
            <a:pPr algn="l">
              <a:spcBef>
                <a:spcPts val="600"/>
              </a:spcBef>
              <a:defRPr sz="600" b="0">
                <a:solidFill>
                  <a:srgbClr val="C8D6E5"/>
                </a:solidFill>
              </a:defRPr>
            </a:pPr>
          </a:p>
          <a:p>
            <a:pPr algn="l">
              <a:spcBef>
                <a:spcPts val="600"/>
              </a:spcBef>
              <a:defRPr sz="1300" b="0">
                <a:solidFill>
                  <a:srgbClr val="C8D6E5"/>
                </a:solidFill>
              </a:defRPr>
            </a:pPr>
            <a:r>
              <a:t>Exemple : @onboarding utilise :</a:t>
            </a:r>
          </a:p>
          <a:p>
            <a:pPr algn="l">
              <a:spcBef>
                <a:spcPts val="600"/>
              </a:spcBef>
              <a:defRPr sz="1200" b="0">
                <a:solidFill>
                  <a:srgbClr val="2ED573"/>
                </a:solidFill>
              </a:defRPr>
            </a:pPr>
            <a:r>
              <a:t>   Code Search (naviguer le code) + Doc Generator (expliquer l'archi) + Test Runner (montrer les exemples)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MCP — Connect Your Tools</a:t>
            </a:r>
          </a:p>
        </p:txBody>
      </p:sp>
      <p:sp>
        <p:nvSpPr>
          <p:cNvPr id="3" name="TextBox 2"/>
          <p:cNvSpPr txBox="1"/>
          <p:nvPr/>
        </p:nvSpPr>
        <p:spPr>
          <a:xfrm>
            <a:off x="457200" y="1005840"/>
            <a:ext cx="10972800" cy="457200"/>
          </a:xfrm>
          <a:prstGeom prst="rect">
            <a:avLst/>
          </a:prstGeom>
          <a:noFill/>
        </p:spPr>
        <p:txBody>
          <a:bodyPr wrap="square">
            <a:spAutoFit/>
          </a:bodyPr>
          <a:lstStyle/>
          <a:p>
            <a:pPr algn="ctr">
              <a:defRPr sz="1400" b="0">
                <a:solidFill>
                  <a:srgbClr val="A8B2D1"/>
                </a:solidFill>
              </a:defRPr>
            </a:pPr>
            <a:r>
              <a:t>Model Context Protocol = le standard pour connecter Copilot à vos outils internes</a:t>
            </a:r>
          </a:p>
        </p:txBody>
      </p:sp>
      <p:sp>
        <p:nvSpPr>
          <p:cNvPr id="4" name="Rounded Rectangle 3"/>
          <p:cNvSpPr/>
          <p:nvPr/>
        </p:nvSpPr>
        <p:spPr>
          <a:xfrm>
            <a:off x="4114800" y="1645920"/>
            <a:ext cx="3657600" cy="9144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Copilot Agent</a:t>
            </a:r>
          </a:p>
        </p:txBody>
      </p:sp>
      <p:sp>
        <p:nvSpPr>
          <p:cNvPr id="5" name="Rounded Rectangle 4"/>
          <p:cNvSpPr/>
          <p:nvPr/>
        </p:nvSpPr>
        <p:spPr>
          <a:xfrm>
            <a:off x="2743200" y="2926080"/>
            <a:ext cx="6400800" cy="640080"/>
          </a:xfrm>
          <a:prstGeom prst="roundRect">
            <a:avLst/>
          </a:prstGeom>
          <a:solidFill>
            <a:srgbClr val="1F1535"/>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A55EEA"/>
                </a:solidFill>
              </a:defRPr>
            </a:pPr>
            <a:r>
              <a:t>🔌 MCP Layer (Model Context Protocol)</a:t>
            </a:r>
          </a:p>
        </p:txBody>
      </p:sp>
      <p:sp>
        <p:nvSpPr>
          <p:cNvPr id="6" name="Rounded Rectangle 5"/>
          <p:cNvSpPr/>
          <p:nvPr/>
        </p:nvSpPr>
        <p:spPr>
          <a:xfrm>
            <a:off x="27432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Jira</a:t>
            </a:r>
          </a:p>
        </p:txBody>
      </p:sp>
      <p:sp>
        <p:nvSpPr>
          <p:cNvPr id="7" name="Rounded Rectangle 6"/>
          <p:cNvSpPr/>
          <p:nvPr/>
        </p:nvSpPr>
        <p:spPr>
          <a:xfrm>
            <a:off x="228600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Confluence</a:t>
            </a:r>
          </a:p>
        </p:txBody>
      </p:sp>
      <p:sp>
        <p:nvSpPr>
          <p:cNvPr id="8" name="Rounded Rectangle 7"/>
          <p:cNvSpPr/>
          <p:nvPr/>
        </p:nvSpPr>
        <p:spPr>
          <a:xfrm>
            <a:off x="429768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Database</a:t>
            </a:r>
          </a:p>
        </p:txBody>
      </p:sp>
      <p:sp>
        <p:nvSpPr>
          <p:cNvPr id="9" name="Rounded Rectangle 8"/>
          <p:cNvSpPr/>
          <p:nvPr/>
        </p:nvSpPr>
        <p:spPr>
          <a:xfrm>
            <a:off x="630936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CI/CD</a:t>
            </a:r>
          </a:p>
        </p:txBody>
      </p:sp>
      <p:sp>
        <p:nvSpPr>
          <p:cNvPr id="10" name="Rounded Rectangle 9"/>
          <p:cNvSpPr/>
          <p:nvPr/>
        </p:nvSpPr>
        <p:spPr>
          <a:xfrm>
            <a:off x="832104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Monitoring</a:t>
            </a:r>
          </a:p>
        </p:txBody>
      </p:sp>
      <p:sp>
        <p:nvSpPr>
          <p:cNvPr id="11" name="Rounded Rectangle 10"/>
          <p:cNvSpPr/>
          <p:nvPr/>
        </p:nvSpPr>
        <p:spPr>
          <a:xfrm>
            <a:off x="1033272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Vault</a:t>
            </a:r>
          </a:p>
        </p:txBody>
      </p:sp>
      <p:sp>
        <p:nvSpPr>
          <p:cNvPr id="12" name="TextBox 11"/>
          <p:cNvSpPr txBox="1"/>
          <p:nvPr/>
        </p:nvSpPr>
        <p:spPr>
          <a:xfrm>
            <a:off x="457200" y="5029200"/>
            <a:ext cx="10972800" cy="365760"/>
          </a:xfrm>
          <a:prstGeom prst="rect">
            <a:avLst/>
          </a:prstGeom>
          <a:noFill/>
        </p:spPr>
        <p:txBody>
          <a:bodyPr wrap="square">
            <a:spAutoFit/>
          </a:bodyPr>
          <a:lstStyle/>
          <a:p>
            <a:pPr algn="l">
              <a:defRPr sz="1500" b="1">
                <a:solidFill>
                  <a:srgbClr val="FFFFFF"/>
                </a:solidFill>
              </a:defRPr>
            </a:pPr>
            <a:r>
              <a:t>Ce que ça permet :</a:t>
            </a:r>
          </a:p>
        </p:txBody>
      </p:sp>
      <p:sp>
        <p:nvSpPr>
          <p:cNvPr id="13" name="TextBox 12"/>
          <p:cNvSpPr txBox="1"/>
          <p:nvPr/>
        </p:nvSpPr>
        <p:spPr>
          <a:xfrm>
            <a:off x="457200" y="5394960"/>
            <a:ext cx="10972800" cy="1371600"/>
          </a:xfrm>
          <a:prstGeom prst="rect">
            <a:avLst/>
          </a:prstGeom>
          <a:noFill/>
        </p:spPr>
        <p:txBody>
          <a:bodyPr wrap="square">
            <a:spAutoFit/>
          </a:bodyPr>
          <a:lstStyle/>
          <a:p>
            <a:pPr algn="l">
              <a:defRPr sz="1300" b="0">
                <a:solidFill>
                  <a:srgbClr val="C8D6E5"/>
                </a:solidFill>
              </a:defRPr>
            </a:pPr>
            <a:r>
              <a:t>✓ "Crée un ticket Jira pour ce bug" → Copilot appelle l'API Jira</a:t>
            </a:r>
          </a:p>
          <a:p>
            <a:pPr algn="l">
              <a:spcBef>
                <a:spcPts val="600"/>
              </a:spcBef>
              <a:defRPr sz="1300" b="0">
                <a:solidFill>
                  <a:srgbClr val="C8D6E5"/>
                </a:solidFill>
              </a:defRPr>
            </a:pPr>
            <a:r>
              <a:t>✓ "Quel est le statut du dernier deploy ?" → Copilot interroge le CI/CD</a:t>
            </a:r>
          </a:p>
          <a:p>
            <a:pPr algn="l">
              <a:spcBef>
                <a:spcPts val="600"/>
              </a:spcBef>
              <a:defRPr sz="1300" b="0">
                <a:solidFill>
                  <a:srgbClr val="C8D6E5"/>
                </a:solidFill>
              </a:defRPr>
            </a:pPr>
            <a:r>
              <a:t>✓ "Montre les métriques de latence du service X" → Copilot query le monitoring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Advanced Techniques</a:t>
            </a:r>
          </a:p>
        </p:txBody>
      </p:sp>
      <p:sp>
        <p:nvSpPr>
          <p:cNvPr id="3" name="TextBox 2"/>
          <p:cNvSpPr txBox="1"/>
          <p:nvPr/>
        </p:nvSpPr>
        <p:spPr>
          <a:xfrm>
            <a:off x="457200" y="1097280"/>
            <a:ext cx="5303520" cy="365760"/>
          </a:xfrm>
          <a:prstGeom prst="rect">
            <a:avLst/>
          </a:prstGeom>
          <a:noFill/>
        </p:spPr>
        <p:txBody>
          <a:bodyPr wrap="square">
            <a:spAutoFit/>
          </a:bodyPr>
          <a:lstStyle/>
          <a:p>
            <a:pPr algn="l">
              <a:defRPr sz="1800" b="1">
                <a:solidFill>
                  <a:srgbClr val="4FACFE"/>
                </a:solidFill>
              </a:defRPr>
            </a:pPr>
            <a:r>
              <a:t>🔗 Prompt Chaining</a:t>
            </a:r>
          </a:p>
        </p:txBody>
      </p:sp>
      <p:sp>
        <p:nvSpPr>
          <p:cNvPr id="4" name="Rounded Rectangle 3"/>
          <p:cNvSpPr/>
          <p:nvPr/>
        </p:nvSpPr>
        <p:spPr>
          <a:xfrm>
            <a:off x="457200" y="1554480"/>
            <a:ext cx="5303520" cy="201168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5029200" cy="1828800"/>
          </a:xfrm>
          <a:prstGeom prst="rect">
            <a:avLst/>
          </a:prstGeom>
          <a:noFill/>
        </p:spPr>
        <p:txBody>
          <a:bodyPr wrap="square">
            <a:spAutoFit/>
          </a:bodyPr>
          <a:lstStyle/>
          <a:p>
            <a:pPr algn="l">
              <a:defRPr sz="1200" b="0">
                <a:solidFill>
                  <a:srgbClr val="A8B2D1"/>
                </a:solidFill>
              </a:defRPr>
            </a:pPr>
            <a:r>
              <a:t>Décomposer une tâche complexe :</a:t>
            </a:r>
          </a:p>
          <a:p>
            <a:pPr algn="l">
              <a:spcBef>
                <a:spcPts val="600"/>
              </a:spcBef>
              <a:defRPr sz="600" b="0">
                <a:solidFill>
                  <a:srgbClr val="C8D6E5"/>
                </a:solidFill>
              </a:defRPr>
            </a:pPr>
          </a:p>
          <a:p>
            <a:pPr algn="l">
              <a:spcBef>
                <a:spcPts val="600"/>
              </a:spcBef>
              <a:defRPr sz="1200" b="0">
                <a:solidFill>
                  <a:srgbClr val="7EE787"/>
                </a:solidFill>
              </a:defRPr>
            </a:pPr>
            <a:r>
              <a:t>1️⃣ "Analyse ce service et liste les endpoints"</a:t>
            </a:r>
          </a:p>
          <a:p>
            <a:pPr algn="l">
              <a:spcBef>
                <a:spcPts val="600"/>
              </a:spcBef>
              <a:defRPr sz="1200" b="0">
                <a:solidFill>
                  <a:srgbClr val="7EE787"/>
                </a:solidFill>
              </a:defRPr>
            </a:pPr>
            <a:r>
              <a:t>2️⃣ "Pour chaque endpoint, identifie les cas d'erreur"</a:t>
            </a:r>
          </a:p>
          <a:p>
            <a:pPr algn="l">
              <a:spcBef>
                <a:spcPts val="600"/>
              </a:spcBef>
              <a:defRPr sz="1200" b="0">
                <a:solidFill>
                  <a:srgbClr val="7EE787"/>
                </a:solidFill>
              </a:defRPr>
            </a:pPr>
            <a:r>
              <a:t>3️⃣ "Écris les tests pour les cas d'erreur identifiés"</a:t>
            </a:r>
          </a:p>
          <a:p>
            <a:pPr algn="l">
              <a:spcBef>
                <a:spcPts val="600"/>
              </a:spcBef>
              <a:defRPr sz="1200" b="0">
                <a:solidFill>
                  <a:srgbClr val="7EE787"/>
                </a:solidFill>
              </a:defRPr>
            </a:pPr>
            <a:r>
              <a:t>4️⃣ "Lance les tests et corrige les échecs"</a:t>
            </a:r>
          </a:p>
          <a:p>
            <a:pPr algn="l">
              <a:spcBef>
                <a:spcPts val="600"/>
              </a:spcBef>
              <a:defRPr sz="600" b="0">
                <a:solidFill>
                  <a:srgbClr val="C8D6E5"/>
                </a:solidFill>
              </a:defRPr>
            </a:pPr>
          </a:p>
          <a:p>
            <a:pPr algn="l">
              <a:spcBef>
                <a:spcPts val="600"/>
              </a:spcBef>
              <a:defRPr sz="1100" b="0">
                <a:solidFill>
                  <a:srgbClr val="A8B2D1"/>
                </a:solidFill>
              </a:defRPr>
            </a:pPr>
            <a:r>
              <a:t>→ Chaque étape utilise le résultat de la précédente</a:t>
            </a:r>
          </a:p>
        </p:txBody>
      </p:sp>
      <p:sp>
        <p:nvSpPr>
          <p:cNvPr id="6" name="TextBox 5"/>
          <p:cNvSpPr txBox="1"/>
          <p:nvPr/>
        </p:nvSpPr>
        <p:spPr>
          <a:xfrm>
            <a:off x="6217920" y="1097280"/>
            <a:ext cx="5303520" cy="365760"/>
          </a:xfrm>
          <a:prstGeom prst="rect">
            <a:avLst/>
          </a:prstGeom>
          <a:noFill/>
        </p:spPr>
        <p:txBody>
          <a:bodyPr wrap="square">
            <a:spAutoFit/>
          </a:bodyPr>
          <a:lstStyle/>
          <a:p>
            <a:pPr algn="l">
              <a:defRPr sz="1800" b="1">
                <a:solidFill>
                  <a:srgbClr val="2ED573"/>
                </a:solidFill>
              </a:defRPr>
            </a:pPr>
            <a:r>
              <a:t>🧠 Context Window</a:t>
            </a:r>
          </a:p>
        </p:txBody>
      </p:sp>
      <p:sp>
        <p:nvSpPr>
          <p:cNvPr id="7" name="Rounded Rectangle 6"/>
          <p:cNvSpPr/>
          <p:nvPr/>
        </p:nvSpPr>
        <p:spPr>
          <a:xfrm>
            <a:off x="6217920" y="1554480"/>
            <a:ext cx="5303520" cy="201168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5029200" cy="1828800"/>
          </a:xfrm>
          <a:prstGeom prst="rect">
            <a:avLst/>
          </a:prstGeom>
          <a:noFill/>
        </p:spPr>
        <p:txBody>
          <a:bodyPr wrap="square">
            <a:spAutoFit/>
          </a:bodyPr>
          <a:lstStyle/>
          <a:p>
            <a:pPr algn="l">
              <a:defRPr sz="1200" b="0">
                <a:solidFill>
                  <a:srgbClr val="A8B2D1"/>
                </a:solidFill>
              </a:defRPr>
            </a:pPr>
            <a:r>
              <a:t>Gérer la fenêtre de contexte :</a:t>
            </a:r>
          </a:p>
          <a:p>
            <a:pPr algn="l">
              <a:spcBef>
                <a:spcPts val="600"/>
              </a:spcBef>
              <a:defRPr sz="600" b="0">
                <a:solidFill>
                  <a:srgbClr val="C8D6E5"/>
                </a:solidFill>
              </a:defRPr>
            </a:pPr>
          </a:p>
          <a:p>
            <a:pPr algn="l">
              <a:spcBef>
                <a:spcPts val="600"/>
              </a:spcBef>
              <a:defRPr sz="1200" b="0">
                <a:solidFill>
                  <a:srgbClr val="FFFFFF"/>
                </a:solidFill>
              </a:defRPr>
            </a:pPr>
            <a:r>
              <a:t>⚡ Nouvelle conversation si :</a:t>
            </a:r>
          </a:p>
          <a:p>
            <a:pPr algn="l">
              <a:spcBef>
                <a:spcPts val="600"/>
              </a:spcBef>
              <a:defRPr sz="1100" b="0">
                <a:solidFill>
                  <a:srgbClr val="C8D6E5"/>
                </a:solidFill>
              </a:defRPr>
            </a:pPr>
            <a:r>
              <a:t>   • Contexte pollué (trop d'erreurs)</a:t>
            </a:r>
          </a:p>
          <a:p>
            <a:pPr algn="l">
              <a:spcBef>
                <a:spcPts val="600"/>
              </a:spcBef>
              <a:defRPr sz="1100" b="0">
                <a:solidFill>
                  <a:srgbClr val="C8D6E5"/>
                </a:solidFill>
              </a:defRPr>
            </a:pPr>
            <a:r>
              <a:t>   • Changement de sujet</a:t>
            </a:r>
          </a:p>
          <a:p>
            <a:pPr algn="l">
              <a:spcBef>
                <a:spcPts val="600"/>
              </a:spcBef>
              <a:defRPr sz="1100" b="0">
                <a:solidFill>
                  <a:srgbClr val="C8D6E5"/>
                </a:solidFill>
              </a:defRPr>
            </a:pPr>
            <a:r>
              <a:t>   • &gt;20 messages dans le thread</a:t>
            </a:r>
          </a:p>
          <a:p>
            <a:pPr algn="l">
              <a:spcBef>
                <a:spcPts val="600"/>
              </a:spcBef>
              <a:defRPr sz="600" b="0">
                <a:solidFill>
                  <a:srgbClr val="C8D6E5"/>
                </a:solidFill>
              </a:defRPr>
            </a:pPr>
          </a:p>
          <a:p>
            <a:pPr algn="l">
              <a:spcBef>
                <a:spcPts val="600"/>
              </a:spcBef>
              <a:defRPr sz="1200" b="0">
                <a:solidFill>
                  <a:srgbClr val="FFFFFF"/>
                </a:solidFill>
              </a:defRPr>
            </a:pPr>
            <a:r>
              <a:t>📎 Référencer des fichiers :</a:t>
            </a:r>
          </a:p>
          <a:p>
            <a:pPr algn="l">
              <a:spcBef>
                <a:spcPts val="600"/>
              </a:spcBef>
              <a:defRPr sz="1100" b="0">
                <a:solidFill>
                  <a:srgbClr val="C8D6E5"/>
                </a:solidFill>
              </a:defRPr>
            </a:pPr>
            <a:r>
              <a:t>   • #file pour inclure un fichier</a:t>
            </a:r>
          </a:p>
          <a:p>
            <a:pPr algn="l">
              <a:spcBef>
                <a:spcPts val="600"/>
              </a:spcBef>
              <a:defRPr sz="1100" b="0">
                <a:solidFill>
                  <a:srgbClr val="C8D6E5"/>
                </a:solidFill>
              </a:defRPr>
            </a:pPr>
            <a:r>
              <a:t>   • @workspace pour le projet entier</a:t>
            </a:r>
          </a:p>
        </p:txBody>
      </p:sp>
      <p:sp>
        <p:nvSpPr>
          <p:cNvPr id="9" name="TextBox 8"/>
          <p:cNvSpPr txBox="1"/>
          <p:nvPr/>
        </p:nvSpPr>
        <p:spPr>
          <a:xfrm>
            <a:off x="457200" y="3931920"/>
            <a:ext cx="10972800" cy="365760"/>
          </a:xfrm>
          <a:prstGeom prst="rect">
            <a:avLst/>
          </a:prstGeom>
          <a:noFill/>
        </p:spPr>
        <p:txBody>
          <a:bodyPr wrap="square">
            <a:spAutoFit/>
          </a:bodyPr>
          <a:lstStyle/>
          <a:p>
            <a:pPr algn="l">
              <a:defRPr sz="1800" b="1">
                <a:solidFill>
                  <a:srgbClr val="FFC107"/>
                </a:solidFill>
              </a:defRPr>
            </a:pPr>
            <a:r>
              <a:t>📝 Few-Shot Prompting — Montrer l'exemple</a:t>
            </a:r>
          </a:p>
        </p:txBody>
      </p:sp>
      <p:sp>
        <p:nvSpPr>
          <p:cNvPr id="10" name="Rounded Rectangle 9"/>
          <p:cNvSpPr/>
          <p:nvPr/>
        </p:nvSpPr>
        <p:spPr>
          <a:xfrm>
            <a:off x="457200" y="4389120"/>
            <a:ext cx="10972800" cy="18288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480560"/>
            <a:ext cx="10515600" cy="1645920"/>
          </a:xfrm>
          <a:prstGeom prst="rect">
            <a:avLst/>
          </a:prstGeom>
          <a:noFill/>
        </p:spPr>
        <p:txBody>
          <a:bodyPr wrap="square">
            <a:spAutoFit/>
          </a:bodyPr>
          <a:lstStyle/>
          <a:p>
            <a:pPr algn="l">
              <a:defRPr sz="1200" b="0">
                <a:solidFill>
                  <a:srgbClr val="7EE787"/>
                </a:solidFill>
              </a:defRPr>
            </a:pPr>
            <a:r>
              <a:t>"Crée un endpoint DELETE /notifications/:id en suivant ce pattern :</a:t>
            </a:r>
          </a:p>
          <a:p>
            <a:pPr algn="l">
              <a:spcBef>
                <a:spcPts val="600"/>
              </a:spcBef>
              <a:defRPr sz="600" b="0">
                <a:solidFill>
                  <a:srgbClr val="C8D6E5"/>
                </a:solidFill>
              </a:defRPr>
            </a:pPr>
          </a:p>
          <a:p>
            <a:pPr algn="l">
              <a:spcBef>
                <a:spcPts val="600"/>
              </a:spcBef>
              <a:defRPr sz="1200" b="0">
                <a:solidFill>
                  <a:srgbClr val="7EE787"/>
                </a:solidFill>
              </a:defRPr>
            </a:pPr>
            <a:r>
              <a:t>Exemple existant (GET /notifications/:id) :</a:t>
            </a:r>
          </a:p>
          <a:p>
            <a:pPr algn="l">
              <a:spcBef>
                <a:spcPts val="600"/>
              </a:spcBef>
              <a:defRPr sz="1200" b="0">
                <a:solidFill>
                  <a:srgbClr val="7EE787"/>
                </a:solidFill>
              </a:defRPr>
            </a:pPr>
            <a:r>
              <a:t>- Validation de l'ID → 404 si pas trouvé</a:t>
            </a:r>
          </a:p>
          <a:p>
            <a:pPr algn="l">
              <a:spcBef>
                <a:spcPts val="600"/>
              </a:spcBef>
              <a:defRPr sz="1200" b="0">
                <a:solidFill>
                  <a:srgbClr val="7EE787"/>
                </a:solidFill>
              </a:defRPr>
            </a:pPr>
            <a:r>
              <a:t>- Log structuré avec correlationId</a:t>
            </a:r>
          </a:p>
          <a:p>
            <a:pPr algn="l">
              <a:spcBef>
                <a:spcPts val="600"/>
              </a:spcBef>
              <a:defRPr sz="1200" b="0">
                <a:solidFill>
                  <a:srgbClr val="7EE787"/>
                </a:solidFill>
              </a:defRPr>
            </a:pPr>
            <a:r>
              <a:t>- Return 200 avec le résultat"</a:t>
            </a:r>
          </a:p>
          <a:p>
            <a:pPr algn="l">
              <a:spcBef>
                <a:spcPts val="600"/>
              </a:spcBef>
              <a:defRPr sz="600" b="0">
                <a:solidFill>
                  <a:srgbClr val="C8D6E5"/>
                </a:solidFill>
              </a:defRPr>
            </a:pPr>
          </a:p>
          <a:p>
            <a:pPr algn="l">
              <a:spcBef>
                <a:spcPts val="600"/>
              </a:spcBef>
              <a:defRPr sz="1100" b="0">
                <a:solidFill>
                  <a:srgbClr val="A8B2D1"/>
                </a:solidFill>
              </a:defRPr>
            </a:pPr>
            <a:r>
              <a:t>→ Copilot reproduit le pattern existant avec une consistance parfaite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8229600" cy="914400"/>
          </a:xfrm>
          <a:prstGeom prst="rect">
            <a:avLst/>
          </a:prstGeom>
          <a:noFill/>
        </p:spPr>
        <p:txBody>
          <a:bodyPr wrap="square">
            <a:spAutoFit/>
          </a:bodyPr>
          <a:lstStyle/>
          <a:p>
            <a:pPr>
              <a:defRPr sz="2800" b="1">
                <a:solidFill>
                  <a:srgbClr val="FFFFFF"/>
                </a:solidFill>
              </a:defRPr>
            </a:pPr>
            <a:r>
              <a:t>🦴 Caveman Mode — Exercice Live</a:t>
            </a:r>
          </a:p>
        </p:txBody>
      </p:sp>
      <p:sp>
        <p:nvSpPr>
          <p:cNvPr id="3" name="TextBox 2"/>
          <p:cNvSpPr txBox="1"/>
          <p:nvPr/>
        </p:nvSpPr>
        <p:spPr>
          <a:xfrm>
            <a:off x="457200" y="1188720"/>
            <a:ext cx="8229600" cy="4572000"/>
          </a:xfrm>
          <a:prstGeom prst="rect">
            <a:avLst/>
          </a:prstGeom>
          <a:noFill/>
        </p:spPr>
        <p:txBody>
          <a:bodyPr wrap="square">
            <a:spAutoFit/>
          </a:bodyPr>
          <a:lstStyle/>
          <a:p>
            <a:pPr>
              <a:spcAft>
                <a:spcPts val="600"/>
              </a:spcAft>
              <a:defRPr sz="1500" b="1">
                <a:solidFill>
                  <a:srgbClr val="FFFFFF"/>
                </a:solidFill>
              </a:defRPr>
            </a:pPr>
            <a:r>
              <a:t>Concept : forcer Copilot à répondre en mode ultra-concis</a:t>
            </a:r>
          </a:p>
          <a:p>
            <a:pPr>
              <a:spcAft>
                <a:spcPts val="600"/>
              </a:spcAft>
              <a:defRPr sz="1500" b="1">
                <a:solidFill>
                  <a:srgbClr val="FFFFFF"/>
                </a:solidFill>
              </a:defRPr>
            </a:pPr>
            <a:r>
              <a:t>Le code reste identique, seul le bavardage est réduit.</a:t>
            </a:r>
          </a:p>
        </p:txBody>
      </p:sp>
      <p:sp>
        <p:nvSpPr>
          <p:cNvPr id="4" name="TextBox 3"/>
          <p:cNvSpPr txBox="1"/>
          <p:nvPr/>
        </p:nvSpPr>
        <p:spPr>
          <a:xfrm>
            <a:off x="457200" y="2103120"/>
            <a:ext cx="8229600" cy="4572000"/>
          </a:xfrm>
          <a:prstGeom prst="rect">
            <a:avLst/>
          </a:prstGeom>
          <a:noFill/>
        </p:spPr>
        <p:txBody>
          <a:bodyPr wrap="square">
            <a:spAutoFit/>
          </a:bodyPr>
          <a:lstStyle/>
          <a:p>
            <a:pPr>
              <a:spcAft>
                <a:spcPts val="600"/>
              </a:spcAft>
              <a:defRPr sz="1400" b="0">
                <a:solidFill>
                  <a:srgbClr val="FFFFFF"/>
                </a:solidFill>
              </a:defRPr>
            </a:pPr>
            <a:r>
              <a:t>Installation : .github/skills/caveman-mode/SKILL.md</a:t>
            </a:r>
          </a:p>
          <a:p>
            <a:pPr>
              <a:spcAft>
                <a:spcPts val="600"/>
              </a:spcAft>
              <a:defRPr sz="1400" b="0">
                <a:solidFill>
                  <a:srgbClr val="FFFFFF"/>
                </a:solidFill>
              </a:defRPr>
            </a:pPr>
          </a:p>
          <a:p>
            <a:pPr>
              <a:spcAft>
                <a:spcPts val="600"/>
              </a:spcAft>
              <a:defRPr sz="1400" b="0">
                <a:solidFill>
                  <a:srgbClr val="FFFFFF"/>
                </a:solidFill>
              </a:defRPr>
            </a:pPr>
            <a:r>
              <a:t>Exercice A/B :</a:t>
            </a:r>
          </a:p>
          <a:p>
            <a:pPr>
              <a:spcAft>
                <a:spcPts val="600"/>
              </a:spcAft>
              <a:defRPr sz="1400" b="0">
                <a:solidFill>
                  <a:srgbClr val="FFFFFF"/>
                </a:solidFill>
              </a:defRPr>
            </a:pPr>
            <a:r>
              <a:t>  ❶ SANS Caveman → "Explique le retry" → ~800 tokens</a:t>
            </a:r>
          </a:p>
          <a:p>
            <a:pPr>
              <a:spcAft>
                <a:spcPts val="600"/>
              </a:spcAft>
              <a:defRPr sz="1400" b="0">
                <a:solidFill>
                  <a:srgbClr val="FFFFFF"/>
                </a:solidFill>
              </a:defRPr>
            </a:pPr>
            <a:r>
              <a:t>  ❷ AVEC /caveman-mode → même prompt → ~250 tokens</a:t>
            </a:r>
          </a:p>
          <a:p>
            <a:pPr>
              <a:spcAft>
                <a:spcPts val="600"/>
              </a:spcAft>
              <a:defRPr sz="1400" b="0">
                <a:solidFill>
                  <a:srgbClr val="FFFFFF"/>
                </a:solidFill>
              </a:defRPr>
            </a:pPr>
            <a:r>
              <a:t>  ❸ Générer du code → qualité identique, -65% bavardage</a:t>
            </a:r>
          </a:p>
          <a:p>
            <a:pPr>
              <a:spcAft>
                <a:spcPts val="600"/>
              </a:spcAft>
              <a:defRPr sz="1400" b="0">
                <a:solidFill>
                  <a:srgbClr val="FFFFFF"/>
                </a:solidFill>
              </a:defRPr>
            </a:pPr>
          </a:p>
          <a:p>
            <a:pPr>
              <a:spcAft>
                <a:spcPts val="600"/>
              </a:spcAft>
              <a:defRPr sz="1400" b="0">
                <a:solidFill>
                  <a:srgbClr val="FFFFFF"/>
                </a:solidFill>
              </a:defRPr>
            </a:pPr>
            <a:r>
              <a:t>Résultats :</a:t>
            </a:r>
          </a:p>
          <a:p>
            <a:pPr>
              <a:spcAft>
                <a:spcPts val="600"/>
              </a:spcAft>
              <a:defRPr sz="1400" b="0">
                <a:solidFill>
                  <a:srgbClr val="FFFFFF"/>
                </a:solidFill>
              </a:defRPr>
            </a:pPr>
            <a:r>
              <a:t>  • Explications : -69% tokens</a:t>
            </a:r>
          </a:p>
          <a:p>
            <a:pPr>
              <a:spcAft>
                <a:spcPts val="600"/>
              </a:spcAft>
              <a:defRPr sz="1400" b="0">
                <a:solidFill>
                  <a:srgbClr val="FFFFFF"/>
                </a:solidFill>
              </a:defRPr>
            </a:pPr>
            <a:r>
              <a:t>  • Génération code : -62% tokens</a:t>
            </a:r>
          </a:p>
          <a:p>
            <a:pPr>
              <a:spcAft>
                <a:spcPts val="600"/>
              </a:spcAft>
              <a:defRPr sz="1400" b="0">
                <a:solidFill>
                  <a:srgbClr val="FFFFFF"/>
                </a:solidFill>
              </a:defRPr>
            </a:pPr>
            <a:r>
              <a:t>  • Debug : -67% tokens</a:t>
            </a:r>
          </a:p>
        </p:txBody>
      </p:sp>
      <p:sp>
        <p:nvSpPr>
          <p:cNvPr id="5" name="TextBox 4"/>
          <p:cNvSpPr txBox="1"/>
          <p:nvPr/>
        </p:nvSpPr>
        <p:spPr>
          <a:xfrm>
            <a:off x="457200" y="5029200"/>
            <a:ext cx="8229600" cy="4572000"/>
          </a:xfrm>
          <a:prstGeom prst="rect">
            <a:avLst/>
          </a:prstGeom>
          <a:noFill/>
        </p:spPr>
        <p:txBody>
          <a:bodyPr wrap="square">
            <a:spAutoFit/>
          </a:bodyPr>
          <a:lstStyle/>
          <a:p>
            <a:pPr>
              <a:spcAft>
                <a:spcPts val="600"/>
              </a:spcAft>
              <a:defRPr sz="1300" b="0">
                <a:solidFill>
                  <a:srgbClr val="FFD700"/>
                </a:solidFill>
              </a:defRPr>
            </a:pPr>
            <a:r>
              <a:t>💡 Quand l'activer : génération de code, debug rapide, CI</a:t>
            </a:r>
          </a:p>
          <a:p>
            <a:pPr>
              <a:spcAft>
                <a:spcPts val="600"/>
              </a:spcAft>
              <a:defRPr sz="1300" b="0">
                <a:solidFill>
                  <a:srgbClr val="FFD700"/>
                </a:solidFill>
              </a:defRPr>
            </a:pPr>
            <a:r>
              <a:t>❌ Quand NE PAS : apprentissage, exploration, onboarding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